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22"/>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3D22"/>
          </a:solidFill>
          <a:ln/>
        </p:spPr>
      </p:sp>
      <p:sp>
        <p:nvSpPr>
          <p:cNvPr id="3" name="Shape 1"/>
          <p:cNvSpPr/>
          <p:nvPr/>
        </p:nvSpPr>
        <p:spPr>
          <a:xfrm>
            <a:off x="8138160" y="822960"/>
            <a:ext cx="3474720" cy="4937760"/>
          </a:xfrm>
          <a:prstGeom prst="roundRect">
            <a:avLst>
              <a:gd name="adj" fmla="val 3158"/>
            </a:avLst>
          </a:prstGeom>
          <a:solidFill>
            <a:srgbClr val="14532D"/>
          </a:solidFill>
          <a:ln/>
        </p:spPr>
      </p:sp>
      <p:pic>
        <p:nvPicPr>
          <p:cNvPr id="4" name="Image 0" descr="/tmp/claude-0/-home-user-Alhisan-alriyadi/26da07a5-a74a-5428-98ab-1d407f05d509/scratchpad/profile-deck/icons/football_white.png">    </p:cNvPr>
          <p:cNvPicPr>
            <a:picLocks noChangeAspect="1"/>
          </p:cNvPicPr>
          <p:nvPr/>
        </p:nvPicPr>
        <p:blipFill>
          <a:blip r:embed="rId1"/>
          <a:stretch>
            <a:fillRect/>
          </a:stretch>
        </p:blipFill>
        <p:spPr>
          <a:xfrm>
            <a:off x="9235440" y="1188720"/>
            <a:ext cx="1280160" cy="1280160"/>
          </a:xfrm>
          <a:prstGeom prst="rect">
            <a:avLst/>
          </a:prstGeom>
        </p:spPr>
      </p:pic>
      <p:sp>
        <p:nvSpPr>
          <p:cNvPr id="5" name="Text 2"/>
          <p:cNvSpPr/>
          <p:nvPr/>
        </p:nvSpPr>
        <p:spPr>
          <a:xfrm>
            <a:off x="8366760" y="2743200"/>
            <a:ext cx="3017520" cy="1463040"/>
          </a:xfrm>
          <a:prstGeom prst="rect">
            <a:avLst/>
          </a:prstGeom>
          <a:noFill/>
          <a:ln/>
        </p:spPr>
        <p:txBody>
          <a:bodyPr wrap="square" rtlCol="0" anchor="ctr"/>
          <a:lstStyle/>
          <a:p>
            <a:pPr algn="ctr" indent="0" marL="0">
              <a:lnSpc>
                <a:spcPct val="140000"/>
              </a:lnSpc>
              <a:buNone/>
            </a:pPr>
            <a:r>
              <a:rPr lang="en-US" sz="1400" dirty="0">
                <a:solidFill>
                  <a:srgbClr val="FFFFFF"/>
                </a:solidFill>
                <a:latin typeface="Calibri" pitchFamily="34" charset="0"/>
                <a:ea typeface="Calibri" pitchFamily="34" charset="-122"/>
                <a:cs typeface="Calibri" pitchFamily="34" charset="-120"/>
              </a:rPr>
              <a:t>COMPANY PROFILE</a:t>
            </a:r>
            <a:endParaRPr lang="en-US" sz="1400" dirty="0"/>
          </a:p>
          <a:p>
            <a:pPr algn="ctr" indent="0" marL="0">
              <a:lnSpc>
                <a:spcPct val="140000"/>
              </a:lnSpc>
              <a:buNone/>
            </a:pPr>
            <a:r>
              <a:rPr lang="en-US" sz="1400" dirty="0">
                <a:solidFill>
                  <a:srgbClr val="FFFFFF"/>
                </a:solidFill>
                <a:latin typeface="Calibri" pitchFamily="34" charset="0"/>
                <a:ea typeface="Calibri" pitchFamily="34" charset="-122"/>
                <a:cs typeface="Calibri" pitchFamily="34" charset="-120"/>
              </a:rPr>
              <a:t>الملف التعريفي للشركة</a:t>
            </a:r>
            <a:endParaRPr lang="en-US" sz="1400" dirty="0"/>
          </a:p>
        </p:txBody>
      </p:sp>
      <p:sp>
        <p:nvSpPr>
          <p:cNvPr id="6" name="Text 3"/>
          <p:cNvSpPr/>
          <p:nvPr/>
        </p:nvSpPr>
        <p:spPr>
          <a:xfrm>
            <a:off x="731520" y="2286000"/>
            <a:ext cx="6949440" cy="914400"/>
          </a:xfrm>
          <a:prstGeom prst="rect">
            <a:avLst/>
          </a:prstGeom>
          <a:noFill/>
          <a:ln/>
        </p:spPr>
        <p:txBody>
          <a:bodyPr wrap="square" lIns="0" tIns="0" rIns="0" bIns="0" rtlCol="0" anchor="ctr"/>
          <a:lstStyle/>
          <a:p>
            <a:pPr algn="l" indent="0" marL="0">
              <a:buNone/>
            </a:pPr>
            <a:r>
              <a:rPr lang="en-US" sz="4600" b="1" spc="100" kern="0" dirty="0">
                <a:solidFill>
                  <a:srgbClr val="FFFFFF"/>
                </a:solidFill>
                <a:latin typeface="Arial" pitchFamily="34" charset="0"/>
                <a:ea typeface="Arial" pitchFamily="34" charset="-122"/>
                <a:cs typeface="Arial" pitchFamily="34" charset="-120"/>
              </a:rPr>
              <a:t>ALHISAN ALRIYADI</a:t>
            </a:r>
            <a:endParaRPr lang="en-US" sz="4600" dirty="0"/>
          </a:p>
        </p:txBody>
      </p:sp>
      <p:sp>
        <p:nvSpPr>
          <p:cNvPr id="7" name="Text 4"/>
          <p:cNvSpPr/>
          <p:nvPr/>
        </p:nvSpPr>
        <p:spPr>
          <a:xfrm>
            <a:off x="731520" y="3063240"/>
            <a:ext cx="6949440" cy="822960"/>
          </a:xfrm>
          <a:prstGeom prst="rect">
            <a:avLst/>
          </a:prstGeom>
          <a:noFill/>
          <a:ln/>
        </p:spPr>
        <p:txBody>
          <a:bodyPr wrap="square" lIns="0" tIns="0" rIns="0" bIns="0" rtlCol="0" anchor="ctr"/>
          <a:lstStyle/>
          <a:p>
            <a:pPr algn="l" indent="0" marL="0">
              <a:buNone/>
            </a:pPr>
            <a:r>
              <a:rPr lang="en-US" sz="3400" b="1" dirty="0">
                <a:solidFill>
                  <a:srgbClr val="FFFFFF"/>
                </a:solidFill>
                <a:latin typeface="Calibri" pitchFamily="34" charset="0"/>
                <a:ea typeface="Calibri" pitchFamily="34" charset="-122"/>
                <a:cs typeface="Calibri" pitchFamily="34" charset="-120"/>
              </a:rPr>
              <a:t>الحصان الرياضي</a:t>
            </a:r>
            <a:endParaRPr lang="en-US" sz="3400" dirty="0"/>
          </a:p>
        </p:txBody>
      </p:sp>
      <p:sp>
        <p:nvSpPr>
          <p:cNvPr id="8" name="Text 5"/>
          <p:cNvSpPr/>
          <p:nvPr/>
        </p:nvSpPr>
        <p:spPr>
          <a:xfrm>
            <a:off x="731520" y="3886200"/>
            <a:ext cx="6949440" cy="457200"/>
          </a:xfrm>
          <a:prstGeom prst="rect">
            <a:avLst/>
          </a:prstGeom>
          <a:noFill/>
          <a:ln/>
        </p:spPr>
        <p:txBody>
          <a:bodyPr wrap="square" lIns="0" tIns="0" rIns="0" bIns="0" rtlCol="0" anchor="ctr"/>
          <a:lstStyle/>
          <a:p>
            <a:pPr algn="l" indent="0" marL="0">
              <a:buNone/>
            </a:pPr>
            <a:r>
              <a:rPr lang="en-US" sz="1500" dirty="0">
                <a:solidFill>
                  <a:srgbClr val="CFE3D6"/>
                </a:solidFill>
                <a:latin typeface="Calibri" pitchFamily="34" charset="0"/>
                <a:ea typeface="Calibri" pitchFamily="34" charset="-122"/>
                <a:cs typeface="Calibri" pitchFamily="34" charset="-120"/>
              </a:rPr>
              <a:t>ATHLETIC HORSE  •  Your Trusted Sporting Goods Destination in Saudi Arabia</a:t>
            </a:r>
            <a:endParaRPr lang="en-US" sz="1500" dirty="0"/>
          </a:p>
        </p:txBody>
      </p:sp>
      <p:sp>
        <p:nvSpPr>
          <p:cNvPr id="9" name="Text 6"/>
          <p:cNvSpPr/>
          <p:nvPr/>
        </p:nvSpPr>
        <p:spPr>
          <a:xfrm>
            <a:off x="731520" y="4251960"/>
            <a:ext cx="6949440" cy="457200"/>
          </a:xfrm>
          <a:prstGeom prst="rect">
            <a:avLst/>
          </a:prstGeom>
          <a:noFill/>
          <a:ln/>
        </p:spPr>
        <p:txBody>
          <a:bodyPr wrap="square" lIns="0" tIns="0" rIns="0" bIns="0" rtlCol="0" anchor="ctr"/>
          <a:lstStyle/>
          <a:p>
            <a:pPr algn="l" indent="0" marL="0">
              <a:buNone/>
            </a:pPr>
            <a:r>
              <a:rPr lang="en-US" sz="1500" dirty="0">
                <a:solidFill>
                  <a:srgbClr val="CFE3D6"/>
                </a:solidFill>
                <a:latin typeface="Calibri" pitchFamily="34" charset="0"/>
                <a:ea typeface="Calibri" pitchFamily="34" charset="-122"/>
                <a:cs typeface="Calibri" pitchFamily="34" charset="-120"/>
              </a:rPr>
              <a:t>متجرك الموثوق للمستلزمات الرياضية في المملكة العربية السعودية</a:t>
            </a:r>
            <a:endParaRPr lang="en-US" sz="1500" dirty="0"/>
          </a:p>
        </p:txBody>
      </p:sp>
      <p:sp>
        <p:nvSpPr>
          <p:cNvPr id="10" name="Text 7"/>
          <p:cNvSpPr/>
          <p:nvPr/>
        </p:nvSpPr>
        <p:spPr>
          <a:xfrm>
            <a:off x="731520" y="6035040"/>
            <a:ext cx="45720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athletic-horse.com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502920"/>
            <a:ext cx="7315200" cy="548640"/>
          </a:xfrm>
          <a:prstGeom prst="rect">
            <a:avLst/>
          </a:prstGeom>
          <a:noFill/>
          <a:ln/>
        </p:spPr>
        <p:txBody>
          <a:bodyPr wrap="square" lIns="0" tIns="0" rIns="0" bIns="0" rtlCol="0" anchor="ctr"/>
          <a:lstStyle/>
          <a:p>
            <a:pPr indent="0" marL="0">
              <a:buNone/>
            </a:pPr>
            <a:r>
              <a:rPr lang="en-US" sz="3000" b="1" dirty="0">
                <a:solidFill>
                  <a:srgbClr val="171717"/>
                </a:solidFill>
                <a:latin typeface="Arial" pitchFamily="34" charset="0"/>
                <a:ea typeface="Arial" pitchFamily="34" charset="-122"/>
                <a:cs typeface="Arial" pitchFamily="34" charset="-120"/>
              </a:rPr>
              <a:t>Table of Contents</a:t>
            </a:r>
            <a:endParaRPr lang="en-US" sz="3000" dirty="0"/>
          </a:p>
        </p:txBody>
      </p:sp>
      <p:sp>
        <p:nvSpPr>
          <p:cNvPr id="3" name="Text 1"/>
          <p:cNvSpPr/>
          <p:nvPr/>
        </p:nvSpPr>
        <p:spPr>
          <a:xfrm>
            <a:off x="731520" y="1051560"/>
            <a:ext cx="7315200" cy="457200"/>
          </a:xfrm>
          <a:prstGeom prst="rect">
            <a:avLst/>
          </a:prstGeom>
          <a:noFill/>
          <a:ln/>
        </p:spPr>
        <p:txBody>
          <a:bodyPr wrap="square" lIns="0" tIns="0" rIns="0" bIns="0" rtlCol="0" anchor="ctr"/>
          <a:lstStyle/>
          <a:p>
            <a:pPr indent="0" marL="0">
              <a:buNone/>
            </a:pPr>
            <a:r>
              <a:rPr lang="en-US" sz="1800" b="1" dirty="0">
                <a:solidFill>
                  <a:srgbClr val="14532D"/>
                </a:solidFill>
                <a:latin typeface="Calibri" pitchFamily="34" charset="0"/>
                <a:ea typeface="Calibri" pitchFamily="34" charset="-122"/>
                <a:cs typeface="Calibri" pitchFamily="34" charset="-120"/>
              </a:rPr>
              <a:t>فهرس المحتويات</a:t>
            </a:r>
            <a:endParaRPr lang="en-US" sz="1800" dirty="0"/>
          </a:p>
        </p:txBody>
      </p:sp>
      <p:sp>
        <p:nvSpPr>
          <p:cNvPr id="4" name="Text 2"/>
          <p:cNvSpPr/>
          <p:nvPr/>
        </p:nvSpPr>
        <p:spPr>
          <a:xfrm>
            <a:off x="731520" y="1828800"/>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03</a:t>
            </a:r>
            <a:endParaRPr lang="en-US" sz="1200" dirty="0"/>
          </a:p>
        </p:txBody>
      </p:sp>
      <p:sp>
        <p:nvSpPr>
          <p:cNvPr id="5" name="Text 3"/>
          <p:cNvSpPr/>
          <p:nvPr/>
        </p:nvSpPr>
        <p:spPr>
          <a:xfrm>
            <a:off x="1234440" y="1828800"/>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Welcome Message</a:t>
            </a:r>
            <a:endParaRPr lang="en-US" sz="1200" dirty="0"/>
          </a:p>
        </p:txBody>
      </p:sp>
      <p:sp>
        <p:nvSpPr>
          <p:cNvPr id="6" name="Text 4"/>
          <p:cNvSpPr/>
          <p:nvPr/>
        </p:nvSpPr>
        <p:spPr>
          <a:xfrm>
            <a:off x="4663440" y="1828800"/>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رسالة ترحيبية</a:t>
            </a:r>
            <a:endParaRPr lang="en-US" sz="1100" dirty="0"/>
          </a:p>
        </p:txBody>
      </p:sp>
      <p:sp>
        <p:nvSpPr>
          <p:cNvPr id="7" name="Text 5"/>
          <p:cNvSpPr/>
          <p:nvPr/>
        </p:nvSpPr>
        <p:spPr>
          <a:xfrm>
            <a:off x="731520" y="2208276"/>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04</a:t>
            </a:r>
            <a:endParaRPr lang="en-US" sz="1200" dirty="0"/>
          </a:p>
        </p:txBody>
      </p:sp>
      <p:sp>
        <p:nvSpPr>
          <p:cNvPr id="8" name="Text 6"/>
          <p:cNvSpPr/>
          <p:nvPr/>
        </p:nvSpPr>
        <p:spPr>
          <a:xfrm>
            <a:off x="1234440" y="2208276"/>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Who We Are</a:t>
            </a:r>
            <a:endParaRPr lang="en-US" sz="1200" dirty="0"/>
          </a:p>
        </p:txBody>
      </p:sp>
      <p:sp>
        <p:nvSpPr>
          <p:cNvPr id="9" name="Text 7"/>
          <p:cNvSpPr/>
          <p:nvPr/>
        </p:nvSpPr>
        <p:spPr>
          <a:xfrm>
            <a:off x="4663440" y="2208276"/>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من نحن</a:t>
            </a:r>
            <a:endParaRPr lang="en-US" sz="1100" dirty="0"/>
          </a:p>
        </p:txBody>
      </p:sp>
      <p:sp>
        <p:nvSpPr>
          <p:cNvPr id="10" name="Text 8"/>
          <p:cNvSpPr/>
          <p:nvPr/>
        </p:nvSpPr>
        <p:spPr>
          <a:xfrm>
            <a:off x="731520" y="2587752"/>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05</a:t>
            </a:r>
            <a:endParaRPr lang="en-US" sz="1200" dirty="0"/>
          </a:p>
        </p:txBody>
      </p:sp>
      <p:sp>
        <p:nvSpPr>
          <p:cNvPr id="11" name="Text 9"/>
          <p:cNvSpPr/>
          <p:nvPr/>
        </p:nvSpPr>
        <p:spPr>
          <a:xfrm>
            <a:off x="1234440" y="2587752"/>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Our Story</a:t>
            </a:r>
            <a:endParaRPr lang="en-US" sz="1200" dirty="0"/>
          </a:p>
        </p:txBody>
      </p:sp>
      <p:sp>
        <p:nvSpPr>
          <p:cNvPr id="12" name="Text 10"/>
          <p:cNvSpPr/>
          <p:nvPr/>
        </p:nvSpPr>
        <p:spPr>
          <a:xfrm>
            <a:off x="4663440" y="2587752"/>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قصتنا</a:t>
            </a:r>
            <a:endParaRPr lang="en-US" sz="1100" dirty="0"/>
          </a:p>
        </p:txBody>
      </p:sp>
      <p:sp>
        <p:nvSpPr>
          <p:cNvPr id="13" name="Text 11"/>
          <p:cNvSpPr/>
          <p:nvPr/>
        </p:nvSpPr>
        <p:spPr>
          <a:xfrm>
            <a:off x="731520" y="2967228"/>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06</a:t>
            </a:r>
            <a:endParaRPr lang="en-US" sz="1200" dirty="0"/>
          </a:p>
        </p:txBody>
      </p:sp>
      <p:sp>
        <p:nvSpPr>
          <p:cNvPr id="14" name="Text 12"/>
          <p:cNvSpPr/>
          <p:nvPr/>
        </p:nvSpPr>
        <p:spPr>
          <a:xfrm>
            <a:off x="1234440" y="2967228"/>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Vision</a:t>
            </a:r>
            <a:endParaRPr lang="en-US" sz="1200" dirty="0"/>
          </a:p>
        </p:txBody>
      </p:sp>
      <p:sp>
        <p:nvSpPr>
          <p:cNvPr id="15" name="Text 13"/>
          <p:cNvSpPr/>
          <p:nvPr/>
        </p:nvSpPr>
        <p:spPr>
          <a:xfrm>
            <a:off x="4663440" y="2967228"/>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رؤيتنا</a:t>
            </a:r>
            <a:endParaRPr lang="en-US" sz="1100" dirty="0"/>
          </a:p>
        </p:txBody>
      </p:sp>
      <p:sp>
        <p:nvSpPr>
          <p:cNvPr id="16" name="Text 14"/>
          <p:cNvSpPr/>
          <p:nvPr/>
        </p:nvSpPr>
        <p:spPr>
          <a:xfrm>
            <a:off x="731520" y="3346704"/>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07</a:t>
            </a:r>
            <a:endParaRPr lang="en-US" sz="1200" dirty="0"/>
          </a:p>
        </p:txBody>
      </p:sp>
      <p:sp>
        <p:nvSpPr>
          <p:cNvPr id="17" name="Text 15"/>
          <p:cNvSpPr/>
          <p:nvPr/>
        </p:nvSpPr>
        <p:spPr>
          <a:xfrm>
            <a:off x="1234440" y="3346704"/>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Mission</a:t>
            </a:r>
            <a:endParaRPr lang="en-US" sz="1200" dirty="0"/>
          </a:p>
        </p:txBody>
      </p:sp>
      <p:sp>
        <p:nvSpPr>
          <p:cNvPr id="18" name="Text 16"/>
          <p:cNvSpPr/>
          <p:nvPr/>
        </p:nvSpPr>
        <p:spPr>
          <a:xfrm>
            <a:off x="4663440" y="3346704"/>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رسالتنا</a:t>
            </a:r>
            <a:endParaRPr lang="en-US" sz="1100" dirty="0"/>
          </a:p>
        </p:txBody>
      </p:sp>
      <p:sp>
        <p:nvSpPr>
          <p:cNvPr id="19" name="Text 17"/>
          <p:cNvSpPr/>
          <p:nvPr/>
        </p:nvSpPr>
        <p:spPr>
          <a:xfrm>
            <a:off x="731520" y="3726180"/>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08</a:t>
            </a:r>
            <a:endParaRPr lang="en-US" sz="1200" dirty="0"/>
          </a:p>
        </p:txBody>
      </p:sp>
      <p:sp>
        <p:nvSpPr>
          <p:cNvPr id="20" name="Text 18"/>
          <p:cNvSpPr/>
          <p:nvPr/>
        </p:nvSpPr>
        <p:spPr>
          <a:xfrm>
            <a:off x="1234440" y="3726180"/>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Core Values</a:t>
            </a:r>
            <a:endParaRPr lang="en-US" sz="1200" dirty="0"/>
          </a:p>
        </p:txBody>
      </p:sp>
      <p:sp>
        <p:nvSpPr>
          <p:cNvPr id="21" name="Text 19"/>
          <p:cNvSpPr/>
          <p:nvPr/>
        </p:nvSpPr>
        <p:spPr>
          <a:xfrm>
            <a:off x="4663440" y="3726180"/>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قيمنا الأساسية</a:t>
            </a:r>
            <a:endParaRPr lang="en-US" sz="1100" dirty="0"/>
          </a:p>
        </p:txBody>
      </p:sp>
      <p:sp>
        <p:nvSpPr>
          <p:cNvPr id="22" name="Text 20"/>
          <p:cNvSpPr/>
          <p:nvPr/>
        </p:nvSpPr>
        <p:spPr>
          <a:xfrm>
            <a:off x="731520" y="4105656"/>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09</a:t>
            </a:r>
            <a:endParaRPr lang="en-US" sz="1200" dirty="0"/>
          </a:p>
        </p:txBody>
      </p:sp>
      <p:sp>
        <p:nvSpPr>
          <p:cNvPr id="23" name="Text 21"/>
          <p:cNvSpPr/>
          <p:nvPr/>
        </p:nvSpPr>
        <p:spPr>
          <a:xfrm>
            <a:off x="1234440" y="4105656"/>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Why Alhisan Alriyadi</a:t>
            </a:r>
            <a:endParaRPr lang="en-US" sz="1200" dirty="0"/>
          </a:p>
        </p:txBody>
      </p:sp>
      <p:sp>
        <p:nvSpPr>
          <p:cNvPr id="24" name="Text 22"/>
          <p:cNvSpPr/>
          <p:nvPr/>
        </p:nvSpPr>
        <p:spPr>
          <a:xfrm>
            <a:off x="4663440" y="4105656"/>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لماذا الحصان الرياضي</a:t>
            </a:r>
            <a:endParaRPr lang="en-US" sz="1100" dirty="0"/>
          </a:p>
        </p:txBody>
      </p:sp>
      <p:sp>
        <p:nvSpPr>
          <p:cNvPr id="25" name="Text 23"/>
          <p:cNvSpPr/>
          <p:nvPr/>
        </p:nvSpPr>
        <p:spPr>
          <a:xfrm>
            <a:off x="731520" y="4485132"/>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10</a:t>
            </a:r>
            <a:endParaRPr lang="en-US" sz="1200" dirty="0"/>
          </a:p>
        </p:txBody>
      </p:sp>
      <p:sp>
        <p:nvSpPr>
          <p:cNvPr id="26" name="Text 24"/>
          <p:cNvSpPr/>
          <p:nvPr/>
        </p:nvSpPr>
        <p:spPr>
          <a:xfrm>
            <a:off x="1234440" y="4485132"/>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Our Product Universe</a:t>
            </a:r>
            <a:endParaRPr lang="en-US" sz="1200" dirty="0"/>
          </a:p>
        </p:txBody>
      </p:sp>
      <p:sp>
        <p:nvSpPr>
          <p:cNvPr id="27" name="Text 25"/>
          <p:cNvSpPr/>
          <p:nvPr/>
        </p:nvSpPr>
        <p:spPr>
          <a:xfrm>
            <a:off x="4663440" y="4485132"/>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عالم منتجاتنا</a:t>
            </a:r>
            <a:endParaRPr lang="en-US" sz="1100" dirty="0"/>
          </a:p>
        </p:txBody>
      </p:sp>
      <p:sp>
        <p:nvSpPr>
          <p:cNvPr id="28" name="Text 26"/>
          <p:cNvSpPr/>
          <p:nvPr/>
        </p:nvSpPr>
        <p:spPr>
          <a:xfrm>
            <a:off x="731520" y="4864608"/>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11</a:t>
            </a:r>
            <a:endParaRPr lang="en-US" sz="1200" dirty="0"/>
          </a:p>
        </p:txBody>
      </p:sp>
      <p:sp>
        <p:nvSpPr>
          <p:cNvPr id="29" name="Text 27"/>
          <p:cNvSpPr/>
          <p:nvPr/>
        </p:nvSpPr>
        <p:spPr>
          <a:xfrm>
            <a:off x="1234440" y="4864608"/>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Football</a:t>
            </a:r>
            <a:endParaRPr lang="en-US" sz="1200" dirty="0"/>
          </a:p>
        </p:txBody>
      </p:sp>
      <p:sp>
        <p:nvSpPr>
          <p:cNvPr id="30" name="Text 28"/>
          <p:cNvSpPr/>
          <p:nvPr/>
        </p:nvSpPr>
        <p:spPr>
          <a:xfrm>
            <a:off x="4663440" y="4864608"/>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كرة القدم</a:t>
            </a:r>
            <a:endParaRPr lang="en-US" sz="1100" dirty="0"/>
          </a:p>
        </p:txBody>
      </p:sp>
      <p:sp>
        <p:nvSpPr>
          <p:cNvPr id="31" name="Text 29"/>
          <p:cNvSpPr/>
          <p:nvPr/>
        </p:nvSpPr>
        <p:spPr>
          <a:xfrm>
            <a:off x="731520" y="5244084"/>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12</a:t>
            </a:r>
            <a:endParaRPr lang="en-US" sz="1200" dirty="0"/>
          </a:p>
        </p:txBody>
      </p:sp>
      <p:sp>
        <p:nvSpPr>
          <p:cNvPr id="32" name="Text 30"/>
          <p:cNvSpPr/>
          <p:nvPr/>
        </p:nvSpPr>
        <p:spPr>
          <a:xfrm>
            <a:off x="1234440" y="5244084"/>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Gym &amp; Fitness</a:t>
            </a:r>
            <a:endParaRPr lang="en-US" sz="1200" dirty="0"/>
          </a:p>
        </p:txBody>
      </p:sp>
      <p:sp>
        <p:nvSpPr>
          <p:cNvPr id="33" name="Text 31"/>
          <p:cNvSpPr/>
          <p:nvPr/>
        </p:nvSpPr>
        <p:spPr>
          <a:xfrm>
            <a:off x="4663440" y="5244084"/>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الجيم واللياقة</a:t>
            </a:r>
            <a:endParaRPr lang="en-US" sz="1100" dirty="0"/>
          </a:p>
        </p:txBody>
      </p:sp>
      <p:sp>
        <p:nvSpPr>
          <p:cNvPr id="34" name="Text 32"/>
          <p:cNvSpPr/>
          <p:nvPr/>
        </p:nvSpPr>
        <p:spPr>
          <a:xfrm>
            <a:off x="731520" y="5623560"/>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13</a:t>
            </a:r>
            <a:endParaRPr lang="en-US" sz="1200" dirty="0"/>
          </a:p>
        </p:txBody>
      </p:sp>
      <p:sp>
        <p:nvSpPr>
          <p:cNvPr id="35" name="Text 33"/>
          <p:cNvSpPr/>
          <p:nvPr/>
        </p:nvSpPr>
        <p:spPr>
          <a:xfrm>
            <a:off x="1234440" y="5623560"/>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Water Sports &amp; Swimming</a:t>
            </a:r>
            <a:endParaRPr lang="en-US" sz="1200" dirty="0"/>
          </a:p>
        </p:txBody>
      </p:sp>
      <p:sp>
        <p:nvSpPr>
          <p:cNvPr id="36" name="Text 34"/>
          <p:cNvSpPr/>
          <p:nvPr/>
        </p:nvSpPr>
        <p:spPr>
          <a:xfrm>
            <a:off x="4663440" y="5623560"/>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الرياضات المائية والسباحة</a:t>
            </a:r>
            <a:endParaRPr lang="en-US" sz="1100" dirty="0"/>
          </a:p>
        </p:txBody>
      </p:sp>
      <p:sp>
        <p:nvSpPr>
          <p:cNvPr id="37" name="Text 35"/>
          <p:cNvSpPr/>
          <p:nvPr/>
        </p:nvSpPr>
        <p:spPr>
          <a:xfrm>
            <a:off x="731520" y="6003036"/>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14</a:t>
            </a:r>
            <a:endParaRPr lang="en-US" sz="1200" dirty="0"/>
          </a:p>
        </p:txBody>
      </p:sp>
      <p:sp>
        <p:nvSpPr>
          <p:cNvPr id="38" name="Text 36"/>
          <p:cNvSpPr/>
          <p:nvPr/>
        </p:nvSpPr>
        <p:spPr>
          <a:xfrm>
            <a:off x="1234440" y="6003036"/>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Martial Arts</a:t>
            </a:r>
            <a:endParaRPr lang="en-US" sz="1200" dirty="0"/>
          </a:p>
        </p:txBody>
      </p:sp>
      <p:sp>
        <p:nvSpPr>
          <p:cNvPr id="39" name="Text 37"/>
          <p:cNvSpPr/>
          <p:nvPr/>
        </p:nvSpPr>
        <p:spPr>
          <a:xfrm>
            <a:off x="4663440" y="6003036"/>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الفنون القتالية</a:t>
            </a:r>
            <a:endParaRPr lang="en-US" sz="1100" dirty="0"/>
          </a:p>
        </p:txBody>
      </p:sp>
      <p:sp>
        <p:nvSpPr>
          <p:cNvPr id="40" name="Text 38"/>
          <p:cNvSpPr/>
          <p:nvPr/>
        </p:nvSpPr>
        <p:spPr>
          <a:xfrm>
            <a:off x="6309360" y="1828800"/>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15</a:t>
            </a:r>
            <a:endParaRPr lang="en-US" sz="1200" dirty="0"/>
          </a:p>
        </p:txBody>
      </p:sp>
      <p:sp>
        <p:nvSpPr>
          <p:cNvPr id="41" name="Text 39"/>
          <p:cNvSpPr/>
          <p:nvPr/>
        </p:nvSpPr>
        <p:spPr>
          <a:xfrm>
            <a:off x="6812280" y="1828800"/>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Racket Sports</a:t>
            </a:r>
            <a:endParaRPr lang="en-US" sz="1200" dirty="0"/>
          </a:p>
        </p:txBody>
      </p:sp>
      <p:sp>
        <p:nvSpPr>
          <p:cNvPr id="42" name="Text 40"/>
          <p:cNvSpPr/>
          <p:nvPr/>
        </p:nvSpPr>
        <p:spPr>
          <a:xfrm>
            <a:off x="10241280" y="1828800"/>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الرياضات المضربية</a:t>
            </a:r>
            <a:endParaRPr lang="en-US" sz="1100" dirty="0"/>
          </a:p>
        </p:txBody>
      </p:sp>
      <p:sp>
        <p:nvSpPr>
          <p:cNvPr id="43" name="Text 41"/>
          <p:cNvSpPr/>
          <p:nvPr/>
        </p:nvSpPr>
        <p:spPr>
          <a:xfrm>
            <a:off x="6309360" y="2208276"/>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16</a:t>
            </a:r>
            <a:endParaRPr lang="en-US" sz="1200" dirty="0"/>
          </a:p>
        </p:txBody>
      </p:sp>
      <p:sp>
        <p:nvSpPr>
          <p:cNvPr id="44" name="Text 42"/>
          <p:cNvSpPr/>
          <p:nvPr/>
        </p:nvSpPr>
        <p:spPr>
          <a:xfrm>
            <a:off x="6812280" y="2208276"/>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Team Sports</a:t>
            </a:r>
            <a:endParaRPr lang="en-US" sz="1200" dirty="0"/>
          </a:p>
        </p:txBody>
      </p:sp>
      <p:sp>
        <p:nvSpPr>
          <p:cNvPr id="45" name="Text 43"/>
          <p:cNvSpPr/>
          <p:nvPr/>
        </p:nvSpPr>
        <p:spPr>
          <a:xfrm>
            <a:off x="10241280" y="2208276"/>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الرياضات الجماعية</a:t>
            </a:r>
            <a:endParaRPr lang="en-US" sz="1100" dirty="0"/>
          </a:p>
        </p:txBody>
      </p:sp>
      <p:sp>
        <p:nvSpPr>
          <p:cNvPr id="46" name="Text 44"/>
          <p:cNvSpPr/>
          <p:nvPr/>
        </p:nvSpPr>
        <p:spPr>
          <a:xfrm>
            <a:off x="6309360" y="2587752"/>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17</a:t>
            </a:r>
            <a:endParaRPr lang="en-US" sz="1200" dirty="0"/>
          </a:p>
        </p:txBody>
      </p:sp>
      <p:sp>
        <p:nvSpPr>
          <p:cNvPr id="47" name="Text 45"/>
          <p:cNvSpPr/>
          <p:nvPr/>
        </p:nvSpPr>
        <p:spPr>
          <a:xfrm>
            <a:off x="6812280" y="2587752"/>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Kids &amp; Family</a:t>
            </a:r>
            <a:endParaRPr lang="en-US" sz="1200" dirty="0"/>
          </a:p>
        </p:txBody>
      </p:sp>
      <p:sp>
        <p:nvSpPr>
          <p:cNvPr id="48" name="Text 46"/>
          <p:cNvSpPr/>
          <p:nvPr/>
        </p:nvSpPr>
        <p:spPr>
          <a:xfrm>
            <a:off x="10241280" y="2587752"/>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الأطفال والعائلة</a:t>
            </a:r>
            <a:endParaRPr lang="en-US" sz="1100" dirty="0"/>
          </a:p>
        </p:txBody>
      </p:sp>
      <p:sp>
        <p:nvSpPr>
          <p:cNvPr id="49" name="Text 47"/>
          <p:cNvSpPr/>
          <p:nvPr/>
        </p:nvSpPr>
        <p:spPr>
          <a:xfrm>
            <a:off x="6309360" y="2967228"/>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18</a:t>
            </a:r>
            <a:endParaRPr lang="en-US" sz="1200" dirty="0"/>
          </a:p>
        </p:txBody>
      </p:sp>
      <p:sp>
        <p:nvSpPr>
          <p:cNvPr id="50" name="Text 48"/>
          <p:cNvSpPr/>
          <p:nvPr/>
        </p:nvSpPr>
        <p:spPr>
          <a:xfrm>
            <a:off x="6812280" y="2967228"/>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Camping &amp; Outdoor</a:t>
            </a:r>
            <a:endParaRPr lang="en-US" sz="1200" dirty="0"/>
          </a:p>
        </p:txBody>
      </p:sp>
      <p:sp>
        <p:nvSpPr>
          <p:cNvPr id="51" name="Text 49"/>
          <p:cNvSpPr/>
          <p:nvPr/>
        </p:nvSpPr>
        <p:spPr>
          <a:xfrm>
            <a:off x="10241280" y="2967228"/>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المخيمات والأنشطة الخارجية</a:t>
            </a:r>
            <a:endParaRPr lang="en-US" sz="1100" dirty="0"/>
          </a:p>
        </p:txBody>
      </p:sp>
      <p:sp>
        <p:nvSpPr>
          <p:cNvPr id="52" name="Text 50"/>
          <p:cNvSpPr/>
          <p:nvPr/>
        </p:nvSpPr>
        <p:spPr>
          <a:xfrm>
            <a:off x="6309360" y="3346704"/>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19</a:t>
            </a:r>
            <a:endParaRPr lang="en-US" sz="1200" dirty="0"/>
          </a:p>
        </p:txBody>
      </p:sp>
      <p:sp>
        <p:nvSpPr>
          <p:cNvPr id="53" name="Text 51"/>
          <p:cNvSpPr/>
          <p:nvPr/>
        </p:nvSpPr>
        <p:spPr>
          <a:xfrm>
            <a:off x="6812280" y="3346704"/>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Sportswear</a:t>
            </a:r>
            <a:endParaRPr lang="en-US" sz="1200" dirty="0"/>
          </a:p>
        </p:txBody>
      </p:sp>
      <p:sp>
        <p:nvSpPr>
          <p:cNvPr id="54" name="Text 52"/>
          <p:cNvSpPr/>
          <p:nvPr/>
        </p:nvSpPr>
        <p:spPr>
          <a:xfrm>
            <a:off x="10241280" y="3346704"/>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الملابس الرياضية</a:t>
            </a:r>
            <a:endParaRPr lang="en-US" sz="1100" dirty="0"/>
          </a:p>
        </p:txBody>
      </p:sp>
      <p:sp>
        <p:nvSpPr>
          <p:cNvPr id="55" name="Text 53"/>
          <p:cNvSpPr/>
          <p:nvPr/>
        </p:nvSpPr>
        <p:spPr>
          <a:xfrm>
            <a:off x="6309360" y="3726180"/>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20</a:t>
            </a:r>
            <a:endParaRPr lang="en-US" sz="1200" dirty="0"/>
          </a:p>
        </p:txBody>
      </p:sp>
      <p:sp>
        <p:nvSpPr>
          <p:cNvPr id="56" name="Text 54"/>
          <p:cNvSpPr/>
          <p:nvPr/>
        </p:nvSpPr>
        <p:spPr>
          <a:xfrm>
            <a:off x="6812280" y="3726180"/>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Accessories &amp; Equipment</a:t>
            </a:r>
            <a:endParaRPr lang="en-US" sz="1200" dirty="0"/>
          </a:p>
        </p:txBody>
      </p:sp>
      <p:sp>
        <p:nvSpPr>
          <p:cNvPr id="57" name="Text 55"/>
          <p:cNvSpPr/>
          <p:nvPr/>
        </p:nvSpPr>
        <p:spPr>
          <a:xfrm>
            <a:off x="10241280" y="3726180"/>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الإكسسوارات والمعدات</a:t>
            </a:r>
            <a:endParaRPr lang="en-US" sz="1100" dirty="0"/>
          </a:p>
        </p:txBody>
      </p:sp>
      <p:sp>
        <p:nvSpPr>
          <p:cNvPr id="58" name="Text 56"/>
          <p:cNvSpPr/>
          <p:nvPr/>
        </p:nvSpPr>
        <p:spPr>
          <a:xfrm>
            <a:off x="6309360" y="4105656"/>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21</a:t>
            </a:r>
            <a:endParaRPr lang="en-US" sz="1200" dirty="0"/>
          </a:p>
        </p:txBody>
      </p:sp>
      <p:sp>
        <p:nvSpPr>
          <p:cNvPr id="59" name="Text 57"/>
          <p:cNvSpPr/>
          <p:nvPr/>
        </p:nvSpPr>
        <p:spPr>
          <a:xfrm>
            <a:off x="6812280" y="4105656"/>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Quality &amp; Authenticity</a:t>
            </a:r>
            <a:endParaRPr lang="en-US" sz="1200" dirty="0"/>
          </a:p>
        </p:txBody>
      </p:sp>
      <p:sp>
        <p:nvSpPr>
          <p:cNvPr id="60" name="Text 58"/>
          <p:cNvSpPr/>
          <p:nvPr/>
        </p:nvSpPr>
        <p:spPr>
          <a:xfrm>
            <a:off x="10241280" y="4105656"/>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الجودة والأصالة</a:t>
            </a:r>
            <a:endParaRPr lang="en-US" sz="1100" dirty="0"/>
          </a:p>
        </p:txBody>
      </p:sp>
      <p:sp>
        <p:nvSpPr>
          <p:cNvPr id="61" name="Text 59"/>
          <p:cNvSpPr/>
          <p:nvPr/>
        </p:nvSpPr>
        <p:spPr>
          <a:xfrm>
            <a:off x="6309360" y="4485132"/>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22</a:t>
            </a:r>
            <a:endParaRPr lang="en-US" sz="1200" dirty="0"/>
          </a:p>
        </p:txBody>
      </p:sp>
      <p:sp>
        <p:nvSpPr>
          <p:cNvPr id="62" name="Text 60"/>
          <p:cNvSpPr/>
          <p:nvPr/>
        </p:nvSpPr>
        <p:spPr>
          <a:xfrm>
            <a:off x="6812280" y="4485132"/>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Logistics &amp; Delivery</a:t>
            </a:r>
            <a:endParaRPr lang="en-US" sz="1200" dirty="0"/>
          </a:p>
        </p:txBody>
      </p:sp>
      <p:sp>
        <p:nvSpPr>
          <p:cNvPr id="63" name="Text 61"/>
          <p:cNvSpPr/>
          <p:nvPr/>
        </p:nvSpPr>
        <p:spPr>
          <a:xfrm>
            <a:off x="10241280" y="4485132"/>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الخدمات اللوجستية والتوصيل</a:t>
            </a:r>
            <a:endParaRPr lang="en-US" sz="1100" dirty="0"/>
          </a:p>
        </p:txBody>
      </p:sp>
      <p:sp>
        <p:nvSpPr>
          <p:cNvPr id="64" name="Text 62"/>
          <p:cNvSpPr/>
          <p:nvPr/>
        </p:nvSpPr>
        <p:spPr>
          <a:xfrm>
            <a:off x="6309360" y="4864608"/>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23</a:t>
            </a:r>
            <a:endParaRPr lang="en-US" sz="1200" dirty="0"/>
          </a:p>
        </p:txBody>
      </p:sp>
      <p:sp>
        <p:nvSpPr>
          <p:cNvPr id="65" name="Text 63"/>
          <p:cNvSpPr/>
          <p:nvPr/>
        </p:nvSpPr>
        <p:spPr>
          <a:xfrm>
            <a:off x="6812280" y="4864608"/>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Digital Experience &amp; Customer Care</a:t>
            </a:r>
            <a:endParaRPr lang="en-US" sz="1200" dirty="0"/>
          </a:p>
        </p:txBody>
      </p:sp>
      <p:sp>
        <p:nvSpPr>
          <p:cNvPr id="66" name="Text 64"/>
          <p:cNvSpPr/>
          <p:nvPr/>
        </p:nvSpPr>
        <p:spPr>
          <a:xfrm>
            <a:off x="10241280" y="4864608"/>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التجربة الرقمية وخدمة العملاء</a:t>
            </a:r>
            <a:endParaRPr lang="en-US" sz="1100" dirty="0"/>
          </a:p>
        </p:txBody>
      </p:sp>
      <p:sp>
        <p:nvSpPr>
          <p:cNvPr id="67" name="Text 65"/>
          <p:cNvSpPr/>
          <p:nvPr/>
        </p:nvSpPr>
        <p:spPr>
          <a:xfrm>
            <a:off x="6309360" y="5244084"/>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24</a:t>
            </a:r>
            <a:endParaRPr lang="en-US" sz="1200" dirty="0"/>
          </a:p>
        </p:txBody>
      </p:sp>
      <p:sp>
        <p:nvSpPr>
          <p:cNvPr id="68" name="Text 66"/>
          <p:cNvSpPr/>
          <p:nvPr/>
        </p:nvSpPr>
        <p:spPr>
          <a:xfrm>
            <a:off x="6812280" y="5244084"/>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Future Vision &amp; Growth</a:t>
            </a:r>
            <a:endParaRPr lang="en-US" sz="1200" dirty="0"/>
          </a:p>
        </p:txBody>
      </p:sp>
      <p:sp>
        <p:nvSpPr>
          <p:cNvPr id="69" name="Text 67"/>
          <p:cNvSpPr/>
          <p:nvPr/>
        </p:nvSpPr>
        <p:spPr>
          <a:xfrm>
            <a:off x="10241280" y="5244084"/>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رؤيتنا المستقبلية للنمو</a:t>
            </a:r>
            <a:endParaRPr lang="en-US" sz="1100" dirty="0"/>
          </a:p>
        </p:txBody>
      </p:sp>
      <p:sp>
        <p:nvSpPr>
          <p:cNvPr id="70" name="Text 68"/>
          <p:cNvSpPr/>
          <p:nvPr/>
        </p:nvSpPr>
        <p:spPr>
          <a:xfrm>
            <a:off x="6309360" y="5623560"/>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25</a:t>
            </a:r>
            <a:endParaRPr lang="en-US" sz="1200" dirty="0"/>
          </a:p>
        </p:txBody>
      </p:sp>
      <p:sp>
        <p:nvSpPr>
          <p:cNvPr id="71" name="Text 69"/>
          <p:cNvSpPr/>
          <p:nvPr/>
        </p:nvSpPr>
        <p:spPr>
          <a:xfrm>
            <a:off x="6812280" y="5623560"/>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Contact Us</a:t>
            </a:r>
            <a:endParaRPr lang="en-US" sz="1200" dirty="0"/>
          </a:p>
        </p:txBody>
      </p:sp>
      <p:sp>
        <p:nvSpPr>
          <p:cNvPr id="72" name="Text 70"/>
          <p:cNvSpPr/>
          <p:nvPr/>
        </p:nvSpPr>
        <p:spPr>
          <a:xfrm>
            <a:off x="10241280" y="5623560"/>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تواصل معنا</a:t>
            </a:r>
            <a:endParaRPr lang="en-US" sz="1100" dirty="0"/>
          </a:p>
        </p:txBody>
      </p:sp>
      <p:sp>
        <p:nvSpPr>
          <p:cNvPr id="73" name="Text 71"/>
          <p:cNvSpPr/>
          <p:nvPr/>
        </p:nvSpPr>
        <p:spPr>
          <a:xfrm>
            <a:off x="6309360" y="6003036"/>
            <a:ext cx="457200" cy="379476"/>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26</a:t>
            </a:r>
            <a:endParaRPr lang="en-US" sz="1200" dirty="0"/>
          </a:p>
        </p:txBody>
      </p:sp>
      <p:sp>
        <p:nvSpPr>
          <p:cNvPr id="74" name="Text 72"/>
          <p:cNvSpPr/>
          <p:nvPr/>
        </p:nvSpPr>
        <p:spPr>
          <a:xfrm>
            <a:off x="6812280" y="6003036"/>
            <a:ext cx="3383280" cy="379476"/>
          </a:xfrm>
          <a:prstGeom prst="rect">
            <a:avLst/>
          </a:prstGeom>
          <a:noFill/>
          <a:ln/>
        </p:spPr>
        <p:txBody>
          <a:bodyPr wrap="square" lIns="0" tIns="0" rIns="0" bIns="0" rtlCol="0" anchor="ctr"/>
          <a:lstStyle/>
          <a:p>
            <a:pPr indent="0" marL="0">
              <a:buNone/>
            </a:pPr>
            <a:r>
              <a:rPr lang="en-US" sz="1200" dirty="0">
                <a:solidFill>
                  <a:srgbClr val="171717"/>
                </a:solidFill>
                <a:latin typeface="Calibri" pitchFamily="34" charset="0"/>
                <a:ea typeface="Calibri" pitchFamily="34" charset="-122"/>
                <a:cs typeface="Calibri" pitchFamily="34" charset="-120"/>
              </a:rPr>
              <a:t>Back Cover</a:t>
            </a:r>
            <a:endParaRPr lang="en-US" sz="1200" dirty="0"/>
          </a:p>
        </p:txBody>
      </p:sp>
      <p:sp>
        <p:nvSpPr>
          <p:cNvPr id="75" name="Text 73"/>
          <p:cNvSpPr/>
          <p:nvPr/>
        </p:nvSpPr>
        <p:spPr>
          <a:xfrm>
            <a:off x="10241280" y="6003036"/>
            <a:ext cx="1508760" cy="379476"/>
          </a:xfrm>
          <a:prstGeom prst="rect">
            <a:avLst/>
          </a:prstGeom>
          <a:noFill/>
          <a:ln/>
        </p:spPr>
        <p:txBody>
          <a:bodyPr wrap="square" lIns="0" tIns="0" rIns="0" bIns="0" rtlCol="0" anchor="ctr"/>
          <a:lstStyle/>
          <a:p>
            <a:pPr algn="r" indent="0" marL="0">
              <a:buNone/>
            </a:pPr>
            <a:r>
              <a:rPr lang="en-US" sz="1100" dirty="0">
                <a:solidFill>
                  <a:srgbClr val="737373"/>
                </a:solidFill>
                <a:latin typeface="Calibri" pitchFamily="34" charset="0"/>
                <a:ea typeface="Calibri" pitchFamily="34" charset="-122"/>
                <a:cs typeface="Calibri" pitchFamily="34" charset="-120"/>
              </a:rPr>
              <a:t>الغلاف الخلفي</a:t>
            </a:r>
            <a:endParaRPr lang="en-US" sz="1100" dirty="0"/>
          </a:p>
        </p:txBody>
      </p:sp>
      <p:sp>
        <p:nvSpPr>
          <p:cNvPr id="76" name="Text 74"/>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02 / 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5280" y="822960"/>
            <a:ext cx="3520440" cy="4846320"/>
          </a:xfrm>
          <a:prstGeom prst="roundRect">
            <a:avLst>
              <a:gd name="adj" fmla="val 3117"/>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9486900" y="2743200"/>
            <a:ext cx="457200" cy="457200"/>
          </a:xfrm>
          <a:prstGeom prst="rect">
            <a:avLst/>
          </a:prstGeom>
        </p:spPr>
      </p:pic>
      <p:sp>
        <p:nvSpPr>
          <p:cNvPr id="4" name="Text 1"/>
          <p:cNvSpPr/>
          <p:nvPr/>
        </p:nvSpPr>
        <p:spPr>
          <a:xfrm>
            <a:off x="8229600" y="3200400"/>
            <a:ext cx="2971800" cy="242316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portrait of leadership / brand ambassador in action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القيادة أو سفير العلامة في أجواء رياضية</a:t>
            </a:r>
            <a:endParaRPr lang="en-US" sz="1100" dirty="0"/>
          </a:p>
        </p:txBody>
      </p:sp>
      <p:sp>
        <p:nvSpPr>
          <p:cNvPr id="5" name="Shape 2"/>
          <p:cNvSpPr/>
          <p:nvPr/>
        </p:nvSpPr>
        <p:spPr>
          <a:xfrm>
            <a:off x="731520" y="822960"/>
            <a:ext cx="640080" cy="640080"/>
          </a:xfrm>
          <a:prstGeom prst="ellipse">
            <a:avLst/>
          </a:prstGeom>
          <a:solidFill>
            <a:srgbClr val="14532D"/>
          </a:solidFill>
          <a:ln/>
        </p:spPr>
      </p:sp>
      <p:pic>
        <p:nvPicPr>
          <p:cNvPr id="6" name="Image 1" descr="/tmp/claude-0/-home-user-Alhisan-alriyadi/26da07a5-a74a-5428-98ab-1d407f05d509/scratchpad/profile-deck/icons/handshake.png">    </p:cNvPr>
          <p:cNvPicPr>
            <a:picLocks noChangeAspect="1"/>
          </p:cNvPicPr>
          <p:nvPr/>
        </p:nvPicPr>
        <p:blipFill>
          <a:blip r:embed="rId2"/>
          <a:stretch>
            <a:fillRect/>
          </a:stretch>
        </p:blipFill>
        <p:spPr>
          <a:xfrm>
            <a:off x="885139" y="976579"/>
            <a:ext cx="332842" cy="332842"/>
          </a:xfrm>
          <a:prstGeom prst="rect">
            <a:avLst/>
          </a:prstGeom>
        </p:spPr>
      </p:pic>
      <p:sp>
        <p:nvSpPr>
          <p:cNvPr id="7" name="Text 3"/>
          <p:cNvSpPr/>
          <p:nvPr/>
        </p:nvSpPr>
        <p:spPr>
          <a:xfrm>
            <a:off x="1554480" y="841248"/>
            <a:ext cx="3291840" cy="274320"/>
          </a:xfrm>
          <a:prstGeom prst="rect">
            <a:avLst/>
          </a:prstGeom>
          <a:noFill/>
          <a:ln/>
        </p:spPr>
        <p:txBody>
          <a:bodyPr wrap="square" lIns="0" tIns="0" rIns="0" bIns="0" rtlCol="0" anchor="ctr"/>
          <a:lstStyle/>
          <a:p>
            <a:pPr indent="0" marL="0">
              <a:buNone/>
            </a:pPr>
            <a:r>
              <a:rPr lang="en-US" sz="1100" b="1" spc="100" kern="0" dirty="0">
                <a:solidFill>
                  <a:srgbClr val="14532D"/>
                </a:solidFill>
                <a:latin typeface="Calibri" pitchFamily="34" charset="0"/>
                <a:ea typeface="Calibri" pitchFamily="34" charset="-122"/>
                <a:cs typeface="Calibri" pitchFamily="34" charset="-120"/>
              </a:rPr>
              <a:t>INTRODUCTION</a:t>
            </a:r>
            <a:endParaRPr lang="en-US" sz="1100" dirty="0"/>
          </a:p>
        </p:txBody>
      </p:sp>
      <p:sp>
        <p:nvSpPr>
          <p:cNvPr id="8" name="Text 4"/>
          <p:cNvSpPr/>
          <p:nvPr/>
        </p:nvSpPr>
        <p:spPr>
          <a:xfrm>
            <a:off x="1554480" y="1115568"/>
            <a:ext cx="3291840" cy="274320"/>
          </a:xfrm>
          <a:prstGeom prst="rect">
            <a:avLst/>
          </a:prstGeom>
          <a:noFill/>
          <a:ln/>
        </p:spPr>
        <p:txBody>
          <a:bodyPr wrap="square" lIns="0" tIns="0" rIns="0" bIns="0" rtlCol="0" anchor="ctr"/>
          <a:lstStyle/>
          <a:p>
            <a:pPr algn="l" indent="0" marL="0">
              <a:buNone/>
            </a:pPr>
            <a:r>
              <a:rPr lang="en-US" sz="1100" b="1" dirty="0">
                <a:solidFill>
                  <a:srgbClr val="14532D"/>
                </a:solidFill>
                <a:latin typeface="Calibri" pitchFamily="34" charset="0"/>
                <a:ea typeface="Calibri" pitchFamily="34" charset="-122"/>
                <a:cs typeface="Calibri" pitchFamily="34" charset="-120"/>
              </a:rPr>
              <a:t>مقدمة</a:t>
            </a:r>
            <a:endParaRPr lang="en-US" sz="1100" dirty="0"/>
          </a:p>
        </p:txBody>
      </p:sp>
      <p:sp>
        <p:nvSpPr>
          <p:cNvPr id="9" name="Text 5"/>
          <p:cNvSpPr/>
          <p:nvPr/>
        </p:nvSpPr>
        <p:spPr>
          <a:xfrm>
            <a:off x="731520" y="1691640"/>
            <a:ext cx="6309360" cy="502920"/>
          </a:xfrm>
          <a:prstGeom prst="rect">
            <a:avLst/>
          </a:prstGeom>
          <a:noFill/>
          <a:ln/>
        </p:spPr>
        <p:txBody>
          <a:bodyPr wrap="square" lIns="0" tIns="0" rIns="0" bIns="0" rtlCol="0" anchor="ctr"/>
          <a:lstStyle/>
          <a:p>
            <a:pPr indent="0" marL="0">
              <a:buNone/>
            </a:pPr>
            <a:r>
              <a:rPr lang="en-US" sz="2800" b="1" dirty="0">
                <a:solidFill>
                  <a:srgbClr val="171717"/>
                </a:solidFill>
                <a:latin typeface="Arial" pitchFamily="34" charset="0"/>
                <a:ea typeface="Arial" pitchFamily="34" charset="-122"/>
                <a:cs typeface="Arial" pitchFamily="34" charset="-120"/>
              </a:rPr>
              <a:t>Welcome Message</a:t>
            </a:r>
            <a:endParaRPr lang="en-US" sz="2800" dirty="0"/>
          </a:p>
        </p:txBody>
      </p:sp>
      <p:sp>
        <p:nvSpPr>
          <p:cNvPr id="10" name="Text 6"/>
          <p:cNvSpPr/>
          <p:nvPr/>
        </p:nvSpPr>
        <p:spPr>
          <a:xfrm>
            <a:off x="731520" y="2286000"/>
            <a:ext cx="6309360" cy="502920"/>
          </a:xfrm>
          <a:prstGeom prst="rect">
            <a:avLst/>
          </a:prstGeom>
          <a:noFill/>
          <a:ln/>
        </p:spPr>
        <p:txBody>
          <a:bodyPr wrap="square" lIns="0" tIns="0" rIns="0" bIns="0" rtlCol="0" anchor="ctr"/>
          <a:lstStyle/>
          <a:p>
            <a:pPr indent="0" marL="0">
              <a:buNone/>
            </a:pPr>
            <a:r>
              <a:rPr lang="en-US" sz="2000" b="1" dirty="0">
                <a:solidFill>
                  <a:srgbClr val="14532D"/>
                </a:solidFill>
                <a:latin typeface="Calibri" pitchFamily="34" charset="0"/>
                <a:ea typeface="Calibri" pitchFamily="34" charset="-122"/>
                <a:cs typeface="Calibri" pitchFamily="34" charset="-120"/>
              </a:rPr>
              <a:t>رسالة ترحيبية</a:t>
            </a:r>
            <a:endParaRPr lang="en-US" sz="2000" dirty="0"/>
          </a:p>
        </p:txBody>
      </p:sp>
      <p:sp>
        <p:nvSpPr>
          <p:cNvPr id="11" name="Text 7"/>
          <p:cNvSpPr/>
          <p:nvPr/>
        </p:nvSpPr>
        <p:spPr>
          <a:xfrm>
            <a:off x="731520" y="2971800"/>
            <a:ext cx="6309360" cy="1463040"/>
          </a:xfrm>
          <a:prstGeom prst="rect">
            <a:avLst/>
          </a:prstGeom>
          <a:noFill/>
          <a:ln/>
        </p:spPr>
        <p:txBody>
          <a:bodyPr wrap="square" lIns="0" tIns="0" rIns="0" bIns="0" rtlCol="0" anchor="t"/>
          <a:lstStyle/>
          <a:p>
            <a:pPr indent="0" marL="0">
              <a:lnSpc>
                <a:spcPct val="128000"/>
              </a:lnSpc>
              <a:buNone/>
            </a:pPr>
            <a:r>
              <a:rPr lang="en-US" sz="1250" dirty="0">
                <a:solidFill>
                  <a:srgbClr val="404040"/>
                </a:solidFill>
                <a:latin typeface="Calibri" pitchFamily="34" charset="0"/>
                <a:ea typeface="Calibri" pitchFamily="34" charset="-122"/>
                <a:cs typeface="Calibri" pitchFamily="34" charset="-120"/>
              </a:rPr>
              <a:t>We are proud to introduce Alhisan Alriyadi — Athletic Horse — your trusted destination for authentic sporting goods across the Kingdom of Saudi Arabia. We believe sport is a way of life, and every day we work to make genuine, high-quality sporting equipment more accessible for every individual and family in the Kingdom.</a:t>
            </a:r>
            <a:endParaRPr lang="en-US" sz="1250" dirty="0"/>
          </a:p>
          <a:p>
            <a:pPr indent="0" marL="0">
              <a:lnSpc>
                <a:spcPct val="128000"/>
              </a:lnSpc>
              <a:buNone/>
            </a:pPr>
            <a:endParaRPr lang="en-US" sz="1250" dirty="0"/>
          </a:p>
          <a:p>
            <a:pPr indent="0" marL="0">
              <a:lnSpc>
                <a:spcPct val="128000"/>
              </a:lnSpc>
              <a:buNone/>
            </a:pPr>
            <a:r>
              <a:rPr lang="en-US" sz="1250" dirty="0">
                <a:solidFill>
                  <a:srgbClr val="404040"/>
                </a:solidFill>
                <a:latin typeface="Calibri" pitchFamily="34" charset="0"/>
                <a:ea typeface="Calibri" pitchFamily="34" charset="-122"/>
                <a:cs typeface="Calibri" pitchFamily="34" charset="-120"/>
              </a:rPr>
              <a:t>[Signature: Executive Name — Placeholder]</a:t>
            </a:r>
            <a:endParaRPr lang="en-US" sz="1250" dirty="0"/>
          </a:p>
        </p:txBody>
      </p:sp>
      <p:sp>
        <p:nvSpPr>
          <p:cNvPr id="12" name="Text 8"/>
          <p:cNvSpPr/>
          <p:nvPr/>
        </p:nvSpPr>
        <p:spPr>
          <a:xfrm>
            <a:off x="731520" y="4617720"/>
            <a:ext cx="6309360" cy="1097280"/>
          </a:xfrm>
          <a:prstGeom prst="rect">
            <a:avLst/>
          </a:prstGeom>
          <a:noFill/>
          <a:ln/>
        </p:spPr>
        <p:txBody>
          <a:bodyPr wrap="square" lIns="0" tIns="0" rIns="0" bIns="0" rtlCol="0" anchor="t"/>
          <a:lstStyle/>
          <a:p>
            <a:pPr algn="r" indent="0" marL="0">
              <a:lnSpc>
                <a:spcPct val="132000"/>
              </a:lnSpc>
              <a:buNone/>
            </a:pPr>
            <a:r>
              <a:rPr lang="en-US" sz="1200" dirty="0">
                <a:solidFill>
                  <a:srgbClr val="404040"/>
                </a:solidFill>
                <a:latin typeface="Calibri" pitchFamily="34" charset="0"/>
                <a:ea typeface="Calibri" pitchFamily="34" charset="-122"/>
                <a:cs typeface="Calibri" pitchFamily="34" charset="-120"/>
              </a:rPr>
              <a:t>يسعدنا أن نقدّم لكم الحصان الرياضي، وجهتكم الموثوقة للمستلزمات الرياضية الأصلية في المملكة العربية السعودية. نؤمن بأن الرياضة أسلوب حياة، ونعمل كل يوم لنجعل الوصول إلى معدات رياضية أصلية وعالية الجودة أسهل لكل فرد وأسرة في المملكة.</a:t>
            </a:r>
            <a:endParaRPr lang="en-US" sz="1200" dirty="0"/>
          </a:p>
          <a:p>
            <a:pPr algn="r" indent="0" marL="0">
              <a:lnSpc>
                <a:spcPct val="132000"/>
              </a:lnSpc>
              <a:buNone/>
            </a:pPr>
            <a:endParaRPr lang="en-US" sz="1200" dirty="0"/>
          </a:p>
          <a:p>
            <a:pPr algn="r" indent="0" marL="0">
              <a:lnSpc>
                <a:spcPct val="132000"/>
              </a:lnSpc>
              <a:buNone/>
            </a:pPr>
            <a:r>
              <a:rPr lang="en-US" sz="1200" dirty="0">
                <a:solidFill>
                  <a:srgbClr val="404040"/>
                </a:solidFill>
                <a:latin typeface="Calibri" pitchFamily="34" charset="0"/>
                <a:ea typeface="Calibri" pitchFamily="34" charset="-122"/>
                <a:cs typeface="Calibri" pitchFamily="34" charset="-120"/>
              </a:rPr>
              <a:t>[التوقيع: اسم المدير التنفيذي — عنصر نائب]</a:t>
            </a:r>
            <a:endParaRPr lang="en-US" sz="1200" dirty="0"/>
          </a:p>
        </p:txBody>
      </p:sp>
      <p:sp>
        <p:nvSpPr>
          <p:cNvPr id="13" name="Text 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03 / 26</a:t>
            </a:r>
            <a:endParaRPr lang="en-US" sz="900" dirty="0"/>
          </a:p>
        </p:txBody>
      </p:sp>
      <p:sp>
        <p:nvSpPr>
          <p:cNvPr id="14" name="Text 1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Introduction   |   مقدمة</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822960"/>
            <a:ext cx="3520440" cy="4846320"/>
          </a:xfrm>
          <a:prstGeom prst="roundRect">
            <a:avLst>
              <a:gd name="adj" fmla="val 3117"/>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2263140" y="2743200"/>
            <a:ext cx="457200" cy="457200"/>
          </a:xfrm>
          <a:prstGeom prst="rect">
            <a:avLst/>
          </a:prstGeom>
        </p:spPr>
      </p:pic>
      <p:sp>
        <p:nvSpPr>
          <p:cNvPr id="4" name="Text 1"/>
          <p:cNvSpPr/>
          <p:nvPr/>
        </p:nvSpPr>
        <p:spPr>
          <a:xfrm>
            <a:off x="1005840" y="3200400"/>
            <a:ext cx="2971800" cy="242316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product flat-lay across multiple sport categories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تجميعة منتجات من فئات رياضية متعددة</a:t>
            </a:r>
            <a:endParaRPr lang="en-US" sz="1100" dirty="0"/>
          </a:p>
        </p:txBody>
      </p:sp>
      <p:sp>
        <p:nvSpPr>
          <p:cNvPr id="5" name="Shape 2"/>
          <p:cNvSpPr/>
          <p:nvPr/>
        </p:nvSpPr>
        <p:spPr>
          <a:xfrm>
            <a:off x="5120640" y="822960"/>
            <a:ext cx="640080" cy="640080"/>
          </a:xfrm>
          <a:prstGeom prst="ellipse">
            <a:avLst/>
          </a:prstGeom>
          <a:solidFill>
            <a:srgbClr val="14532D"/>
          </a:solidFill>
          <a:ln/>
        </p:spPr>
      </p:sp>
      <p:pic>
        <p:nvPicPr>
          <p:cNvPr id="6" name="Image 1" descr="/tmp/claude-0/-home-user-Alhisan-alriyadi/26da07a5-a74a-5428-98ab-1d407f05d509/scratchpad/profile-deck/icons/shieldcheck.png">    </p:cNvPr>
          <p:cNvPicPr>
            <a:picLocks noChangeAspect="1"/>
          </p:cNvPicPr>
          <p:nvPr/>
        </p:nvPicPr>
        <p:blipFill>
          <a:blip r:embed="rId2"/>
          <a:stretch>
            <a:fillRect/>
          </a:stretch>
        </p:blipFill>
        <p:spPr>
          <a:xfrm>
            <a:off x="5274259" y="976579"/>
            <a:ext cx="332842" cy="332842"/>
          </a:xfrm>
          <a:prstGeom prst="rect">
            <a:avLst/>
          </a:prstGeom>
        </p:spPr>
      </p:pic>
      <p:sp>
        <p:nvSpPr>
          <p:cNvPr id="7" name="Text 3"/>
          <p:cNvSpPr/>
          <p:nvPr/>
        </p:nvSpPr>
        <p:spPr>
          <a:xfrm>
            <a:off x="5943600" y="841248"/>
            <a:ext cx="3291840" cy="274320"/>
          </a:xfrm>
          <a:prstGeom prst="rect">
            <a:avLst/>
          </a:prstGeom>
          <a:noFill/>
          <a:ln/>
        </p:spPr>
        <p:txBody>
          <a:bodyPr wrap="square" lIns="0" tIns="0" rIns="0" bIns="0" rtlCol="0" anchor="ctr"/>
          <a:lstStyle/>
          <a:p>
            <a:pPr indent="0" marL="0">
              <a:buNone/>
            </a:pPr>
            <a:r>
              <a:rPr lang="en-US" sz="1100" b="1" spc="100" kern="0" dirty="0">
                <a:solidFill>
                  <a:srgbClr val="14532D"/>
                </a:solidFill>
                <a:latin typeface="Calibri" pitchFamily="34" charset="0"/>
                <a:ea typeface="Calibri" pitchFamily="34" charset="-122"/>
                <a:cs typeface="Calibri" pitchFamily="34" charset="-120"/>
              </a:rPr>
              <a:t>COMPANY OVERVIEW</a:t>
            </a:r>
            <a:endParaRPr lang="en-US" sz="1100" dirty="0"/>
          </a:p>
        </p:txBody>
      </p:sp>
      <p:sp>
        <p:nvSpPr>
          <p:cNvPr id="8" name="Text 4"/>
          <p:cNvSpPr/>
          <p:nvPr/>
        </p:nvSpPr>
        <p:spPr>
          <a:xfrm>
            <a:off x="5943600" y="1115568"/>
            <a:ext cx="3291840" cy="274320"/>
          </a:xfrm>
          <a:prstGeom prst="rect">
            <a:avLst/>
          </a:prstGeom>
          <a:noFill/>
          <a:ln/>
        </p:spPr>
        <p:txBody>
          <a:bodyPr wrap="square" lIns="0" tIns="0" rIns="0" bIns="0" rtlCol="0" anchor="ctr"/>
          <a:lstStyle/>
          <a:p>
            <a:pPr algn="l" indent="0" marL="0">
              <a:buNone/>
            </a:pPr>
            <a:r>
              <a:rPr lang="en-US" sz="1100" b="1" dirty="0">
                <a:solidFill>
                  <a:srgbClr val="14532D"/>
                </a:solidFill>
                <a:latin typeface="Calibri" pitchFamily="34" charset="0"/>
                <a:ea typeface="Calibri" pitchFamily="34" charset="-122"/>
                <a:cs typeface="Calibri" pitchFamily="34" charset="-120"/>
              </a:rPr>
              <a:t>نظرة عامة</a:t>
            </a:r>
            <a:endParaRPr lang="en-US" sz="1100" dirty="0"/>
          </a:p>
        </p:txBody>
      </p:sp>
      <p:sp>
        <p:nvSpPr>
          <p:cNvPr id="9" name="Text 5"/>
          <p:cNvSpPr/>
          <p:nvPr/>
        </p:nvSpPr>
        <p:spPr>
          <a:xfrm>
            <a:off x="5120640" y="1691640"/>
            <a:ext cx="6309360" cy="502920"/>
          </a:xfrm>
          <a:prstGeom prst="rect">
            <a:avLst/>
          </a:prstGeom>
          <a:noFill/>
          <a:ln/>
        </p:spPr>
        <p:txBody>
          <a:bodyPr wrap="square" lIns="0" tIns="0" rIns="0" bIns="0" rtlCol="0" anchor="ctr"/>
          <a:lstStyle/>
          <a:p>
            <a:pPr indent="0" marL="0">
              <a:buNone/>
            </a:pPr>
            <a:r>
              <a:rPr lang="en-US" sz="2800" b="1" dirty="0">
                <a:solidFill>
                  <a:srgbClr val="171717"/>
                </a:solidFill>
                <a:latin typeface="Arial" pitchFamily="34" charset="0"/>
                <a:ea typeface="Arial" pitchFamily="34" charset="-122"/>
                <a:cs typeface="Arial" pitchFamily="34" charset="-120"/>
              </a:rPr>
              <a:t>Who We Are</a:t>
            </a:r>
            <a:endParaRPr lang="en-US" sz="2800" dirty="0"/>
          </a:p>
        </p:txBody>
      </p:sp>
      <p:sp>
        <p:nvSpPr>
          <p:cNvPr id="10" name="Text 6"/>
          <p:cNvSpPr/>
          <p:nvPr/>
        </p:nvSpPr>
        <p:spPr>
          <a:xfrm>
            <a:off x="5120640" y="2286000"/>
            <a:ext cx="6309360" cy="502920"/>
          </a:xfrm>
          <a:prstGeom prst="rect">
            <a:avLst/>
          </a:prstGeom>
          <a:noFill/>
          <a:ln/>
        </p:spPr>
        <p:txBody>
          <a:bodyPr wrap="square" lIns="0" tIns="0" rIns="0" bIns="0" rtlCol="0" anchor="ctr"/>
          <a:lstStyle/>
          <a:p>
            <a:pPr indent="0" marL="0">
              <a:buNone/>
            </a:pPr>
            <a:r>
              <a:rPr lang="en-US" sz="2000" b="1" dirty="0">
                <a:solidFill>
                  <a:srgbClr val="14532D"/>
                </a:solidFill>
                <a:latin typeface="Calibri" pitchFamily="34" charset="0"/>
                <a:ea typeface="Calibri" pitchFamily="34" charset="-122"/>
                <a:cs typeface="Calibri" pitchFamily="34" charset="-120"/>
              </a:rPr>
              <a:t>من نحن</a:t>
            </a:r>
            <a:endParaRPr lang="en-US" sz="2000" dirty="0"/>
          </a:p>
        </p:txBody>
      </p:sp>
      <p:sp>
        <p:nvSpPr>
          <p:cNvPr id="11" name="Text 7"/>
          <p:cNvSpPr/>
          <p:nvPr/>
        </p:nvSpPr>
        <p:spPr>
          <a:xfrm>
            <a:off x="5120640" y="2971800"/>
            <a:ext cx="6309360" cy="1463040"/>
          </a:xfrm>
          <a:prstGeom prst="rect">
            <a:avLst/>
          </a:prstGeom>
          <a:noFill/>
          <a:ln/>
        </p:spPr>
        <p:txBody>
          <a:bodyPr wrap="square" lIns="0" tIns="0" rIns="0" bIns="0" rtlCol="0" anchor="t"/>
          <a:lstStyle/>
          <a:p>
            <a:pPr indent="0" marL="0">
              <a:lnSpc>
                <a:spcPct val="128000"/>
              </a:lnSpc>
              <a:buNone/>
            </a:pPr>
            <a:r>
              <a:rPr lang="en-US" sz="1250" dirty="0">
                <a:solidFill>
                  <a:srgbClr val="404040"/>
                </a:solidFill>
                <a:latin typeface="Calibri" pitchFamily="34" charset="0"/>
                <a:ea typeface="Calibri" pitchFamily="34" charset="-122"/>
                <a:cs typeface="Calibri" pitchFamily="34" charset="-120"/>
              </a:rPr>
              <a:t>Alhisan Alriyadi — Athletic Horse — is a Saudi e-commerce company specializing in authentic sporting goods across football, gym &amp; fitness, water sports, martial arts, racket sports, team sports, activewear for men, women and kids, and camping equipment. We serve customers across the Kingdom with fast, reliable delivery and a growing catalog of trusted brands.</a:t>
            </a:r>
            <a:endParaRPr lang="en-US" sz="1250" dirty="0"/>
          </a:p>
        </p:txBody>
      </p:sp>
      <p:sp>
        <p:nvSpPr>
          <p:cNvPr id="12" name="Text 8"/>
          <p:cNvSpPr/>
          <p:nvPr/>
        </p:nvSpPr>
        <p:spPr>
          <a:xfrm>
            <a:off x="5120640" y="4617720"/>
            <a:ext cx="6309360" cy="1097280"/>
          </a:xfrm>
          <a:prstGeom prst="rect">
            <a:avLst/>
          </a:prstGeom>
          <a:noFill/>
          <a:ln/>
        </p:spPr>
        <p:txBody>
          <a:bodyPr wrap="square" lIns="0" tIns="0" rIns="0" bIns="0" rtlCol="0" anchor="t"/>
          <a:lstStyle/>
          <a:p>
            <a:pPr algn="r" indent="0" marL="0">
              <a:lnSpc>
                <a:spcPct val="132000"/>
              </a:lnSpc>
              <a:buNone/>
            </a:pPr>
            <a:r>
              <a:rPr lang="en-US" sz="1200" dirty="0">
                <a:solidFill>
                  <a:srgbClr val="404040"/>
                </a:solidFill>
                <a:latin typeface="Calibri" pitchFamily="34" charset="0"/>
                <a:ea typeface="Calibri" pitchFamily="34" charset="-122"/>
                <a:cs typeface="Calibri" pitchFamily="34" charset="-120"/>
              </a:rPr>
              <a:t>الحصان الرياضي متجر إلكتروني سعودي متخصص في بيع المستلزمات الرياضية الأصلية لمختلف الألعاب: كرة القدم، الجيم واللياقة، الرياضات المائية، الفنون القتالية، الرياضات المضربية، الرياضات الجماعية، الملابس الرياضية للرجال والنساء والأطفال، ومستلزمات المخيمات. نخدم عملاءنا في جميع أنحاء المملكة بتوصيل سريع وموثوقية عالية.</a:t>
            </a:r>
            <a:endParaRPr lang="en-US" sz="1200" dirty="0"/>
          </a:p>
        </p:txBody>
      </p:sp>
      <p:sp>
        <p:nvSpPr>
          <p:cNvPr id="13" name="Text 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04 / 26</a:t>
            </a:r>
            <a:endParaRPr lang="en-US" sz="900" dirty="0"/>
          </a:p>
        </p:txBody>
      </p:sp>
      <p:sp>
        <p:nvSpPr>
          <p:cNvPr id="14" name="Text 1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Company Overview   |   نظرة عامة</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5280" y="822960"/>
            <a:ext cx="3520440" cy="4846320"/>
          </a:xfrm>
          <a:prstGeom prst="roundRect">
            <a:avLst>
              <a:gd name="adj" fmla="val 3117"/>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9486900" y="2743200"/>
            <a:ext cx="457200" cy="457200"/>
          </a:xfrm>
          <a:prstGeom prst="rect">
            <a:avLst/>
          </a:prstGeom>
        </p:spPr>
      </p:pic>
      <p:sp>
        <p:nvSpPr>
          <p:cNvPr id="4" name="Text 1"/>
          <p:cNvSpPr/>
          <p:nvPr/>
        </p:nvSpPr>
        <p:spPr>
          <a:xfrm>
            <a:off x="8229600" y="3200400"/>
            <a:ext cx="2971800" cy="242316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warehouse / packing / first-mile operations photo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المستودع أو عمليات التجهيز والشحن</a:t>
            </a:r>
            <a:endParaRPr lang="en-US" sz="1100" dirty="0"/>
          </a:p>
        </p:txBody>
      </p:sp>
      <p:sp>
        <p:nvSpPr>
          <p:cNvPr id="5" name="Shape 2"/>
          <p:cNvSpPr/>
          <p:nvPr/>
        </p:nvSpPr>
        <p:spPr>
          <a:xfrm>
            <a:off x="731520" y="822960"/>
            <a:ext cx="640080" cy="640080"/>
          </a:xfrm>
          <a:prstGeom prst="ellipse">
            <a:avLst/>
          </a:prstGeom>
          <a:solidFill>
            <a:srgbClr val="14532D"/>
          </a:solidFill>
          <a:ln/>
        </p:spPr>
      </p:sp>
      <p:pic>
        <p:nvPicPr>
          <p:cNvPr id="6" name="Image 1" descr="/tmp/claude-0/-home-user-Alhisan-alriyadi/26da07a5-a74a-5428-98ab-1d407f05d509/scratchpad/profile-deck/icons/star.png">    </p:cNvPr>
          <p:cNvPicPr>
            <a:picLocks noChangeAspect="1"/>
          </p:cNvPicPr>
          <p:nvPr/>
        </p:nvPicPr>
        <p:blipFill>
          <a:blip r:embed="rId2"/>
          <a:stretch>
            <a:fillRect/>
          </a:stretch>
        </p:blipFill>
        <p:spPr>
          <a:xfrm>
            <a:off x="885139" y="976579"/>
            <a:ext cx="332842" cy="332842"/>
          </a:xfrm>
          <a:prstGeom prst="rect">
            <a:avLst/>
          </a:prstGeom>
        </p:spPr>
      </p:pic>
      <p:sp>
        <p:nvSpPr>
          <p:cNvPr id="7" name="Text 3"/>
          <p:cNvSpPr/>
          <p:nvPr/>
        </p:nvSpPr>
        <p:spPr>
          <a:xfrm>
            <a:off x="1554480" y="841248"/>
            <a:ext cx="3291840" cy="274320"/>
          </a:xfrm>
          <a:prstGeom prst="rect">
            <a:avLst/>
          </a:prstGeom>
          <a:noFill/>
          <a:ln/>
        </p:spPr>
        <p:txBody>
          <a:bodyPr wrap="square" lIns="0" tIns="0" rIns="0" bIns="0" rtlCol="0" anchor="ctr"/>
          <a:lstStyle/>
          <a:p>
            <a:pPr indent="0" marL="0">
              <a:buNone/>
            </a:pPr>
            <a:r>
              <a:rPr lang="en-US" sz="1100" b="1" spc="100" kern="0" dirty="0">
                <a:solidFill>
                  <a:srgbClr val="14532D"/>
                </a:solidFill>
                <a:latin typeface="Calibri" pitchFamily="34" charset="0"/>
                <a:ea typeface="Calibri" pitchFamily="34" charset="-122"/>
                <a:cs typeface="Calibri" pitchFamily="34" charset="-120"/>
              </a:rPr>
              <a:t>HERITAGE</a:t>
            </a:r>
            <a:endParaRPr lang="en-US" sz="1100" dirty="0"/>
          </a:p>
        </p:txBody>
      </p:sp>
      <p:sp>
        <p:nvSpPr>
          <p:cNvPr id="8" name="Text 4"/>
          <p:cNvSpPr/>
          <p:nvPr/>
        </p:nvSpPr>
        <p:spPr>
          <a:xfrm>
            <a:off x="1554480" y="1115568"/>
            <a:ext cx="3291840" cy="274320"/>
          </a:xfrm>
          <a:prstGeom prst="rect">
            <a:avLst/>
          </a:prstGeom>
          <a:noFill/>
          <a:ln/>
        </p:spPr>
        <p:txBody>
          <a:bodyPr wrap="square" lIns="0" tIns="0" rIns="0" bIns="0" rtlCol="0" anchor="ctr"/>
          <a:lstStyle/>
          <a:p>
            <a:pPr algn="l" indent="0" marL="0">
              <a:buNone/>
            </a:pPr>
            <a:r>
              <a:rPr lang="en-US" sz="1100" b="1" dirty="0">
                <a:solidFill>
                  <a:srgbClr val="14532D"/>
                </a:solidFill>
                <a:latin typeface="Calibri" pitchFamily="34" charset="0"/>
                <a:ea typeface="Calibri" pitchFamily="34" charset="-122"/>
                <a:cs typeface="Calibri" pitchFamily="34" charset="-120"/>
              </a:rPr>
              <a:t>المسيرة</a:t>
            </a:r>
            <a:endParaRPr lang="en-US" sz="1100" dirty="0"/>
          </a:p>
        </p:txBody>
      </p:sp>
      <p:sp>
        <p:nvSpPr>
          <p:cNvPr id="9" name="Text 5"/>
          <p:cNvSpPr/>
          <p:nvPr/>
        </p:nvSpPr>
        <p:spPr>
          <a:xfrm>
            <a:off x="731520" y="1691640"/>
            <a:ext cx="6309360" cy="502920"/>
          </a:xfrm>
          <a:prstGeom prst="rect">
            <a:avLst/>
          </a:prstGeom>
          <a:noFill/>
          <a:ln/>
        </p:spPr>
        <p:txBody>
          <a:bodyPr wrap="square" lIns="0" tIns="0" rIns="0" bIns="0" rtlCol="0" anchor="ctr"/>
          <a:lstStyle/>
          <a:p>
            <a:pPr indent="0" marL="0">
              <a:buNone/>
            </a:pPr>
            <a:r>
              <a:rPr lang="en-US" sz="2800" b="1" dirty="0">
                <a:solidFill>
                  <a:srgbClr val="171717"/>
                </a:solidFill>
                <a:latin typeface="Arial" pitchFamily="34" charset="0"/>
                <a:ea typeface="Arial" pitchFamily="34" charset="-122"/>
                <a:cs typeface="Arial" pitchFamily="34" charset="-120"/>
              </a:rPr>
              <a:t>Our Story</a:t>
            </a:r>
            <a:endParaRPr lang="en-US" sz="2800" dirty="0"/>
          </a:p>
        </p:txBody>
      </p:sp>
      <p:sp>
        <p:nvSpPr>
          <p:cNvPr id="10" name="Text 6"/>
          <p:cNvSpPr/>
          <p:nvPr/>
        </p:nvSpPr>
        <p:spPr>
          <a:xfrm>
            <a:off x="731520" y="2286000"/>
            <a:ext cx="6309360" cy="502920"/>
          </a:xfrm>
          <a:prstGeom prst="rect">
            <a:avLst/>
          </a:prstGeom>
          <a:noFill/>
          <a:ln/>
        </p:spPr>
        <p:txBody>
          <a:bodyPr wrap="square" lIns="0" tIns="0" rIns="0" bIns="0" rtlCol="0" anchor="ctr"/>
          <a:lstStyle/>
          <a:p>
            <a:pPr indent="0" marL="0">
              <a:buNone/>
            </a:pPr>
            <a:r>
              <a:rPr lang="en-US" sz="2000" b="1" dirty="0">
                <a:solidFill>
                  <a:srgbClr val="14532D"/>
                </a:solidFill>
                <a:latin typeface="Calibri" pitchFamily="34" charset="0"/>
                <a:ea typeface="Calibri" pitchFamily="34" charset="-122"/>
                <a:cs typeface="Calibri" pitchFamily="34" charset="-120"/>
              </a:rPr>
              <a:t>قصتنا</a:t>
            </a:r>
            <a:endParaRPr lang="en-US" sz="2000" dirty="0"/>
          </a:p>
        </p:txBody>
      </p:sp>
      <p:sp>
        <p:nvSpPr>
          <p:cNvPr id="11" name="Text 7"/>
          <p:cNvSpPr/>
          <p:nvPr/>
        </p:nvSpPr>
        <p:spPr>
          <a:xfrm>
            <a:off x="731520" y="2971800"/>
            <a:ext cx="6309360" cy="1463040"/>
          </a:xfrm>
          <a:prstGeom prst="rect">
            <a:avLst/>
          </a:prstGeom>
          <a:noFill/>
          <a:ln/>
        </p:spPr>
        <p:txBody>
          <a:bodyPr wrap="square" lIns="0" tIns="0" rIns="0" bIns="0" rtlCol="0" anchor="t"/>
          <a:lstStyle/>
          <a:p>
            <a:pPr indent="0" marL="0">
              <a:lnSpc>
                <a:spcPct val="128000"/>
              </a:lnSpc>
              <a:buNone/>
            </a:pPr>
            <a:r>
              <a:rPr lang="en-US" sz="1250" dirty="0">
                <a:solidFill>
                  <a:srgbClr val="404040"/>
                </a:solidFill>
                <a:latin typeface="Calibri" pitchFamily="34" charset="0"/>
                <a:ea typeface="Calibri" pitchFamily="34" charset="-122"/>
                <a:cs typeface="Calibri" pitchFamily="34" charset="-120"/>
              </a:rPr>
              <a:t>Our story began with a simple idea: make it easy for athletes and fitness enthusiasts across Saudi Arabia to access authentic sporting goods online, with confidence. Since launch, our category range has grown steadily and our customer base has expanded city by city — always carrying one promise: quality and authenticity first.</a:t>
            </a:r>
            <a:endParaRPr lang="en-US" sz="1250" dirty="0"/>
          </a:p>
        </p:txBody>
      </p:sp>
      <p:sp>
        <p:nvSpPr>
          <p:cNvPr id="12" name="Text 8"/>
          <p:cNvSpPr/>
          <p:nvPr/>
        </p:nvSpPr>
        <p:spPr>
          <a:xfrm>
            <a:off x="731520" y="4617720"/>
            <a:ext cx="6309360" cy="1097280"/>
          </a:xfrm>
          <a:prstGeom prst="rect">
            <a:avLst/>
          </a:prstGeom>
          <a:noFill/>
          <a:ln/>
        </p:spPr>
        <p:txBody>
          <a:bodyPr wrap="square" lIns="0" tIns="0" rIns="0" bIns="0" rtlCol="0" anchor="t"/>
          <a:lstStyle/>
          <a:p>
            <a:pPr algn="r" indent="0" marL="0">
              <a:lnSpc>
                <a:spcPct val="132000"/>
              </a:lnSpc>
              <a:buNone/>
            </a:pPr>
            <a:r>
              <a:rPr lang="en-US" sz="1200" dirty="0">
                <a:solidFill>
                  <a:srgbClr val="404040"/>
                </a:solidFill>
                <a:latin typeface="Calibri" pitchFamily="34" charset="0"/>
                <a:ea typeface="Calibri" pitchFamily="34" charset="-122"/>
                <a:cs typeface="Calibri" pitchFamily="34" charset="-120"/>
              </a:rPr>
              <a:t>انطلقت الحصان الرياضي من فكرة بسيطة: تسهيل وصول الرياضيين وعشاق اللياقة في المملكة إلى منتجات رياضية أصلية بثقة وسهولة عبر الإنترنت. منذ انطلاقتنا، نما تشكيلنا من الفئات الرياضية باستمرار، وتوسّعت قاعدة عملائنا مدينة بعد مدينة، حاملين رسالة واحدة: الجودة والأصالة أولاً.</a:t>
            </a:r>
            <a:endParaRPr lang="en-US" sz="1200" dirty="0"/>
          </a:p>
        </p:txBody>
      </p:sp>
      <p:sp>
        <p:nvSpPr>
          <p:cNvPr id="13" name="Text 9"/>
          <p:cNvSpPr/>
          <p:nvPr/>
        </p:nvSpPr>
        <p:spPr>
          <a:xfrm>
            <a:off x="731520" y="5897880"/>
            <a:ext cx="6309360" cy="411480"/>
          </a:xfrm>
          <a:prstGeom prst="rect">
            <a:avLst/>
          </a:prstGeom>
          <a:noFill/>
          <a:ln/>
        </p:spPr>
        <p:txBody>
          <a:bodyPr wrap="square" lIns="0" tIns="0" rIns="0" bIns="0" rtlCol="0" anchor="t"/>
          <a:lstStyle/>
          <a:p>
            <a:pPr indent="0" marL="0">
              <a:lnSpc>
                <a:spcPct val="115000"/>
              </a:lnSpc>
              <a:buNone/>
            </a:pPr>
            <a:r>
              <a:rPr lang="en-US" sz="850" i="1" dirty="0">
                <a:solidFill>
                  <a:srgbClr val="737373"/>
                </a:solidFill>
                <a:latin typeface="Calibri" pitchFamily="34" charset="0"/>
                <a:ea typeface="Calibri" pitchFamily="34" charset="-122"/>
                <a:cs typeface="Calibri" pitchFamily="34" charset="-120"/>
              </a:rPr>
              <a:t>Placeholder: exact founding date and growth milestones pending confirmation from Alhisan Alriyadi.  |  عنصر نائب: تفاصيل تاريخ التأسيس ومحطات النمو بانتظار التأكيد.</a:t>
            </a:r>
            <a:endParaRPr lang="en-US" sz="850" dirty="0"/>
          </a:p>
        </p:txBody>
      </p:sp>
      <p:sp>
        <p:nvSpPr>
          <p:cNvPr id="14" name="Text 10"/>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05 / 26</a:t>
            </a:r>
            <a:endParaRPr lang="en-US" sz="900" dirty="0"/>
          </a:p>
        </p:txBody>
      </p:sp>
      <p:sp>
        <p:nvSpPr>
          <p:cNvPr id="15" name="Text 11"/>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Heritage   |   المسيرة</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822960"/>
            <a:ext cx="3520440" cy="4846320"/>
          </a:xfrm>
          <a:prstGeom prst="roundRect">
            <a:avLst>
              <a:gd name="adj" fmla="val 3117"/>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2263140" y="2743200"/>
            <a:ext cx="457200" cy="457200"/>
          </a:xfrm>
          <a:prstGeom prst="rect">
            <a:avLst/>
          </a:prstGeom>
        </p:spPr>
      </p:pic>
      <p:sp>
        <p:nvSpPr>
          <p:cNvPr id="4" name="Text 1"/>
          <p:cNvSpPr/>
          <p:nvPr/>
        </p:nvSpPr>
        <p:spPr>
          <a:xfrm>
            <a:off x="1005840" y="3200400"/>
            <a:ext cx="2971800" cy="242316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wide lifestyle shot — diverse athletes in motion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لقطة حياتية واسعة لرياضيين متنوعين في الحركة</a:t>
            </a:r>
            <a:endParaRPr lang="en-US" sz="1100" dirty="0"/>
          </a:p>
        </p:txBody>
      </p:sp>
      <p:sp>
        <p:nvSpPr>
          <p:cNvPr id="5" name="Shape 2"/>
          <p:cNvSpPr/>
          <p:nvPr/>
        </p:nvSpPr>
        <p:spPr>
          <a:xfrm>
            <a:off x="5120640" y="822960"/>
            <a:ext cx="640080" cy="640080"/>
          </a:xfrm>
          <a:prstGeom prst="ellipse">
            <a:avLst/>
          </a:prstGeom>
          <a:solidFill>
            <a:srgbClr val="14532D"/>
          </a:solidFill>
          <a:ln/>
        </p:spPr>
      </p:sp>
      <p:pic>
        <p:nvPicPr>
          <p:cNvPr id="6" name="Image 1" descr="/tmp/claude-0/-home-user-Alhisan-alriyadi/26da07a5-a74a-5428-98ab-1d407f05d509/scratchpad/profile-deck/icons/compass.png">    </p:cNvPr>
          <p:cNvPicPr>
            <a:picLocks noChangeAspect="1"/>
          </p:cNvPicPr>
          <p:nvPr/>
        </p:nvPicPr>
        <p:blipFill>
          <a:blip r:embed="rId2"/>
          <a:stretch>
            <a:fillRect/>
          </a:stretch>
        </p:blipFill>
        <p:spPr>
          <a:xfrm>
            <a:off x="5274259" y="976579"/>
            <a:ext cx="332842" cy="332842"/>
          </a:xfrm>
          <a:prstGeom prst="rect">
            <a:avLst/>
          </a:prstGeom>
        </p:spPr>
      </p:pic>
      <p:sp>
        <p:nvSpPr>
          <p:cNvPr id="7" name="Text 3"/>
          <p:cNvSpPr/>
          <p:nvPr/>
        </p:nvSpPr>
        <p:spPr>
          <a:xfrm>
            <a:off x="5943600" y="841248"/>
            <a:ext cx="3291840" cy="274320"/>
          </a:xfrm>
          <a:prstGeom prst="rect">
            <a:avLst/>
          </a:prstGeom>
          <a:noFill/>
          <a:ln/>
        </p:spPr>
        <p:txBody>
          <a:bodyPr wrap="square" lIns="0" tIns="0" rIns="0" bIns="0" rtlCol="0" anchor="ctr"/>
          <a:lstStyle/>
          <a:p>
            <a:pPr indent="0" marL="0">
              <a:buNone/>
            </a:pPr>
            <a:r>
              <a:rPr lang="en-US" sz="1100" b="1" spc="100" kern="0" dirty="0">
                <a:solidFill>
                  <a:srgbClr val="14532D"/>
                </a:solidFill>
                <a:latin typeface="Calibri" pitchFamily="34" charset="0"/>
                <a:ea typeface="Calibri" pitchFamily="34" charset="-122"/>
                <a:cs typeface="Calibri" pitchFamily="34" charset="-120"/>
              </a:rPr>
              <a:t>DIRECTION</a:t>
            </a:r>
            <a:endParaRPr lang="en-US" sz="1100" dirty="0"/>
          </a:p>
        </p:txBody>
      </p:sp>
      <p:sp>
        <p:nvSpPr>
          <p:cNvPr id="8" name="Text 4"/>
          <p:cNvSpPr/>
          <p:nvPr/>
        </p:nvSpPr>
        <p:spPr>
          <a:xfrm>
            <a:off x="5943600" y="1115568"/>
            <a:ext cx="3291840" cy="274320"/>
          </a:xfrm>
          <a:prstGeom prst="rect">
            <a:avLst/>
          </a:prstGeom>
          <a:noFill/>
          <a:ln/>
        </p:spPr>
        <p:txBody>
          <a:bodyPr wrap="square" lIns="0" tIns="0" rIns="0" bIns="0" rtlCol="0" anchor="ctr"/>
          <a:lstStyle/>
          <a:p>
            <a:pPr algn="l" indent="0" marL="0">
              <a:buNone/>
            </a:pPr>
            <a:r>
              <a:rPr lang="en-US" sz="1100" b="1" dirty="0">
                <a:solidFill>
                  <a:srgbClr val="14532D"/>
                </a:solidFill>
                <a:latin typeface="Calibri" pitchFamily="34" charset="0"/>
                <a:ea typeface="Calibri" pitchFamily="34" charset="-122"/>
                <a:cs typeface="Calibri" pitchFamily="34" charset="-120"/>
              </a:rPr>
              <a:t>الاتجاه</a:t>
            </a:r>
            <a:endParaRPr lang="en-US" sz="1100" dirty="0"/>
          </a:p>
        </p:txBody>
      </p:sp>
      <p:sp>
        <p:nvSpPr>
          <p:cNvPr id="9" name="Text 5"/>
          <p:cNvSpPr/>
          <p:nvPr/>
        </p:nvSpPr>
        <p:spPr>
          <a:xfrm>
            <a:off x="5120640" y="1691640"/>
            <a:ext cx="6309360" cy="502920"/>
          </a:xfrm>
          <a:prstGeom prst="rect">
            <a:avLst/>
          </a:prstGeom>
          <a:noFill/>
          <a:ln/>
        </p:spPr>
        <p:txBody>
          <a:bodyPr wrap="square" lIns="0" tIns="0" rIns="0" bIns="0" rtlCol="0" anchor="ctr"/>
          <a:lstStyle/>
          <a:p>
            <a:pPr indent="0" marL="0">
              <a:buNone/>
            </a:pPr>
            <a:r>
              <a:rPr lang="en-US" sz="2800" b="1" dirty="0">
                <a:solidFill>
                  <a:srgbClr val="171717"/>
                </a:solidFill>
                <a:latin typeface="Arial" pitchFamily="34" charset="0"/>
                <a:ea typeface="Arial" pitchFamily="34" charset="-122"/>
                <a:cs typeface="Arial" pitchFamily="34" charset="-120"/>
              </a:rPr>
              <a:t>Vision</a:t>
            </a:r>
            <a:endParaRPr lang="en-US" sz="2800" dirty="0"/>
          </a:p>
        </p:txBody>
      </p:sp>
      <p:sp>
        <p:nvSpPr>
          <p:cNvPr id="10" name="Text 6"/>
          <p:cNvSpPr/>
          <p:nvPr/>
        </p:nvSpPr>
        <p:spPr>
          <a:xfrm>
            <a:off x="5120640" y="2286000"/>
            <a:ext cx="6309360" cy="502920"/>
          </a:xfrm>
          <a:prstGeom prst="rect">
            <a:avLst/>
          </a:prstGeom>
          <a:noFill/>
          <a:ln/>
        </p:spPr>
        <p:txBody>
          <a:bodyPr wrap="square" lIns="0" tIns="0" rIns="0" bIns="0" rtlCol="0" anchor="ctr"/>
          <a:lstStyle/>
          <a:p>
            <a:pPr indent="0" marL="0">
              <a:buNone/>
            </a:pPr>
            <a:r>
              <a:rPr lang="en-US" sz="2000" b="1" dirty="0">
                <a:solidFill>
                  <a:srgbClr val="14532D"/>
                </a:solidFill>
                <a:latin typeface="Calibri" pitchFamily="34" charset="0"/>
                <a:ea typeface="Calibri" pitchFamily="34" charset="-122"/>
                <a:cs typeface="Calibri" pitchFamily="34" charset="-120"/>
              </a:rPr>
              <a:t>رؤيتنا</a:t>
            </a:r>
            <a:endParaRPr lang="en-US" sz="2000" dirty="0"/>
          </a:p>
        </p:txBody>
      </p:sp>
      <p:sp>
        <p:nvSpPr>
          <p:cNvPr id="11" name="Text 7"/>
          <p:cNvSpPr/>
          <p:nvPr/>
        </p:nvSpPr>
        <p:spPr>
          <a:xfrm>
            <a:off x="5120640" y="2971800"/>
            <a:ext cx="6309360" cy="1463040"/>
          </a:xfrm>
          <a:prstGeom prst="rect">
            <a:avLst/>
          </a:prstGeom>
          <a:noFill/>
          <a:ln/>
        </p:spPr>
        <p:txBody>
          <a:bodyPr wrap="square" lIns="0" tIns="0" rIns="0" bIns="0" rtlCol="0" anchor="t"/>
          <a:lstStyle/>
          <a:p>
            <a:pPr indent="0" marL="0">
              <a:lnSpc>
                <a:spcPct val="128000"/>
              </a:lnSpc>
              <a:buNone/>
            </a:pPr>
            <a:r>
              <a:rPr lang="en-US" sz="1250" dirty="0">
                <a:solidFill>
                  <a:srgbClr val="404040"/>
                </a:solidFill>
                <a:latin typeface="Calibri" pitchFamily="34" charset="0"/>
                <a:ea typeface="Calibri" pitchFamily="34" charset="-122"/>
                <a:cs typeface="Calibri" pitchFamily="34" charset="-120"/>
              </a:rPr>
              <a:t>To be the most trusted sporting goods destination for individuals and families across the Kingdom of Saudi Arabia.</a:t>
            </a:r>
            <a:endParaRPr lang="en-US" sz="1250" dirty="0"/>
          </a:p>
        </p:txBody>
      </p:sp>
      <p:sp>
        <p:nvSpPr>
          <p:cNvPr id="12" name="Text 8"/>
          <p:cNvSpPr/>
          <p:nvPr/>
        </p:nvSpPr>
        <p:spPr>
          <a:xfrm>
            <a:off x="5120640" y="4617720"/>
            <a:ext cx="6309360" cy="1097280"/>
          </a:xfrm>
          <a:prstGeom prst="rect">
            <a:avLst/>
          </a:prstGeom>
          <a:noFill/>
          <a:ln/>
        </p:spPr>
        <p:txBody>
          <a:bodyPr wrap="square" lIns="0" tIns="0" rIns="0" bIns="0" rtlCol="0" anchor="t"/>
          <a:lstStyle/>
          <a:p>
            <a:pPr algn="r" indent="0" marL="0">
              <a:lnSpc>
                <a:spcPct val="132000"/>
              </a:lnSpc>
              <a:buNone/>
            </a:pPr>
            <a:r>
              <a:rPr lang="en-US" sz="1200" dirty="0">
                <a:solidFill>
                  <a:srgbClr val="404040"/>
                </a:solidFill>
                <a:latin typeface="Calibri" pitchFamily="34" charset="0"/>
                <a:ea typeface="Calibri" pitchFamily="34" charset="-122"/>
                <a:cs typeface="Calibri" pitchFamily="34" charset="-120"/>
              </a:rPr>
              <a:t>أن نكون الوجهة الرياضية الأولى والأكثر ثقة لدى الأفراد والأسر في المملكة العربية السعودية.</a:t>
            </a:r>
            <a:endParaRPr lang="en-US" sz="1200" dirty="0"/>
          </a:p>
        </p:txBody>
      </p:sp>
      <p:sp>
        <p:nvSpPr>
          <p:cNvPr id="13" name="Text 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06 / 26</a:t>
            </a:r>
            <a:endParaRPr lang="en-US" sz="900" dirty="0"/>
          </a:p>
        </p:txBody>
      </p:sp>
      <p:sp>
        <p:nvSpPr>
          <p:cNvPr id="14" name="Text 1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Direction   |   الاتجاه</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5280" y="822960"/>
            <a:ext cx="3520440" cy="4846320"/>
          </a:xfrm>
          <a:prstGeom prst="roundRect">
            <a:avLst>
              <a:gd name="adj" fmla="val 3117"/>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9486900" y="2743200"/>
            <a:ext cx="457200" cy="457200"/>
          </a:xfrm>
          <a:prstGeom prst="rect">
            <a:avLst/>
          </a:prstGeom>
        </p:spPr>
      </p:pic>
      <p:sp>
        <p:nvSpPr>
          <p:cNvPr id="4" name="Text 1"/>
          <p:cNvSpPr/>
          <p:nvPr/>
        </p:nvSpPr>
        <p:spPr>
          <a:xfrm>
            <a:off x="8229600" y="3200400"/>
            <a:ext cx="2971800" cy="242316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courier / delivery moment, product in hand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لحظة التوصيل واستلام المنتج</a:t>
            </a:r>
            <a:endParaRPr lang="en-US" sz="1100" dirty="0"/>
          </a:p>
        </p:txBody>
      </p:sp>
      <p:sp>
        <p:nvSpPr>
          <p:cNvPr id="5" name="Shape 2"/>
          <p:cNvSpPr/>
          <p:nvPr/>
        </p:nvSpPr>
        <p:spPr>
          <a:xfrm>
            <a:off x="731520" y="822960"/>
            <a:ext cx="640080" cy="640080"/>
          </a:xfrm>
          <a:prstGeom prst="ellipse">
            <a:avLst/>
          </a:prstGeom>
          <a:solidFill>
            <a:srgbClr val="14532D"/>
          </a:solidFill>
          <a:ln/>
        </p:spPr>
      </p:sp>
      <p:pic>
        <p:nvPicPr>
          <p:cNvPr id="6" name="Image 1" descr="/tmp/claude-0/-home-user-Alhisan-alriyadi/26da07a5-a74a-5428-98ab-1d407f05d509/scratchpad/profile-deck/icons/bullseye.png">    </p:cNvPr>
          <p:cNvPicPr>
            <a:picLocks noChangeAspect="1"/>
          </p:cNvPicPr>
          <p:nvPr/>
        </p:nvPicPr>
        <p:blipFill>
          <a:blip r:embed="rId2"/>
          <a:stretch>
            <a:fillRect/>
          </a:stretch>
        </p:blipFill>
        <p:spPr>
          <a:xfrm>
            <a:off x="885139" y="976579"/>
            <a:ext cx="332842" cy="332842"/>
          </a:xfrm>
          <a:prstGeom prst="rect">
            <a:avLst/>
          </a:prstGeom>
        </p:spPr>
      </p:pic>
      <p:sp>
        <p:nvSpPr>
          <p:cNvPr id="7" name="Text 3"/>
          <p:cNvSpPr/>
          <p:nvPr/>
        </p:nvSpPr>
        <p:spPr>
          <a:xfrm>
            <a:off x="1554480" y="841248"/>
            <a:ext cx="3291840" cy="274320"/>
          </a:xfrm>
          <a:prstGeom prst="rect">
            <a:avLst/>
          </a:prstGeom>
          <a:noFill/>
          <a:ln/>
        </p:spPr>
        <p:txBody>
          <a:bodyPr wrap="square" lIns="0" tIns="0" rIns="0" bIns="0" rtlCol="0" anchor="ctr"/>
          <a:lstStyle/>
          <a:p>
            <a:pPr indent="0" marL="0">
              <a:buNone/>
            </a:pPr>
            <a:r>
              <a:rPr lang="en-US" sz="1100" b="1" spc="100" kern="0" dirty="0">
                <a:solidFill>
                  <a:srgbClr val="14532D"/>
                </a:solidFill>
                <a:latin typeface="Calibri" pitchFamily="34" charset="0"/>
                <a:ea typeface="Calibri" pitchFamily="34" charset="-122"/>
                <a:cs typeface="Calibri" pitchFamily="34" charset="-120"/>
              </a:rPr>
              <a:t>PURPOSE</a:t>
            </a:r>
            <a:endParaRPr lang="en-US" sz="1100" dirty="0"/>
          </a:p>
        </p:txBody>
      </p:sp>
      <p:sp>
        <p:nvSpPr>
          <p:cNvPr id="8" name="Text 4"/>
          <p:cNvSpPr/>
          <p:nvPr/>
        </p:nvSpPr>
        <p:spPr>
          <a:xfrm>
            <a:off x="1554480" y="1115568"/>
            <a:ext cx="3291840" cy="274320"/>
          </a:xfrm>
          <a:prstGeom prst="rect">
            <a:avLst/>
          </a:prstGeom>
          <a:noFill/>
          <a:ln/>
        </p:spPr>
        <p:txBody>
          <a:bodyPr wrap="square" lIns="0" tIns="0" rIns="0" bIns="0" rtlCol="0" anchor="ctr"/>
          <a:lstStyle/>
          <a:p>
            <a:pPr algn="l" indent="0" marL="0">
              <a:buNone/>
            </a:pPr>
            <a:r>
              <a:rPr lang="en-US" sz="1100" b="1" dirty="0">
                <a:solidFill>
                  <a:srgbClr val="14532D"/>
                </a:solidFill>
                <a:latin typeface="Calibri" pitchFamily="34" charset="0"/>
                <a:ea typeface="Calibri" pitchFamily="34" charset="-122"/>
                <a:cs typeface="Calibri" pitchFamily="34" charset="-120"/>
              </a:rPr>
              <a:t>الغاية</a:t>
            </a:r>
            <a:endParaRPr lang="en-US" sz="1100" dirty="0"/>
          </a:p>
        </p:txBody>
      </p:sp>
      <p:sp>
        <p:nvSpPr>
          <p:cNvPr id="9" name="Text 5"/>
          <p:cNvSpPr/>
          <p:nvPr/>
        </p:nvSpPr>
        <p:spPr>
          <a:xfrm>
            <a:off x="731520" y="1691640"/>
            <a:ext cx="6309360" cy="502920"/>
          </a:xfrm>
          <a:prstGeom prst="rect">
            <a:avLst/>
          </a:prstGeom>
          <a:noFill/>
          <a:ln/>
        </p:spPr>
        <p:txBody>
          <a:bodyPr wrap="square" lIns="0" tIns="0" rIns="0" bIns="0" rtlCol="0" anchor="ctr"/>
          <a:lstStyle/>
          <a:p>
            <a:pPr indent="0" marL="0">
              <a:buNone/>
            </a:pPr>
            <a:r>
              <a:rPr lang="en-US" sz="2800" b="1" dirty="0">
                <a:solidFill>
                  <a:srgbClr val="171717"/>
                </a:solidFill>
                <a:latin typeface="Arial" pitchFamily="34" charset="0"/>
                <a:ea typeface="Arial" pitchFamily="34" charset="-122"/>
                <a:cs typeface="Arial" pitchFamily="34" charset="-120"/>
              </a:rPr>
              <a:t>Mission</a:t>
            </a:r>
            <a:endParaRPr lang="en-US" sz="2800" dirty="0"/>
          </a:p>
        </p:txBody>
      </p:sp>
      <p:sp>
        <p:nvSpPr>
          <p:cNvPr id="10" name="Text 6"/>
          <p:cNvSpPr/>
          <p:nvPr/>
        </p:nvSpPr>
        <p:spPr>
          <a:xfrm>
            <a:off x="731520" y="2286000"/>
            <a:ext cx="6309360" cy="502920"/>
          </a:xfrm>
          <a:prstGeom prst="rect">
            <a:avLst/>
          </a:prstGeom>
          <a:noFill/>
          <a:ln/>
        </p:spPr>
        <p:txBody>
          <a:bodyPr wrap="square" lIns="0" tIns="0" rIns="0" bIns="0" rtlCol="0" anchor="ctr"/>
          <a:lstStyle/>
          <a:p>
            <a:pPr indent="0" marL="0">
              <a:buNone/>
            </a:pPr>
            <a:r>
              <a:rPr lang="en-US" sz="2000" b="1" dirty="0">
                <a:solidFill>
                  <a:srgbClr val="14532D"/>
                </a:solidFill>
                <a:latin typeface="Calibri" pitchFamily="34" charset="0"/>
                <a:ea typeface="Calibri" pitchFamily="34" charset="-122"/>
                <a:cs typeface="Calibri" pitchFamily="34" charset="-120"/>
              </a:rPr>
              <a:t>رسالتنا</a:t>
            </a:r>
            <a:endParaRPr lang="en-US" sz="2000" dirty="0"/>
          </a:p>
        </p:txBody>
      </p:sp>
      <p:sp>
        <p:nvSpPr>
          <p:cNvPr id="11" name="Text 7"/>
          <p:cNvSpPr/>
          <p:nvPr/>
        </p:nvSpPr>
        <p:spPr>
          <a:xfrm>
            <a:off x="731520" y="2971800"/>
            <a:ext cx="6309360" cy="1463040"/>
          </a:xfrm>
          <a:prstGeom prst="rect">
            <a:avLst/>
          </a:prstGeom>
          <a:noFill/>
          <a:ln/>
        </p:spPr>
        <p:txBody>
          <a:bodyPr wrap="square" lIns="0" tIns="0" rIns="0" bIns="0" rtlCol="0" anchor="t"/>
          <a:lstStyle/>
          <a:p>
            <a:pPr indent="0" marL="0">
              <a:lnSpc>
                <a:spcPct val="128000"/>
              </a:lnSpc>
              <a:buNone/>
            </a:pPr>
            <a:r>
              <a:rPr lang="en-US" sz="1250" dirty="0">
                <a:solidFill>
                  <a:srgbClr val="404040"/>
                </a:solidFill>
                <a:latin typeface="Calibri" pitchFamily="34" charset="0"/>
                <a:ea typeface="Calibri" pitchFamily="34" charset="-122"/>
                <a:cs typeface="Calibri" pitchFamily="34" charset="-120"/>
              </a:rPr>
              <a:t>To provide authentic, high-quality sporting goods for every sport and every age, delivered through a seamless shopping experience and fast delivery that reaches every city in the Kingdom.</a:t>
            </a:r>
            <a:endParaRPr lang="en-US" sz="1250" dirty="0"/>
          </a:p>
        </p:txBody>
      </p:sp>
      <p:sp>
        <p:nvSpPr>
          <p:cNvPr id="12" name="Text 8"/>
          <p:cNvSpPr/>
          <p:nvPr/>
        </p:nvSpPr>
        <p:spPr>
          <a:xfrm>
            <a:off x="731520" y="4617720"/>
            <a:ext cx="6309360" cy="1097280"/>
          </a:xfrm>
          <a:prstGeom prst="rect">
            <a:avLst/>
          </a:prstGeom>
          <a:noFill/>
          <a:ln/>
        </p:spPr>
        <p:txBody>
          <a:bodyPr wrap="square" lIns="0" tIns="0" rIns="0" bIns="0" rtlCol="0" anchor="t"/>
          <a:lstStyle/>
          <a:p>
            <a:pPr algn="r" indent="0" marL="0">
              <a:lnSpc>
                <a:spcPct val="132000"/>
              </a:lnSpc>
              <a:buNone/>
            </a:pPr>
            <a:r>
              <a:rPr lang="en-US" sz="1200" dirty="0">
                <a:solidFill>
                  <a:srgbClr val="404040"/>
                </a:solidFill>
                <a:latin typeface="Calibri" pitchFamily="34" charset="0"/>
                <a:ea typeface="Calibri" pitchFamily="34" charset="-122"/>
                <a:cs typeface="Calibri" pitchFamily="34" charset="-120"/>
              </a:rPr>
              <a:t>نوفر مستلزمات رياضية أصلية وعالية الجودة لكل الألعاب والأعمار، بتجربة تسوق سلسة وتوصيل سريع يغطي جميع مدن المملكة.</a:t>
            </a:r>
            <a:endParaRPr lang="en-US" sz="1200" dirty="0"/>
          </a:p>
        </p:txBody>
      </p:sp>
      <p:sp>
        <p:nvSpPr>
          <p:cNvPr id="13" name="Text 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07 / 26</a:t>
            </a:r>
            <a:endParaRPr lang="en-US" sz="900" dirty="0"/>
          </a:p>
        </p:txBody>
      </p:sp>
      <p:sp>
        <p:nvSpPr>
          <p:cNvPr id="14" name="Text 1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Purpose   |   الغاية</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731520" y="502920"/>
            <a:ext cx="7315200" cy="548640"/>
          </a:xfrm>
          <a:prstGeom prst="rect">
            <a:avLst/>
          </a:prstGeom>
          <a:noFill/>
          <a:ln/>
        </p:spPr>
        <p:txBody>
          <a:bodyPr wrap="square" lIns="0" tIns="0" rIns="0" bIns="0" rtlCol="0" anchor="ctr"/>
          <a:lstStyle/>
          <a:p>
            <a:pPr indent="0" marL="0">
              <a:buNone/>
            </a:pPr>
            <a:r>
              <a:rPr lang="en-US" sz="3000" b="1" dirty="0">
                <a:solidFill>
                  <a:srgbClr val="171717"/>
                </a:solidFill>
                <a:latin typeface="Arial" pitchFamily="34" charset="0"/>
                <a:ea typeface="Arial" pitchFamily="34" charset="-122"/>
                <a:cs typeface="Arial" pitchFamily="34" charset="-120"/>
              </a:rPr>
              <a:t>Core Values</a:t>
            </a:r>
            <a:endParaRPr lang="en-US" sz="3000" dirty="0"/>
          </a:p>
        </p:txBody>
      </p:sp>
      <p:sp>
        <p:nvSpPr>
          <p:cNvPr id="3" name="Text 1"/>
          <p:cNvSpPr/>
          <p:nvPr/>
        </p:nvSpPr>
        <p:spPr>
          <a:xfrm>
            <a:off x="731520" y="1051560"/>
            <a:ext cx="7315200" cy="457200"/>
          </a:xfrm>
          <a:prstGeom prst="rect">
            <a:avLst/>
          </a:prstGeom>
          <a:noFill/>
          <a:ln/>
        </p:spPr>
        <p:txBody>
          <a:bodyPr wrap="square" lIns="0" tIns="0" rIns="0" bIns="0" rtlCol="0" anchor="ctr"/>
          <a:lstStyle/>
          <a:p>
            <a:pPr indent="0" marL="0">
              <a:buNone/>
            </a:pPr>
            <a:r>
              <a:rPr lang="en-US" sz="1800" b="1" dirty="0">
                <a:solidFill>
                  <a:srgbClr val="14532D"/>
                </a:solidFill>
                <a:latin typeface="Calibri" pitchFamily="34" charset="0"/>
                <a:ea typeface="Calibri" pitchFamily="34" charset="-122"/>
                <a:cs typeface="Calibri" pitchFamily="34" charset="-120"/>
              </a:rPr>
              <a:t>قيمنا الأساسية</a:t>
            </a:r>
            <a:endParaRPr lang="en-US" sz="1800" dirty="0"/>
          </a:p>
        </p:txBody>
      </p:sp>
      <p:sp>
        <p:nvSpPr>
          <p:cNvPr id="4" name="Shape 2"/>
          <p:cNvSpPr/>
          <p:nvPr/>
        </p:nvSpPr>
        <p:spPr>
          <a:xfrm>
            <a:off x="694944" y="1874520"/>
            <a:ext cx="3429000" cy="2331720"/>
          </a:xfrm>
          <a:prstGeom prst="roundRect">
            <a:avLst>
              <a:gd name="adj" fmla="val 3922"/>
            </a:avLst>
          </a:prstGeom>
          <a:solidFill>
            <a:srgbClr val="FFFFFF"/>
          </a:solidFill>
          <a:ln w="12700">
            <a:solidFill>
              <a:srgbClr val="E5E5E5"/>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1014984" y="2194560"/>
            <a:ext cx="594360" cy="594360"/>
          </a:xfrm>
          <a:prstGeom prst="ellipse">
            <a:avLst/>
          </a:prstGeom>
          <a:solidFill>
            <a:srgbClr val="14532D"/>
          </a:solidFill>
          <a:ln/>
        </p:spPr>
      </p:sp>
      <p:pic>
        <p:nvPicPr>
          <p:cNvPr id="6" name="Image 0" descr="/tmp/claude-0/-home-user-Alhisan-alriyadi/26da07a5-a74a-5428-98ab-1d407f05d509/scratchpad/profile-deck/icons/shieldcheck.png">    </p:cNvPr>
          <p:cNvPicPr>
            <a:picLocks noChangeAspect="1"/>
          </p:cNvPicPr>
          <p:nvPr/>
        </p:nvPicPr>
        <p:blipFill>
          <a:blip r:embed="rId1"/>
          <a:stretch>
            <a:fillRect/>
          </a:stretch>
        </p:blipFill>
        <p:spPr>
          <a:xfrm>
            <a:off x="1157630" y="2337206"/>
            <a:ext cx="309067" cy="309067"/>
          </a:xfrm>
          <a:prstGeom prst="rect">
            <a:avLst/>
          </a:prstGeom>
        </p:spPr>
      </p:pic>
      <p:sp>
        <p:nvSpPr>
          <p:cNvPr id="7" name="Text 4"/>
          <p:cNvSpPr/>
          <p:nvPr/>
        </p:nvSpPr>
        <p:spPr>
          <a:xfrm>
            <a:off x="1746504" y="2167128"/>
            <a:ext cx="2148840" cy="320040"/>
          </a:xfrm>
          <a:prstGeom prst="rect">
            <a:avLst/>
          </a:prstGeom>
          <a:noFill/>
          <a:ln/>
        </p:spPr>
        <p:txBody>
          <a:bodyPr wrap="square" lIns="0" tIns="0" rIns="0" bIns="0" rtlCol="0" anchor="ctr"/>
          <a:lstStyle/>
          <a:p>
            <a:pPr indent="0" marL="0">
              <a:buNone/>
            </a:pPr>
            <a:r>
              <a:rPr lang="en-US" sz="1600" b="1" dirty="0">
                <a:solidFill>
                  <a:srgbClr val="171717"/>
                </a:solidFill>
                <a:latin typeface="Arial" pitchFamily="34" charset="0"/>
                <a:ea typeface="Arial" pitchFamily="34" charset="-122"/>
                <a:cs typeface="Arial" pitchFamily="34" charset="-120"/>
              </a:rPr>
              <a:t>Authenticity</a:t>
            </a:r>
            <a:endParaRPr lang="en-US" sz="1600" dirty="0"/>
          </a:p>
        </p:txBody>
      </p:sp>
      <p:sp>
        <p:nvSpPr>
          <p:cNvPr id="8" name="Text 5"/>
          <p:cNvSpPr/>
          <p:nvPr/>
        </p:nvSpPr>
        <p:spPr>
          <a:xfrm>
            <a:off x="1746504" y="2496312"/>
            <a:ext cx="2148840" cy="292608"/>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الأصالة</a:t>
            </a:r>
            <a:endParaRPr lang="en-US" sz="1200" dirty="0"/>
          </a:p>
        </p:txBody>
      </p:sp>
      <p:sp>
        <p:nvSpPr>
          <p:cNvPr id="9" name="Text 6"/>
          <p:cNvSpPr/>
          <p:nvPr/>
        </p:nvSpPr>
        <p:spPr>
          <a:xfrm>
            <a:off x="1014984" y="3063240"/>
            <a:ext cx="2788920" cy="384048"/>
          </a:xfrm>
          <a:prstGeom prst="rect">
            <a:avLst/>
          </a:prstGeom>
          <a:noFill/>
          <a:ln/>
        </p:spPr>
        <p:txBody>
          <a:bodyPr wrap="square" lIns="0" tIns="0" rIns="0" bIns="0" rtlCol="0" anchor="t"/>
          <a:lstStyle/>
          <a:p>
            <a:pPr indent="0" marL="0">
              <a:buNone/>
            </a:pPr>
            <a:r>
              <a:rPr lang="en-US" sz="1050" dirty="0">
                <a:solidFill>
                  <a:srgbClr val="404040"/>
                </a:solidFill>
                <a:latin typeface="Calibri" pitchFamily="34" charset="0"/>
                <a:ea typeface="Calibri" pitchFamily="34" charset="-122"/>
                <a:cs typeface="Calibri" pitchFamily="34" charset="-120"/>
              </a:rPr>
              <a:t>100% genuine products, every time.</a:t>
            </a:r>
            <a:endParaRPr lang="en-US" sz="1050" dirty="0"/>
          </a:p>
        </p:txBody>
      </p:sp>
      <p:sp>
        <p:nvSpPr>
          <p:cNvPr id="10" name="Text 7"/>
          <p:cNvSpPr/>
          <p:nvPr/>
        </p:nvSpPr>
        <p:spPr>
          <a:xfrm>
            <a:off x="1014984" y="3502152"/>
            <a:ext cx="2788920" cy="384048"/>
          </a:xfrm>
          <a:prstGeom prst="rect">
            <a:avLst/>
          </a:prstGeom>
          <a:noFill/>
          <a:ln/>
        </p:spPr>
        <p:txBody>
          <a:bodyPr wrap="square" lIns="0" tIns="0" rIns="0" bIns="0" rtlCol="0" anchor="t"/>
          <a:lstStyle/>
          <a:p>
            <a:pPr algn="r" indent="0" marL="0">
              <a:buNone/>
            </a:pPr>
            <a:r>
              <a:rPr lang="en-US" sz="1050" dirty="0">
                <a:solidFill>
                  <a:srgbClr val="404040"/>
                </a:solidFill>
                <a:latin typeface="Calibri" pitchFamily="34" charset="0"/>
                <a:ea typeface="Calibri" pitchFamily="34" charset="-122"/>
                <a:cs typeface="Calibri" pitchFamily="34" charset="-120"/>
              </a:rPr>
              <a:t>منتجات أصلية 100٪ في كل مرة.</a:t>
            </a:r>
            <a:endParaRPr lang="en-US" sz="1050" dirty="0"/>
          </a:p>
        </p:txBody>
      </p:sp>
      <p:sp>
        <p:nvSpPr>
          <p:cNvPr id="11" name="Shape 8"/>
          <p:cNvSpPr/>
          <p:nvPr/>
        </p:nvSpPr>
        <p:spPr>
          <a:xfrm>
            <a:off x="4379976" y="1874520"/>
            <a:ext cx="3429000" cy="2331720"/>
          </a:xfrm>
          <a:prstGeom prst="roundRect">
            <a:avLst>
              <a:gd name="adj" fmla="val 3922"/>
            </a:avLst>
          </a:prstGeom>
          <a:solidFill>
            <a:srgbClr val="FFFFFF"/>
          </a:solidFill>
          <a:ln w="12700">
            <a:solidFill>
              <a:srgbClr val="E5E5E5"/>
            </a:solidFill>
            <a:prstDash val="solid"/>
          </a:ln>
          <a:effectLst>
            <a:outerShdw sx="100000" sy="100000" kx="0" ky="0" algn="bl" rotWithShape="0" blurRad="76200" dist="25400" dir="5400000">
              <a:srgbClr val="000000">
                <a:alpha val="8000"/>
              </a:srgbClr>
            </a:outerShdw>
          </a:effectLst>
        </p:spPr>
      </p:sp>
      <p:sp>
        <p:nvSpPr>
          <p:cNvPr id="12" name="Shape 9"/>
          <p:cNvSpPr/>
          <p:nvPr/>
        </p:nvSpPr>
        <p:spPr>
          <a:xfrm>
            <a:off x="4700016" y="2194560"/>
            <a:ext cx="594360" cy="594360"/>
          </a:xfrm>
          <a:prstGeom prst="ellipse">
            <a:avLst/>
          </a:prstGeom>
          <a:solidFill>
            <a:srgbClr val="14532D"/>
          </a:solidFill>
          <a:ln/>
        </p:spPr>
      </p:sp>
      <p:pic>
        <p:nvPicPr>
          <p:cNvPr id="13" name="Image 1" descr="/tmp/claude-0/-home-user-Alhisan-alriyadi/26da07a5-a74a-5428-98ab-1d407f05d509/scratchpad/profile-deck/icons/handshake.png">    </p:cNvPr>
          <p:cNvPicPr>
            <a:picLocks noChangeAspect="1"/>
          </p:cNvPicPr>
          <p:nvPr/>
        </p:nvPicPr>
        <p:blipFill>
          <a:blip r:embed="rId2"/>
          <a:stretch>
            <a:fillRect/>
          </a:stretch>
        </p:blipFill>
        <p:spPr>
          <a:xfrm>
            <a:off x="4842662" y="2337206"/>
            <a:ext cx="309067" cy="309067"/>
          </a:xfrm>
          <a:prstGeom prst="rect">
            <a:avLst/>
          </a:prstGeom>
        </p:spPr>
      </p:pic>
      <p:sp>
        <p:nvSpPr>
          <p:cNvPr id="14" name="Text 10"/>
          <p:cNvSpPr/>
          <p:nvPr/>
        </p:nvSpPr>
        <p:spPr>
          <a:xfrm>
            <a:off x="5431536" y="2167128"/>
            <a:ext cx="2148840" cy="320040"/>
          </a:xfrm>
          <a:prstGeom prst="rect">
            <a:avLst/>
          </a:prstGeom>
          <a:noFill/>
          <a:ln/>
        </p:spPr>
        <p:txBody>
          <a:bodyPr wrap="square" lIns="0" tIns="0" rIns="0" bIns="0" rtlCol="0" anchor="ctr"/>
          <a:lstStyle/>
          <a:p>
            <a:pPr indent="0" marL="0">
              <a:buNone/>
            </a:pPr>
            <a:r>
              <a:rPr lang="en-US" sz="1600" b="1" dirty="0">
                <a:solidFill>
                  <a:srgbClr val="171717"/>
                </a:solidFill>
                <a:latin typeface="Arial" pitchFamily="34" charset="0"/>
                <a:ea typeface="Arial" pitchFamily="34" charset="-122"/>
                <a:cs typeface="Arial" pitchFamily="34" charset="-120"/>
              </a:rPr>
              <a:t>Trust</a:t>
            </a:r>
            <a:endParaRPr lang="en-US" sz="1600" dirty="0"/>
          </a:p>
        </p:txBody>
      </p:sp>
      <p:sp>
        <p:nvSpPr>
          <p:cNvPr id="15" name="Text 11"/>
          <p:cNvSpPr/>
          <p:nvPr/>
        </p:nvSpPr>
        <p:spPr>
          <a:xfrm>
            <a:off x="5431536" y="2496312"/>
            <a:ext cx="2148840" cy="292608"/>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الثقة</a:t>
            </a:r>
            <a:endParaRPr lang="en-US" sz="1200" dirty="0"/>
          </a:p>
        </p:txBody>
      </p:sp>
      <p:sp>
        <p:nvSpPr>
          <p:cNvPr id="16" name="Text 12"/>
          <p:cNvSpPr/>
          <p:nvPr/>
        </p:nvSpPr>
        <p:spPr>
          <a:xfrm>
            <a:off x="4700016" y="3063240"/>
            <a:ext cx="2788920" cy="384048"/>
          </a:xfrm>
          <a:prstGeom prst="rect">
            <a:avLst/>
          </a:prstGeom>
          <a:noFill/>
          <a:ln/>
        </p:spPr>
        <p:txBody>
          <a:bodyPr wrap="square" lIns="0" tIns="0" rIns="0" bIns="0" rtlCol="0" anchor="t"/>
          <a:lstStyle/>
          <a:p>
            <a:pPr indent="0" marL="0">
              <a:buNone/>
            </a:pPr>
            <a:r>
              <a:rPr lang="en-US" sz="1050" dirty="0">
                <a:solidFill>
                  <a:srgbClr val="404040"/>
                </a:solidFill>
                <a:latin typeface="Calibri" pitchFamily="34" charset="0"/>
                <a:ea typeface="Calibri" pitchFamily="34" charset="-122"/>
                <a:cs typeface="Calibri" pitchFamily="34" charset="-120"/>
              </a:rPr>
              <a:t>Built with every order we fulfil.</a:t>
            </a:r>
            <a:endParaRPr lang="en-US" sz="1050" dirty="0"/>
          </a:p>
        </p:txBody>
      </p:sp>
      <p:sp>
        <p:nvSpPr>
          <p:cNvPr id="17" name="Text 13"/>
          <p:cNvSpPr/>
          <p:nvPr/>
        </p:nvSpPr>
        <p:spPr>
          <a:xfrm>
            <a:off x="4700016" y="3502152"/>
            <a:ext cx="2788920" cy="384048"/>
          </a:xfrm>
          <a:prstGeom prst="rect">
            <a:avLst/>
          </a:prstGeom>
          <a:noFill/>
          <a:ln/>
        </p:spPr>
        <p:txBody>
          <a:bodyPr wrap="square" lIns="0" tIns="0" rIns="0" bIns="0" rtlCol="0" anchor="t"/>
          <a:lstStyle/>
          <a:p>
            <a:pPr algn="r" indent="0" marL="0">
              <a:buNone/>
            </a:pPr>
            <a:r>
              <a:rPr lang="en-US" sz="1050" dirty="0">
                <a:solidFill>
                  <a:srgbClr val="404040"/>
                </a:solidFill>
                <a:latin typeface="Calibri" pitchFamily="34" charset="0"/>
                <a:ea typeface="Calibri" pitchFamily="34" charset="-122"/>
                <a:cs typeface="Calibri" pitchFamily="34" charset="-120"/>
              </a:rPr>
              <a:t>نبنيها مع كل طلب ننفذه.</a:t>
            </a:r>
            <a:endParaRPr lang="en-US" sz="1050" dirty="0"/>
          </a:p>
        </p:txBody>
      </p:sp>
      <p:sp>
        <p:nvSpPr>
          <p:cNvPr id="18" name="Shape 14"/>
          <p:cNvSpPr/>
          <p:nvPr/>
        </p:nvSpPr>
        <p:spPr>
          <a:xfrm>
            <a:off x="8065008" y="1874520"/>
            <a:ext cx="3429000" cy="2331720"/>
          </a:xfrm>
          <a:prstGeom prst="roundRect">
            <a:avLst>
              <a:gd name="adj" fmla="val 3922"/>
            </a:avLst>
          </a:prstGeom>
          <a:solidFill>
            <a:srgbClr val="FFFFFF"/>
          </a:solidFill>
          <a:ln w="12700">
            <a:solidFill>
              <a:srgbClr val="E5E5E5"/>
            </a:solidFill>
            <a:prstDash val="solid"/>
          </a:ln>
          <a:effectLst>
            <a:outerShdw sx="100000" sy="100000" kx="0" ky="0" algn="bl" rotWithShape="0" blurRad="76200" dist="25400" dir="5400000">
              <a:srgbClr val="000000">
                <a:alpha val="8000"/>
              </a:srgbClr>
            </a:outerShdw>
          </a:effectLst>
        </p:spPr>
      </p:sp>
      <p:sp>
        <p:nvSpPr>
          <p:cNvPr id="19" name="Shape 15"/>
          <p:cNvSpPr/>
          <p:nvPr/>
        </p:nvSpPr>
        <p:spPr>
          <a:xfrm>
            <a:off x="8385048" y="2194560"/>
            <a:ext cx="594360" cy="594360"/>
          </a:xfrm>
          <a:prstGeom prst="ellipse">
            <a:avLst/>
          </a:prstGeom>
          <a:solidFill>
            <a:srgbClr val="14532D"/>
          </a:solidFill>
          <a:ln/>
        </p:spPr>
      </p:sp>
      <p:pic>
        <p:nvPicPr>
          <p:cNvPr id="20" name="Image 2" descr="/tmp/claude-0/-home-user-Alhisan-alriyadi/26da07a5-a74a-5428-98ab-1d407f05d509/scratchpad/profile-deck/icons/bolt.png">    </p:cNvPr>
          <p:cNvPicPr>
            <a:picLocks noChangeAspect="1"/>
          </p:cNvPicPr>
          <p:nvPr/>
        </p:nvPicPr>
        <p:blipFill>
          <a:blip r:embed="rId3"/>
          <a:stretch>
            <a:fillRect/>
          </a:stretch>
        </p:blipFill>
        <p:spPr>
          <a:xfrm>
            <a:off x="8527694" y="2337206"/>
            <a:ext cx="309067" cy="309067"/>
          </a:xfrm>
          <a:prstGeom prst="rect">
            <a:avLst/>
          </a:prstGeom>
        </p:spPr>
      </p:pic>
      <p:sp>
        <p:nvSpPr>
          <p:cNvPr id="21" name="Text 16"/>
          <p:cNvSpPr/>
          <p:nvPr/>
        </p:nvSpPr>
        <p:spPr>
          <a:xfrm>
            <a:off x="9116568" y="2167128"/>
            <a:ext cx="2148840" cy="320040"/>
          </a:xfrm>
          <a:prstGeom prst="rect">
            <a:avLst/>
          </a:prstGeom>
          <a:noFill/>
          <a:ln/>
        </p:spPr>
        <p:txBody>
          <a:bodyPr wrap="square" lIns="0" tIns="0" rIns="0" bIns="0" rtlCol="0" anchor="ctr"/>
          <a:lstStyle/>
          <a:p>
            <a:pPr indent="0" marL="0">
              <a:buNone/>
            </a:pPr>
            <a:r>
              <a:rPr lang="en-US" sz="1600" b="1" dirty="0">
                <a:solidFill>
                  <a:srgbClr val="171717"/>
                </a:solidFill>
                <a:latin typeface="Arial" pitchFamily="34" charset="0"/>
                <a:ea typeface="Arial" pitchFamily="34" charset="-122"/>
                <a:cs typeface="Arial" pitchFamily="34" charset="-120"/>
              </a:rPr>
              <a:t>Speed</a:t>
            </a:r>
            <a:endParaRPr lang="en-US" sz="1600" dirty="0"/>
          </a:p>
        </p:txBody>
      </p:sp>
      <p:sp>
        <p:nvSpPr>
          <p:cNvPr id="22" name="Text 17"/>
          <p:cNvSpPr/>
          <p:nvPr/>
        </p:nvSpPr>
        <p:spPr>
          <a:xfrm>
            <a:off x="9116568" y="2496312"/>
            <a:ext cx="2148840" cy="292608"/>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السرعة</a:t>
            </a:r>
            <a:endParaRPr lang="en-US" sz="1200" dirty="0"/>
          </a:p>
        </p:txBody>
      </p:sp>
      <p:sp>
        <p:nvSpPr>
          <p:cNvPr id="23" name="Text 18"/>
          <p:cNvSpPr/>
          <p:nvPr/>
        </p:nvSpPr>
        <p:spPr>
          <a:xfrm>
            <a:off x="8385048" y="3063240"/>
            <a:ext cx="2788920" cy="384048"/>
          </a:xfrm>
          <a:prstGeom prst="rect">
            <a:avLst/>
          </a:prstGeom>
          <a:noFill/>
          <a:ln/>
        </p:spPr>
        <p:txBody>
          <a:bodyPr wrap="square" lIns="0" tIns="0" rIns="0" bIns="0" rtlCol="0" anchor="t"/>
          <a:lstStyle/>
          <a:p>
            <a:pPr indent="0" marL="0">
              <a:buNone/>
            </a:pPr>
            <a:r>
              <a:rPr lang="en-US" sz="1050" dirty="0">
                <a:solidFill>
                  <a:srgbClr val="404040"/>
                </a:solidFill>
                <a:latin typeface="Calibri" pitchFamily="34" charset="0"/>
                <a:ea typeface="Calibri" pitchFamily="34" charset="-122"/>
                <a:cs typeface="Calibri" pitchFamily="34" charset="-120"/>
              </a:rPr>
              <a:t>Fast dispatch, fast delivery.</a:t>
            </a:r>
            <a:endParaRPr lang="en-US" sz="1050" dirty="0"/>
          </a:p>
        </p:txBody>
      </p:sp>
      <p:sp>
        <p:nvSpPr>
          <p:cNvPr id="24" name="Text 19"/>
          <p:cNvSpPr/>
          <p:nvPr/>
        </p:nvSpPr>
        <p:spPr>
          <a:xfrm>
            <a:off x="8385048" y="3502152"/>
            <a:ext cx="2788920" cy="384048"/>
          </a:xfrm>
          <a:prstGeom prst="rect">
            <a:avLst/>
          </a:prstGeom>
          <a:noFill/>
          <a:ln/>
        </p:spPr>
        <p:txBody>
          <a:bodyPr wrap="square" lIns="0" tIns="0" rIns="0" bIns="0" rtlCol="0" anchor="t"/>
          <a:lstStyle/>
          <a:p>
            <a:pPr algn="r" indent="0" marL="0">
              <a:buNone/>
            </a:pPr>
            <a:r>
              <a:rPr lang="en-US" sz="1050" dirty="0">
                <a:solidFill>
                  <a:srgbClr val="404040"/>
                </a:solidFill>
                <a:latin typeface="Calibri" pitchFamily="34" charset="0"/>
                <a:ea typeface="Calibri" pitchFamily="34" charset="-122"/>
                <a:cs typeface="Calibri" pitchFamily="34" charset="-120"/>
              </a:rPr>
              <a:t>تجهيز وتوصيل سريعان.</a:t>
            </a:r>
            <a:endParaRPr lang="en-US" sz="1050" dirty="0"/>
          </a:p>
        </p:txBody>
      </p:sp>
      <p:sp>
        <p:nvSpPr>
          <p:cNvPr id="25" name="Shape 20"/>
          <p:cNvSpPr/>
          <p:nvPr/>
        </p:nvSpPr>
        <p:spPr>
          <a:xfrm>
            <a:off x="694944" y="4462272"/>
            <a:ext cx="3429000" cy="2331720"/>
          </a:xfrm>
          <a:prstGeom prst="roundRect">
            <a:avLst>
              <a:gd name="adj" fmla="val 3922"/>
            </a:avLst>
          </a:prstGeom>
          <a:solidFill>
            <a:srgbClr val="FFFFFF"/>
          </a:solidFill>
          <a:ln w="12700">
            <a:solidFill>
              <a:srgbClr val="E5E5E5"/>
            </a:solidFill>
            <a:prstDash val="solid"/>
          </a:ln>
          <a:effectLst>
            <a:outerShdw sx="100000" sy="100000" kx="0" ky="0" algn="bl" rotWithShape="0" blurRad="76200" dist="25400" dir="5400000">
              <a:srgbClr val="000000">
                <a:alpha val="8000"/>
              </a:srgbClr>
            </a:outerShdw>
          </a:effectLst>
        </p:spPr>
      </p:sp>
      <p:sp>
        <p:nvSpPr>
          <p:cNvPr id="26" name="Shape 21"/>
          <p:cNvSpPr/>
          <p:nvPr/>
        </p:nvSpPr>
        <p:spPr>
          <a:xfrm>
            <a:off x="1014984" y="4782312"/>
            <a:ext cx="594360" cy="594360"/>
          </a:xfrm>
          <a:prstGeom prst="ellipse">
            <a:avLst/>
          </a:prstGeom>
          <a:solidFill>
            <a:srgbClr val="14532D"/>
          </a:solidFill>
          <a:ln/>
        </p:spPr>
      </p:sp>
      <p:pic>
        <p:nvPicPr>
          <p:cNvPr id="27" name="Image 3" descr="/tmp/claude-0/-home-user-Alhisan-alriyadi/26da07a5-a74a-5428-98ab-1d407f05d509/scratchpad/profile-deck/icons/globe.png">    </p:cNvPr>
          <p:cNvPicPr>
            <a:picLocks noChangeAspect="1"/>
          </p:cNvPicPr>
          <p:nvPr/>
        </p:nvPicPr>
        <p:blipFill>
          <a:blip r:embed="rId4"/>
          <a:stretch>
            <a:fillRect/>
          </a:stretch>
        </p:blipFill>
        <p:spPr>
          <a:xfrm>
            <a:off x="1157630" y="4924958"/>
            <a:ext cx="309067" cy="309067"/>
          </a:xfrm>
          <a:prstGeom prst="rect">
            <a:avLst/>
          </a:prstGeom>
        </p:spPr>
      </p:pic>
      <p:sp>
        <p:nvSpPr>
          <p:cNvPr id="28" name="Text 22"/>
          <p:cNvSpPr/>
          <p:nvPr/>
        </p:nvSpPr>
        <p:spPr>
          <a:xfrm>
            <a:off x="1746504" y="4754880"/>
            <a:ext cx="2148840" cy="320040"/>
          </a:xfrm>
          <a:prstGeom prst="rect">
            <a:avLst/>
          </a:prstGeom>
          <a:noFill/>
          <a:ln/>
        </p:spPr>
        <p:txBody>
          <a:bodyPr wrap="square" lIns="0" tIns="0" rIns="0" bIns="0" rtlCol="0" anchor="ctr"/>
          <a:lstStyle/>
          <a:p>
            <a:pPr indent="0" marL="0">
              <a:buNone/>
            </a:pPr>
            <a:r>
              <a:rPr lang="en-US" sz="1600" b="1" dirty="0">
                <a:solidFill>
                  <a:srgbClr val="171717"/>
                </a:solidFill>
                <a:latin typeface="Arial" pitchFamily="34" charset="0"/>
                <a:ea typeface="Arial" pitchFamily="34" charset="-122"/>
                <a:cs typeface="Arial" pitchFamily="34" charset="-120"/>
              </a:rPr>
              <a:t>Accessibility</a:t>
            </a:r>
            <a:endParaRPr lang="en-US" sz="1600" dirty="0"/>
          </a:p>
        </p:txBody>
      </p:sp>
      <p:sp>
        <p:nvSpPr>
          <p:cNvPr id="29" name="Text 23"/>
          <p:cNvSpPr/>
          <p:nvPr/>
        </p:nvSpPr>
        <p:spPr>
          <a:xfrm>
            <a:off x="1746504" y="5084064"/>
            <a:ext cx="2148840" cy="292608"/>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إتاحة للجميع</a:t>
            </a:r>
            <a:endParaRPr lang="en-US" sz="1200" dirty="0"/>
          </a:p>
        </p:txBody>
      </p:sp>
      <p:sp>
        <p:nvSpPr>
          <p:cNvPr id="30" name="Text 24"/>
          <p:cNvSpPr/>
          <p:nvPr/>
        </p:nvSpPr>
        <p:spPr>
          <a:xfrm>
            <a:off x="1014984" y="5650992"/>
            <a:ext cx="2788920" cy="384048"/>
          </a:xfrm>
          <a:prstGeom prst="rect">
            <a:avLst/>
          </a:prstGeom>
          <a:noFill/>
          <a:ln/>
        </p:spPr>
        <p:txBody>
          <a:bodyPr wrap="square" lIns="0" tIns="0" rIns="0" bIns="0" rtlCol="0" anchor="t"/>
          <a:lstStyle/>
          <a:p>
            <a:pPr indent="0" marL="0">
              <a:buNone/>
            </a:pPr>
            <a:r>
              <a:rPr lang="en-US" sz="1050" dirty="0">
                <a:solidFill>
                  <a:srgbClr val="404040"/>
                </a:solidFill>
                <a:latin typeface="Calibri" pitchFamily="34" charset="0"/>
                <a:ea typeface="Calibri" pitchFamily="34" charset="-122"/>
                <a:cs typeface="Calibri" pitchFamily="34" charset="-120"/>
              </a:rPr>
              <a:t>Reaching every city in the Kingdom.</a:t>
            </a:r>
            <a:endParaRPr lang="en-US" sz="1050" dirty="0"/>
          </a:p>
        </p:txBody>
      </p:sp>
      <p:sp>
        <p:nvSpPr>
          <p:cNvPr id="31" name="Text 25"/>
          <p:cNvSpPr/>
          <p:nvPr/>
        </p:nvSpPr>
        <p:spPr>
          <a:xfrm>
            <a:off x="1014984" y="6089904"/>
            <a:ext cx="2788920" cy="384048"/>
          </a:xfrm>
          <a:prstGeom prst="rect">
            <a:avLst/>
          </a:prstGeom>
          <a:noFill/>
          <a:ln/>
        </p:spPr>
        <p:txBody>
          <a:bodyPr wrap="square" lIns="0" tIns="0" rIns="0" bIns="0" rtlCol="0" anchor="t"/>
          <a:lstStyle/>
          <a:p>
            <a:pPr algn="r" indent="0" marL="0">
              <a:buNone/>
            </a:pPr>
            <a:r>
              <a:rPr lang="en-US" sz="1050" dirty="0">
                <a:solidFill>
                  <a:srgbClr val="404040"/>
                </a:solidFill>
                <a:latin typeface="Calibri" pitchFamily="34" charset="0"/>
                <a:ea typeface="Calibri" pitchFamily="34" charset="-122"/>
                <a:cs typeface="Calibri" pitchFamily="34" charset="-120"/>
              </a:rPr>
              <a:t>نصل إلى كل مدن المملكة.</a:t>
            </a:r>
            <a:endParaRPr lang="en-US" sz="1050" dirty="0"/>
          </a:p>
        </p:txBody>
      </p:sp>
      <p:sp>
        <p:nvSpPr>
          <p:cNvPr id="32" name="Shape 26"/>
          <p:cNvSpPr/>
          <p:nvPr/>
        </p:nvSpPr>
        <p:spPr>
          <a:xfrm>
            <a:off x="4379976" y="4462272"/>
            <a:ext cx="3429000" cy="2331720"/>
          </a:xfrm>
          <a:prstGeom prst="roundRect">
            <a:avLst>
              <a:gd name="adj" fmla="val 3922"/>
            </a:avLst>
          </a:prstGeom>
          <a:solidFill>
            <a:srgbClr val="FFFFFF"/>
          </a:solidFill>
          <a:ln w="12700">
            <a:solidFill>
              <a:srgbClr val="E5E5E5"/>
            </a:solidFill>
            <a:prstDash val="solid"/>
          </a:ln>
          <a:effectLst>
            <a:outerShdw sx="100000" sy="100000" kx="0" ky="0" algn="bl" rotWithShape="0" blurRad="76200" dist="25400" dir="5400000">
              <a:srgbClr val="000000">
                <a:alpha val="8000"/>
              </a:srgbClr>
            </a:outerShdw>
          </a:effectLst>
        </p:spPr>
      </p:sp>
      <p:sp>
        <p:nvSpPr>
          <p:cNvPr id="33" name="Shape 27"/>
          <p:cNvSpPr/>
          <p:nvPr/>
        </p:nvSpPr>
        <p:spPr>
          <a:xfrm>
            <a:off x="4700016" y="4782312"/>
            <a:ext cx="594360" cy="594360"/>
          </a:xfrm>
          <a:prstGeom prst="ellipse">
            <a:avLst/>
          </a:prstGeom>
          <a:solidFill>
            <a:srgbClr val="14532D"/>
          </a:solidFill>
          <a:ln/>
        </p:spPr>
      </p:sp>
      <p:pic>
        <p:nvPicPr>
          <p:cNvPr id="34" name="Image 4" descr="/tmp/claude-0/-home-user-Alhisan-alriyadi/26da07a5-a74a-5428-98ab-1d407f05d509/scratchpad/profile-deck/icons/users.png">    </p:cNvPr>
          <p:cNvPicPr>
            <a:picLocks noChangeAspect="1"/>
          </p:cNvPicPr>
          <p:nvPr/>
        </p:nvPicPr>
        <p:blipFill>
          <a:blip r:embed="rId5"/>
          <a:stretch>
            <a:fillRect/>
          </a:stretch>
        </p:blipFill>
        <p:spPr>
          <a:xfrm>
            <a:off x="4842662" y="4924958"/>
            <a:ext cx="309067" cy="309067"/>
          </a:xfrm>
          <a:prstGeom prst="rect">
            <a:avLst/>
          </a:prstGeom>
        </p:spPr>
      </p:pic>
      <p:sp>
        <p:nvSpPr>
          <p:cNvPr id="35" name="Text 28"/>
          <p:cNvSpPr/>
          <p:nvPr/>
        </p:nvSpPr>
        <p:spPr>
          <a:xfrm>
            <a:off x="5431536" y="4754880"/>
            <a:ext cx="2148840" cy="320040"/>
          </a:xfrm>
          <a:prstGeom prst="rect">
            <a:avLst/>
          </a:prstGeom>
          <a:noFill/>
          <a:ln/>
        </p:spPr>
        <p:txBody>
          <a:bodyPr wrap="square" lIns="0" tIns="0" rIns="0" bIns="0" rtlCol="0" anchor="ctr"/>
          <a:lstStyle/>
          <a:p>
            <a:pPr indent="0" marL="0">
              <a:buNone/>
            </a:pPr>
            <a:r>
              <a:rPr lang="en-US" sz="1600" b="1" dirty="0">
                <a:solidFill>
                  <a:srgbClr val="171717"/>
                </a:solidFill>
                <a:latin typeface="Arial" pitchFamily="34" charset="0"/>
                <a:ea typeface="Arial" pitchFamily="34" charset="-122"/>
                <a:cs typeface="Arial" pitchFamily="34" charset="-120"/>
              </a:rPr>
              <a:t>Community</a:t>
            </a:r>
            <a:endParaRPr lang="en-US" sz="1600" dirty="0"/>
          </a:p>
        </p:txBody>
      </p:sp>
      <p:sp>
        <p:nvSpPr>
          <p:cNvPr id="36" name="Text 29"/>
          <p:cNvSpPr/>
          <p:nvPr/>
        </p:nvSpPr>
        <p:spPr>
          <a:xfrm>
            <a:off x="5431536" y="5084064"/>
            <a:ext cx="2148840" cy="292608"/>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المجتمع</a:t>
            </a:r>
            <a:endParaRPr lang="en-US" sz="1200" dirty="0"/>
          </a:p>
        </p:txBody>
      </p:sp>
      <p:sp>
        <p:nvSpPr>
          <p:cNvPr id="37" name="Text 30"/>
          <p:cNvSpPr/>
          <p:nvPr/>
        </p:nvSpPr>
        <p:spPr>
          <a:xfrm>
            <a:off x="4700016" y="5650992"/>
            <a:ext cx="2788920" cy="384048"/>
          </a:xfrm>
          <a:prstGeom prst="rect">
            <a:avLst/>
          </a:prstGeom>
          <a:noFill/>
          <a:ln/>
        </p:spPr>
        <p:txBody>
          <a:bodyPr wrap="square" lIns="0" tIns="0" rIns="0" bIns="0" rtlCol="0" anchor="t"/>
          <a:lstStyle/>
          <a:p>
            <a:pPr indent="0" marL="0">
              <a:buNone/>
            </a:pPr>
            <a:r>
              <a:rPr lang="en-US" sz="1050" dirty="0">
                <a:solidFill>
                  <a:srgbClr val="404040"/>
                </a:solidFill>
                <a:latin typeface="Calibri" pitchFamily="34" charset="0"/>
                <a:ea typeface="Calibri" pitchFamily="34" charset="-122"/>
                <a:cs typeface="Calibri" pitchFamily="34" charset="-120"/>
              </a:rPr>
              <a:t>For every athlete, every family.</a:t>
            </a:r>
            <a:endParaRPr lang="en-US" sz="1050" dirty="0"/>
          </a:p>
        </p:txBody>
      </p:sp>
      <p:sp>
        <p:nvSpPr>
          <p:cNvPr id="38" name="Text 31"/>
          <p:cNvSpPr/>
          <p:nvPr/>
        </p:nvSpPr>
        <p:spPr>
          <a:xfrm>
            <a:off x="4700016" y="6089904"/>
            <a:ext cx="2788920" cy="384048"/>
          </a:xfrm>
          <a:prstGeom prst="rect">
            <a:avLst/>
          </a:prstGeom>
          <a:noFill/>
          <a:ln/>
        </p:spPr>
        <p:txBody>
          <a:bodyPr wrap="square" lIns="0" tIns="0" rIns="0" bIns="0" rtlCol="0" anchor="t"/>
          <a:lstStyle/>
          <a:p>
            <a:pPr algn="r" indent="0" marL="0">
              <a:buNone/>
            </a:pPr>
            <a:r>
              <a:rPr lang="en-US" sz="1050" dirty="0">
                <a:solidFill>
                  <a:srgbClr val="404040"/>
                </a:solidFill>
                <a:latin typeface="Calibri" pitchFamily="34" charset="0"/>
                <a:ea typeface="Calibri" pitchFamily="34" charset="-122"/>
                <a:cs typeface="Calibri" pitchFamily="34" charset="-120"/>
              </a:rPr>
              <a:t>لكل رياضي ولكل أسرة.</a:t>
            </a:r>
            <a:endParaRPr lang="en-US" sz="1050" dirty="0"/>
          </a:p>
        </p:txBody>
      </p:sp>
      <p:sp>
        <p:nvSpPr>
          <p:cNvPr id="39" name="Shape 32"/>
          <p:cNvSpPr/>
          <p:nvPr/>
        </p:nvSpPr>
        <p:spPr>
          <a:xfrm>
            <a:off x="8065008" y="4462272"/>
            <a:ext cx="3429000" cy="2331720"/>
          </a:xfrm>
          <a:prstGeom prst="roundRect">
            <a:avLst>
              <a:gd name="adj" fmla="val 3922"/>
            </a:avLst>
          </a:prstGeom>
          <a:solidFill>
            <a:srgbClr val="FFFFFF"/>
          </a:solidFill>
          <a:ln w="12700">
            <a:solidFill>
              <a:srgbClr val="E5E5E5"/>
            </a:solidFill>
            <a:prstDash val="solid"/>
          </a:ln>
          <a:effectLst>
            <a:outerShdw sx="100000" sy="100000" kx="0" ky="0" algn="bl" rotWithShape="0" blurRad="76200" dist="25400" dir="5400000">
              <a:srgbClr val="000000">
                <a:alpha val="8000"/>
              </a:srgbClr>
            </a:outerShdw>
          </a:effectLst>
        </p:spPr>
      </p:sp>
      <p:sp>
        <p:nvSpPr>
          <p:cNvPr id="40" name="Shape 33"/>
          <p:cNvSpPr/>
          <p:nvPr/>
        </p:nvSpPr>
        <p:spPr>
          <a:xfrm>
            <a:off x="8385048" y="4782312"/>
            <a:ext cx="594360" cy="594360"/>
          </a:xfrm>
          <a:prstGeom prst="ellipse">
            <a:avLst/>
          </a:prstGeom>
          <a:solidFill>
            <a:srgbClr val="14532D"/>
          </a:solidFill>
          <a:ln/>
        </p:spPr>
      </p:sp>
      <p:pic>
        <p:nvPicPr>
          <p:cNvPr id="41" name="Image 5" descr="/tmp/claude-0/-home-user-Alhisan-alriyadi/26da07a5-a74a-5428-98ab-1d407f05d509/scratchpad/profile-deck/icons/star.png">    </p:cNvPr>
          <p:cNvPicPr>
            <a:picLocks noChangeAspect="1"/>
          </p:cNvPicPr>
          <p:nvPr/>
        </p:nvPicPr>
        <p:blipFill>
          <a:blip r:embed="rId6"/>
          <a:stretch>
            <a:fillRect/>
          </a:stretch>
        </p:blipFill>
        <p:spPr>
          <a:xfrm>
            <a:off x="8527694" y="4924958"/>
            <a:ext cx="309067" cy="309067"/>
          </a:xfrm>
          <a:prstGeom prst="rect">
            <a:avLst/>
          </a:prstGeom>
        </p:spPr>
      </p:pic>
      <p:sp>
        <p:nvSpPr>
          <p:cNvPr id="42" name="Text 34"/>
          <p:cNvSpPr/>
          <p:nvPr/>
        </p:nvSpPr>
        <p:spPr>
          <a:xfrm>
            <a:off x="9116568" y="4754880"/>
            <a:ext cx="2148840" cy="320040"/>
          </a:xfrm>
          <a:prstGeom prst="rect">
            <a:avLst/>
          </a:prstGeom>
          <a:noFill/>
          <a:ln/>
        </p:spPr>
        <p:txBody>
          <a:bodyPr wrap="square" lIns="0" tIns="0" rIns="0" bIns="0" rtlCol="0" anchor="ctr"/>
          <a:lstStyle/>
          <a:p>
            <a:pPr indent="0" marL="0">
              <a:buNone/>
            </a:pPr>
            <a:r>
              <a:rPr lang="en-US" sz="1600" b="1" dirty="0">
                <a:solidFill>
                  <a:srgbClr val="171717"/>
                </a:solidFill>
                <a:latin typeface="Arial" pitchFamily="34" charset="0"/>
                <a:ea typeface="Arial" pitchFamily="34" charset="-122"/>
                <a:cs typeface="Arial" pitchFamily="34" charset="-120"/>
              </a:rPr>
              <a:t>Quality</a:t>
            </a:r>
            <a:endParaRPr lang="en-US" sz="1600" dirty="0"/>
          </a:p>
        </p:txBody>
      </p:sp>
      <p:sp>
        <p:nvSpPr>
          <p:cNvPr id="43" name="Text 35"/>
          <p:cNvSpPr/>
          <p:nvPr/>
        </p:nvSpPr>
        <p:spPr>
          <a:xfrm>
            <a:off x="9116568" y="5084064"/>
            <a:ext cx="2148840" cy="292608"/>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الجودة</a:t>
            </a:r>
            <a:endParaRPr lang="en-US" sz="1200" dirty="0"/>
          </a:p>
        </p:txBody>
      </p:sp>
      <p:sp>
        <p:nvSpPr>
          <p:cNvPr id="44" name="Text 36"/>
          <p:cNvSpPr/>
          <p:nvPr/>
        </p:nvSpPr>
        <p:spPr>
          <a:xfrm>
            <a:off x="8385048" y="5650992"/>
            <a:ext cx="2788920" cy="384048"/>
          </a:xfrm>
          <a:prstGeom prst="rect">
            <a:avLst/>
          </a:prstGeom>
          <a:noFill/>
          <a:ln/>
        </p:spPr>
        <p:txBody>
          <a:bodyPr wrap="square" lIns="0" tIns="0" rIns="0" bIns="0" rtlCol="0" anchor="t"/>
          <a:lstStyle/>
          <a:p>
            <a:pPr indent="0" marL="0">
              <a:buNone/>
            </a:pPr>
            <a:r>
              <a:rPr lang="en-US" sz="1050" dirty="0">
                <a:solidFill>
                  <a:srgbClr val="404040"/>
                </a:solidFill>
                <a:latin typeface="Calibri" pitchFamily="34" charset="0"/>
                <a:ea typeface="Calibri" pitchFamily="34" charset="-122"/>
                <a:cs typeface="Calibri" pitchFamily="34" charset="-120"/>
              </a:rPr>
              <a:t>Checked before it reaches you.</a:t>
            </a:r>
            <a:endParaRPr lang="en-US" sz="1050" dirty="0"/>
          </a:p>
        </p:txBody>
      </p:sp>
      <p:sp>
        <p:nvSpPr>
          <p:cNvPr id="45" name="Text 37"/>
          <p:cNvSpPr/>
          <p:nvPr/>
        </p:nvSpPr>
        <p:spPr>
          <a:xfrm>
            <a:off x="8385048" y="6089904"/>
            <a:ext cx="2788920" cy="384048"/>
          </a:xfrm>
          <a:prstGeom prst="rect">
            <a:avLst/>
          </a:prstGeom>
          <a:noFill/>
          <a:ln/>
        </p:spPr>
        <p:txBody>
          <a:bodyPr wrap="square" lIns="0" tIns="0" rIns="0" bIns="0" rtlCol="0" anchor="t"/>
          <a:lstStyle/>
          <a:p>
            <a:pPr algn="r" indent="0" marL="0">
              <a:buNone/>
            </a:pPr>
            <a:r>
              <a:rPr lang="en-US" sz="1050" dirty="0">
                <a:solidFill>
                  <a:srgbClr val="404040"/>
                </a:solidFill>
                <a:latin typeface="Calibri" pitchFamily="34" charset="0"/>
                <a:ea typeface="Calibri" pitchFamily="34" charset="-122"/>
                <a:cs typeface="Calibri" pitchFamily="34" charset="-120"/>
              </a:rPr>
              <a:t>مفحوصة قبل أن تصل إليك.</a:t>
            </a:r>
            <a:endParaRPr lang="en-US" sz="1050" dirty="0"/>
          </a:p>
        </p:txBody>
      </p:sp>
      <p:sp>
        <p:nvSpPr>
          <p:cNvPr id="46" name="Text 38"/>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08 / 26</a:t>
            </a:r>
            <a:endParaRPr lang="en-US" sz="900" dirty="0"/>
          </a:p>
        </p:txBody>
      </p:sp>
      <p:sp>
        <p:nvSpPr>
          <p:cNvPr id="47" name="Text 39"/>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Core Values   |   قيمنا الأساسية</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502920"/>
            <a:ext cx="7315200" cy="548640"/>
          </a:xfrm>
          <a:prstGeom prst="rect">
            <a:avLst/>
          </a:prstGeom>
          <a:noFill/>
          <a:ln/>
        </p:spPr>
        <p:txBody>
          <a:bodyPr wrap="square" lIns="0" tIns="0" rIns="0" bIns="0" rtlCol="0" anchor="ctr"/>
          <a:lstStyle/>
          <a:p>
            <a:pPr indent="0" marL="0">
              <a:buNone/>
            </a:pPr>
            <a:r>
              <a:rPr lang="en-US" sz="2800" b="1" dirty="0">
                <a:solidFill>
                  <a:srgbClr val="171717"/>
                </a:solidFill>
                <a:latin typeface="Arial" pitchFamily="34" charset="0"/>
                <a:ea typeface="Arial" pitchFamily="34" charset="-122"/>
                <a:cs typeface="Arial" pitchFamily="34" charset="-120"/>
              </a:rPr>
              <a:t>Why Alhisan Alriyadi</a:t>
            </a:r>
            <a:endParaRPr lang="en-US" sz="2800" dirty="0"/>
          </a:p>
        </p:txBody>
      </p:sp>
      <p:sp>
        <p:nvSpPr>
          <p:cNvPr id="3" name="Text 1"/>
          <p:cNvSpPr/>
          <p:nvPr/>
        </p:nvSpPr>
        <p:spPr>
          <a:xfrm>
            <a:off x="731520" y="1051560"/>
            <a:ext cx="9144000" cy="457200"/>
          </a:xfrm>
          <a:prstGeom prst="rect">
            <a:avLst/>
          </a:prstGeom>
          <a:noFill/>
          <a:ln/>
        </p:spPr>
        <p:txBody>
          <a:bodyPr wrap="square" lIns="0" tIns="0" rIns="0" bIns="0" rtlCol="0" anchor="ctr"/>
          <a:lstStyle/>
          <a:p>
            <a:pPr indent="0" marL="0">
              <a:buNone/>
            </a:pPr>
            <a:r>
              <a:rPr lang="en-US" sz="1600" b="1" dirty="0">
                <a:solidFill>
                  <a:srgbClr val="14532D"/>
                </a:solidFill>
                <a:latin typeface="Calibri" pitchFamily="34" charset="0"/>
                <a:ea typeface="Calibri" pitchFamily="34" charset="-122"/>
                <a:cs typeface="Calibri" pitchFamily="34" charset="-120"/>
              </a:rPr>
              <a:t>لماذا الحصان الرياضي — مزايانا التنافسية</a:t>
            </a:r>
            <a:endParaRPr lang="en-US" sz="1600" dirty="0"/>
          </a:p>
        </p:txBody>
      </p:sp>
      <p:sp>
        <p:nvSpPr>
          <p:cNvPr id="4" name="Shape 2"/>
          <p:cNvSpPr/>
          <p:nvPr/>
        </p:nvSpPr>
        <p:spPr>
          <a:xfrm>
            <a:off x="731520" y="1783080"/>
            <a:ext cx="5440680" cy="1417320"/>
          </a:xfrm>
          <a:prstGeom prst="roundRect">
            <a:avLst>
              <a:gd name="adj" fmla="val 6452"/>
            </a:avLst>
          </a:prstGeom>
          <a:solidFill>
            <a:srgbClr val="FAFAFA"/>
          </a:solidFill>
          <a:ln/>
        </p:spPr>
      </p:sp>
      <p:sp>
        <p:nvSpPr>
          <p:cNvPr id="5" name="Shape 3"/>
          <p:cNvSpPr/>
          <p:nvPr/>
        </p:nvSpPr>
        <p:spPr>
          <a:xfrm>
            <a:off x="1005840" y="2194560"/>
            <a:ext cx="594360" cy="594360"/>
          </a:xfrm>
          <a:prstGeom prst="ellipse">
            <a:avLst/>
          </a:prstGeom>
          <a:solidFill>
            <a:srgbClr val="14532D"/>
          </a:solidFill>
          <a:ln/>
        </p:spPr>
      </p:sp>
      <p:pic>
        <p:nvPicPr>
          <p:cNvPr id="6" name="Image 0" descr="/tmp/claude-0/-home-user-Alhisan-alriyadi/26da07a5-a74a-5428-98ab-1d407f05d509/scratchpad/profile-deck/icons/shieldcheck.png">    </p:cNvPr>
          <p:cNvPicPr>
            <a:picLocks noChangeAspect="1"/>
          </p:cNvPicPr>
          <p:nvPr/>
        </p:nvPicPr>
        <p:blipFill>
          <a:blip r:embed="rId1"/>
          <a:stretch>
            <a:fillRect/>
          </a:stretch>
        </p:blipFill>
        <p:spPr>
          <a:xfrm>
            <a:off x="1148486" y="2337206"/>
            <a:ext cx="309067" cy="309067"/>
          </a:xfrm>
          <a:prstGeom prst="rect">
            <a:avLst/>
          </a:prstGeom>
        </p:spPr>
      </p:pic>
      <p:sp>
        <p:nvSpPr>
          <p:cNvPr id="7" name="Text 4"/>
          <p:cNvSpPr/>
          <p:nvPr/>
        </p:nvSpPr>
        <p:spPr>
          <a:xfrm>
            <a:off x="1783080" y="2039112"/>
            <a:ext cx="4160520" cy="457200"/>
          </a:xfrm>
          <a:prstGeom prst="rect">
            <a:avLst/>
          </a:prstGeom>
          <a:noFill/>
          <a:ln/>
        </p:spPr>
        <p:txBody>
          <a:bodyPr wrap="square" lIns="0" tIns="0" rIns="0" bIns="0" rtlCol="0" anchor="ctr"/>
          <a:lstStyle/>
          <a:p>
            <a:pPr indent="0" marL="0">
              <a:buNone/>
            </a:pPr>
            <a:r>
              <a:rPr lang="en-US" sz="1300" b="1" dirty="0">
                <a:solidFill>
                  <a:srgbClr val="171717"/>
                </a:solidFill>
                <a:latin typeface="Calibri" pitchFamily="34" charset="0"/>
                <a:ea typeface="Calibri" pitchFamily="34" charset="-122"/>
                <a:cs typeface="Calibri" pitchFamily="34" charset="-120"/>
              </a:rPr>
              <a:t>100% Authentic Products</a:t>
            </a:r>
            <a:endParaRPr lang="en-US" sz="1300" dirty="0"/>
          </a:p>
        </p:txBody>
      </p:sp>
      <p:sp>
        <p:nvSpPr>
          <p:cNvPr id="8" name="Text 5"/>
          <p:cNvSpPr/>
          <p:nvPr/>
        </p:nvSpPr>
        <p:spPr>
          <a:xfrm>
            <a:off x="1783080" y="2496312"/>
            <a:ext cx="4160520" cy="457200"/>
          </a:xfrm>
          <a:prstGeom prst="rect">
            <a:avLst/>
          </a:prstGeom>
          <a:noFill/>
          <a:ln/>
        </p:spPr>
        <p:txBody>
          <a:bodyPr wrap="square" lIns="0" tIns="0" rIns="0" bIns="0" rtlCol="0" anchor="ctr"/>
          <a:lstStyle/>
          <a:p>
            <a:pPr indent="0" marL="0">
              <a:buNone/>
            </a:pPr>
            <a:r>
              <a:rPr lang="en-US" sz="1200" dirty="0">
                <a:solidFill>
                  <a:srgbClr val="14532D"/>
                </a:solidFill>
                <a:latin typeface="Calibri" pitchFamily="34" charset="0"/>
                <a:ea typeface="Calibri" pitchFamily="34" charset="-122"/>
                <a:cs typeface="Calibri" pitchFamily="34" charset="-120"/>
              </a:rPr>
              <a:t>منتجات أصلية 100٪</a:t>
            </a:r>
            <a:endParaRPr lang="en-US" sz="1200" dirty="0"/>
          </a:p>
        </p:txBody>
      </p:sp>
      <p:sp>
        <p:nvSpPr>
          <p:cNvPr id="9" name="Shape 6"/>
          <p:cNvSpPr/>
          <p:nvPr/>
        </p:nvSpPr>
        <p:spPr>
          <a:xfrm>
            <a:off x="6537960" y="1783080"/>
            <a:ext cx="5440680" cy="1417320"/>
          </a:xfrm>
          <a:prstGeom prst="roundRect">
            <a:avLst>
              <a:gd name="adj" fmla="val 6452"/>
            </a:avLst>
          </a:prstGeom>
          <a:solidFill>
            <a:srgbClr val="FAFAFA"/>
          </a:solidFill>
          <a:ln/>
        </p:spPr>
      </p:sp>
      <p:sp>
        <p:nvSpPr>
          <p:cNvPr id="10" name="Shape 7"/>
          <p:cNvSpPr/>
          <p:nvPr/>
        </p:nvSpPr>
        <p:spPr>
          <a:xfrm>
            <a:off x="6812280" y="2194560"/>
            <a:ext cx="594360" cy="594360"/>
          </a:xfrm>
          <a:prstGeom prst="ellipse">
            <a:avLst/>
          </a:prstGeom>
          <a:solidFill>
            <a:srgbClr val="14532D"/>
          </a:solidFill>
          <a:ln/>
        </p:spPr>
      </p:sp>
      <p:pic>
        <p:nvPicPr>
          <p:cNvPr id="11" name="Image 1" descr="/tmp/claude-0/-home-user-Alhisan-alriyadi/26da07a5-a74a-5428-98ab-1d407f05d509/scratchpad/profile-deck/icons/truck.png">    </p:cNvPr>
          <p:cNvPicPr>
            <a:picLocks noChangeAspect="1"/>
          </p:cNvPicPr>
          <p:nvPr/>
        </p:nvPicPr>
        <p:blipFill>
          <a:blip r:embed="rId2"/>
          <a:stretch>
            <a:fillRect/>
          </a:stretch>
        </p:blipFill>
        <p:spPr>
          <a:xfrm>
            <a:off x="6954926" y="2337206"/>
            <a:ext cx="309067" cy="309067"/>
          </a:xfrm>
          <a:prstGeom prst="rect">
            <a:avLst/>
          </a:prstGeom>
        </p:spPr>
      </p:pic>
      <p:sp>
        <p:nvSpPr>
          <p:cNvPr id="12" name="Text 8"/>
          <p:cNvSpPr/>
          <p:nvPr/>
        </p:nvSpPr>
        <p:spPr>
          <a:xfrm>
            <a:off x="7589520" y="2039112"/>
            <a:ext cx="4160520" cy="457200"/>
          </a:xfrm>
          <a:prstGeom prst="rect">
            <a:avLst/>
          </a:prstGeom>
          <a:noFill/>
          <a:ln/>
        </p:spPr>
        <p:txBody>
          <a:bodyPr wrap="square" lIns="0" tIns="0" rIns="0" bIns="0" rtlCol="0" anchor="ctr"/>
          <a:lstStyle/>
          <a:p>
            <a:pPr indent="0" marL="0">
              <a:buNone/>
            </a:pPr>
            <a:r>
              <a:rPr lang="en-US" sz="1300" b="1" dirty="0">
                <a:solidFill>
                  <a:srgbClr val="171717"/>
                </a:solidFill>
                <a:latin typeface="Calibri" pitchFamily="34" charset="0"/>
                <a:ea typeface="Calibri" pitchFamily="34" charset="-122"/>
                <a:cs typeface="Calibri" pitchFamily="34" charset="-120"/>
              </a:rPr>
              <a:t>Fast Delivery Across the Kingdom</a:t>
            </a:r>
            <a:endParaRPr lang="en-US" sz="1300" dirty="0"/>
          </a:p>
        </p:txBody>
      </p:sp>
      <p:sp>
        <p:nvSpPr>
          <p:cNvPr id="13" name="Text 9"/>
          <p:cNvSpPr/>
          <p:nvPr/>
        </p:nvSpPr>
        <p:spPr>
          <a:xfrm>
            <a:off x="7589520" y="2496312"/>
            <a:ext cx="4160520" cy="457200"/>
          </a:xfrm>
          <a:prstGeom prst="rect">
            <a:avLst/>
          </a:prstGeom>
          <a:noFill/>
          <a:ln/>
        </p:spPr>
        <p:txBody>
          <a:bodyPr wrap="square" lIns="0" tIns="0" rIns="0" bIns="0" rtlCol="0" anchor="ctr"/>
          <a:lstStyle/>
          <a:p>
            <a:pPr indent="0" marL="0">
              <a:buNone/>
            </a:pPr>
            <a:r>
              <a:rPr lang="en-US" sz="1200" dirty="0">
                <a:solidFill>
                  <a:srgbClr val="14532D"/>
                </a:solidFill>
                <a:latin typeface="Calibri" pitchFamily="34" charset="0"/>
                <a:ea typeface="Calibri" pitchFamily="34" charset="-122"/>
                <a:cs typeface="Calibri" pitchFamily="34" charset="-120"/>
              </a:rPr>
              <a:t>توصيل سريع لجميع مدن المملكة</a:t>
            </a:r>
            <a:endParaRPr lang="en-US" sz="1200" dirty="0"/>
          </a:p>
        </p:txBody>
      </p:sp>
      <p:sp>
        <p:nvSpPr>
          <p:cNvPr id="14" name="Shape 10"/>
          <p:cNvSpPr/>
          <p:nvPr/>
        </p:nvSpPr>
        <p:spPr>
          <a:xfrm>
            <a:off x="731520" y="3474720"/>
            <a:ext cx="5440680" cy="1417320"/>
          </a:xfrm>
          <a:prstGeom prst="roundRect">
            <a:avLst>
              <a:gd name="adj" fmla="val 6452"/>
            </a:avLst>
          </a:prstGeom>
          <a:solidFill>
            <a:srgbClr val="FAFAFA"/>
          </a:solidFill>
          <a:ln/>
        </p:spPr>
      </p:sp>
      <p:sp>
        <p:nvSpPr>
          <p:cNvPr id="15" name="Shape 11"/>
          <p:cNvSpPr/>
          <p:nvPr/>
        </p:nvSpPr>
        <p:spPr>
          <a:xfrm>
            <a:off x="1005840" y="3886200"/>
            <a:ext cx="594360" cy="594360"/>
          </a:xfrm>
          <a:prstGeom prst="ellipse">
            <a:avLst/>
          </a:prstGeom>
          <a:solidFill>
            <a:srgbClr val="14532D"/>
          </a:solidFill>
          <a:ln/>
        </p:spPr>
      </p:sp>
      <p:pic>
        <p:nvPicPr>
          <p:cNvPr id="16" name="Image 2" descr="/tmp/claude-0/-home-user-Alhisan-alriyadi/26da07a5-a74a-5428-98ab-1d407f05d509/scratchpad/profile-deck/icons/boxes.png">    </p:cNvPr>
          <p:cNvPicPr>
            <a:picLocks noChangeAspect="1"/>
          </p:cNvPicPr>
          <p:nvPr/>
        </p:nvPicPr>
        <p:blipFill>
          <a:blip r:embed="rId3"/>
          <a:stretch>
            <a:fillRect/>
          </a:stretch>
        </p:blipFill>
        <p:spPr>
          <a:xfrm>
            <a:off x="1148486" y="4028846"/>
            <a:ext cx="309067" cy="309067"/>
          </a:xfrm>
          <a:prstGeom prst="rect">
            <a:avLst/>
          </a:prstGeom>
        </p:spPr>
      </p:pic>
      <p:sp>
        <p:nvSpPr>
          <p:cNvPr id="17" name="Text 12"/>
          <p:cNvSpPr/>
          <p:nvPr/>
        </p:nvSpPr>
        <p:spPr>
          <a:xfrm>
            <a:off x="1783080" y="3730752"/>
            <a:ext cx="4160520" cy="457200"/>
          </a:xfrm>
          <a:prstGeom prst="rect">
            <a:avLst/>
          </a:prstGeom>
          <a:noFill/>
          <a:ln/>
        </p:spPr>
        <p:txBody>
          <a:bodyPr wrap="square" lIns="0" tIns="0" rIns="0" bIns="0" rtlCol="0" anchor="ctr"/>
          <a:lstStyle/>
          <a:p>
            <a:pPr indent="0" marL="0">
              <a:buNone/>
            </a:pPr>
            <a:r>
              <a:rPr lang="en-US" sz="1300" b="1" dirty="0">
                <a:solidFill>
                  <a:srgbClr val="171717"/>
                </a:solidFill>
                <a:latin typeface="Calibri" pitchFamily="34" charset="0"/>
                <a:ea typeface="Calibri" pitchFamily="34" charset="-122"/>
                <a:cs typeface="Calibri" pitchFamily="34" charset="-120"/>
              </a:rPr>
              <a:t>9+ Sport Categories in One Store</a:t>
            </a:r>
            <a:endParaRPr lang="en-US" sz="1300" dirty="0"/>
          </a:p>
        </p:txBody>
      </p:sp>
      <p:sp>
        <p:nvSpPr>
          <p:cNvPr id="18" name="Text 13"/>
          <p:cNvSpPr/>
          <p:nvPr/>
        </p:nvSpPr>
        <p:spPr>
          <a:xfrm>
            <a:off x="1783080" y="4187952"/>
            <a:ext cx="4160520" cy="457200"/>
          </a:xfrm>
          <a:prstGeom prst="rect">
            <a:avLst/>
          </a:prstGeom>
          <a:noFill/>
          <a:ln/>
        </p:spPr>
        <p:txBody>
          <a:bodyPr wrap="square" lIns="0" tIns="0" rIns="0" bIns="0" rtlCol="0" anchor="ctr"/>
          <a:lstStyle/>
          <a:p>
            <a:pPr indent="0" marL="0">
              <a:buNone/>
            </a:pPr>
            <a:r>
              <a:rPr lang="en-US" sz="1200" dirty="0">
                <a:solidFill>
                  <a:srgbClr val="14532D"/>
                </a:solidFill>
                <a:latin typeface="Calibri" pitchFamily="34" charset="0"/>
                <a:ea typeface="Calibri" pitchFamily="34" charset="-122"/>
                <a:cs typeface="Calibri" pitchFamily="34" charset="-120"/>
              </a:rPr>
              <a:t>أكثر من 9 فئات رياضية في متجر واحد</a:t>
            </a:r>
            <a:endParaRPr lang="en-US" sz="1200" dirty="0"/>
          </a:p>
        </p:txBody>
      </p:sp>
      <p:sp>
        <p:nvSpPr>
          <p:cNvPr id="19" name="Shape 14"/>
          <p:cNvSpPr/>
          <p:nvPr/>
        </p:nvSpPr>
        <p:spPr>
          <a:xfrm>
            <a:off x="6537960" y="3474720"/>
            <a:ext cx="5440680" cy="1417320"/>
          </a:xfrm>
          <a:prstGeom prst="roundRect">
            <a:avLst>
              <a:gd name="adj" fmla="val 6452"/>
            </a:avLst>
          </a:prstGeom>
          <a:solidFill>
            <a:srgbClr val="FAFAFA"/>
          </a:solidFill>
          <a:ln/>
        </p:spPr>
      </p:sp>
      <p:sp>
        <p:nvSpPr>
          <p:cNvPr id="20" name="Shape 15"/>
          <p:cNvSpPr/>
          <p:nvPr/>
        </p:nvSpPr>
        <p:spPr>
          <a:xfrm>
            <a:off x="6812280" y="3886200"/>
            <a:ext cx="594360" cy="594360"/>
          </a:xfrm>
          <a:prstGeom prst="ellipse">
            <a:avLst/>
          </a:prstGeom>
          <a:solidFill>
            <a:srgbClr val="14532D"/>
          </a:solidFill>
          <a:ln/>
        </p:spPr>
      </p:sp>
      <p:pic>
        <p:nvPicPr>
          <p:cNvPr id="21" name="Image 3" descr="/tmp/claude-0/-home-user-Alhisan-alriyadi/26da07a5-a74a-5428-98ab-1d407f05d509/scratchpad/profile-deck/icons/lock.png">    </p:cNvPr>
          <p:cNvPicPr>
            <a:picLocks noChangeAspect="1"/>
          </p:cNvPicPr>
          <p:nvPr/>
        </p:nvPicPr>
        <p:blipFill>
          <a:blip r:embed="rId4"/>
          <a:stretch>
            <a:fillRect/>
          </a:stretch>
        </p:blipFill>
        <p:spPr>
          <a:xfrm>
            <a:off x="6954926" y="4028846"/>
            <a:ext cx="309067" cy="309067"/>
          </a:xfrm>
          <a:prstGeom prst="rect">
            <a:avLst/>
          </a:prstGeom>
        </p:spPr>
      </p:pic>
      <p:sp>
        <p:nvSpPr>
          <p:cNvPr id="22" name="Text 16"/>
          <p:cNvSpPr/>
          <p:nvPr/>
        </p:nvSpPr>
        <p:spPr>
          <a:xfrm>
            <a:off x="7589520" y="3730752"/>
            <a:ext cx="4160520" cy="457200"/>
          </a:xfrm>
          <a:prstGeom prst="rect">
            <a:avLst/>
          </a:prstGeom>
          <a:noFill/>
          <a:ln/>
        </p:spPr>
        <p:txBody>
          <a:bodyPr wrap="square" lIns="0" tIns="0" rIns="0" bIns="0" rtlCol="0" anchor="ctr"/>
          <a:lstStyle/>
          <a:p>
            <a:pPr indent="0" marL="0">
              <a:buNone/>
            </a:pPr>
            <a:r>
              <a:rPr lang="en-US" sz="1300" b="1" dirty="0">
                <a:solidFill>
                  <a:srgbClr val="171717"/>
                </a:solidFill>
                <a:latin typeface="Calibri" pitchFamily="34" charset="0"/>
                <a:ea typeface="Calibri" pitchFamily="34" charset="-122"/>
                <a:cs typeface="Calibri" pitchFamily="34" charset="-120"/>
              </a:rPr>
              <a:t>Secure Payment: Mada, Visa, Apple Pay</a:t>
            </a:r>
            <a:endParaRPr lang="en-US" sz="1300" dirty="0"/>
          </a:p>
        </p:txBody>
      </p:sp>
      <p:sp>
        <p:nvSpPr>
          <p:cNvPr id="23" name="Text 17"/>
          <p:cNvSpPr/>
          <p:nvPr/>
        </p:nvSpPr>
        <p:spPr>
          <a:xfrm>
            <a:off x="7589520" y="4187952"/>
            <a:ext cx="4160520" cy="457200"/>
          </a:xfrm>
          <a:prstGeom prst="rect">
            <a:avLst/>
          </a:prstGeom>
          <a:noFill/>
          <a:ln/>
        </p:spPr>
        <p:txBody>
          <a:bodyPr wrap="square" lIns="0" tIns="0" rIns="0" bIns="0" rtlCol="0" anchor="ctr"/>
          <a:lstStyle/>
          <a:p>
            <a:pPr indent="0" marL="0">
              <a:buNone/>
            </a:pPr>
            <a:r>
              <a:rPr lang="en-US" sz="1200" dirty="0">
                <a:solidFill>
                  <a:srgbClr val="14532D"/>
                </a:solidFill>
                <a:latin typeface="Calibri" pitchFamily="34" charset="0"/>
                <a:ea typeface="Calibri" pitchFamily="34" charset="-122"/>
                <a:cs typeface="Calibri" pitchFamily="34" charset="-120"/>
              </a:rPr>
              <a:t>دفع آمن: مدى، فيزا، Apple Pay</a:t>
            </a:r>
            <a:endParaRPr lang="en-US" sz="1200" dirty="0"/>
          </a:p>
        </p:txBody>
      </p:sp>
      <p:sp>
        <p:nvSpPr>
          <p:cNvPr id="24" name="Shape 18"/>
          <p:cNvSpPr/>
          <p:nvPr/>
        </p:nvSpPr>
        <p:spPr>
          <a:xfrm>
            <a:off x="731520" y="5166360"/>
            <a:ext cx="5440680" cy="1417320"/>
          </a:xfrm>
          <a:prstGeom prst="roundRect">
            <a:avLst>
              <a:gd name="adj" fmla="val 6452"/>
            </a:avLst>
          </a:prstGeom>
          <a:solidFill>
            <a:srgbClr val="FAFAFA"/>
          </a:solidFill>
          <a:ln/>
        </p:spPr>
      </p:sp>
      <p:sp>
        <p:nvSpPr>
          <p:cNvPr id="25" name="Shape 19"/>
          <p:cNvSpPr/>
          <p:nvPr/>
        </p:nvSpPr>
        <p:spPr>
          <a:xfrm>
            <a:off x="1005840" y="5577840"/>
            <a:ext cx="594360" cy="594360"/>
          </a:xfrm>
          <a:prstGeom prst="ellipse">
            <a:avLst/>
          </a:prstGeom>
          <a:solidFill>
            <a:srgbClr val="14532D"/>
          </a:solidFill>
          <a:ln/>
        </p:spPr>
      </p:sp>
      <p:pic>
        <p:nvPicPr>
          <p:cNvPr id="26" name="Image 4" descr="/tmp/claude-0/-home-user-Alhisan-alriyadi/26da07a5-a74a-5428-98ab-1d407f05d509/scratchpad/profile-deck/icons/star.png">    </p:cNvPr>
          <p:cNvPicPr>
            <a:picLocks noChangeAspect="1"/>
          </p:cNvPicPr>
          <p:nvPr/>
        </p:nvPicPr>
        <p:blipFill>
          <a:blip r:embed="rId5"/>
          <a:stretch>
            <a:fillRect/>
          </a:stretch>
        </p:blipFill>
        <p:spPr>
          <a:xfrm>
            <a:off x="1148486" y="5720486"/>
            <a:ext cx="309067" cy="309067"/>
          </a:xfrm>
          <a:prstGeom prst="rect">
            <a:avLst/>
          </a:prstGeom>
        </p:spPr>
      </p:pic>
      <p:sp>
        <p:nvSpPr>
          <p:cNvPr id="27" name="Text 20"/>
          <p:cNvSpPr/>
          <p:nvPr/>
        </p:nvSpPr>
        <p:spPr>
          <a:xfrm>
            <a:off x="1783080" y="5422392"/>
            <a:ext cx="4160520" cy="457200"/>
          </a:xfrm>
          <a:prstGeom prst="rect">
            <a:avLst/>
          </a:prstGeom>
          <a:noFill/>
          <a:ln/>
        </p:spPr>
        <p:txBody>
          <a:bodyPr wrap="square" lIns="0" tIns="0" rIns="0" bIns="0" rtlCol="0" anchor="ctr"/>
          <a:lstStyle/>
          <a:p>
            <a:pPr indent="0" marL="0">
              <a:buNone/>
            </a:pPr>
            <a:r>
              <a:rPr lang="en-US" sz="1300" b="1" dirty="0">
                <a:solidFill>
                  <a:srgbClr val="171717"/>
                </a:solidFill>
                <a:latin typeface="Calibri" pitchFamily="34" charset="0"/>
                <a:ea typeface="Calibri" pitchFamily="34" charset="-122"/>
                <a:cs typeface="Calibri" pitchFamily="34" charset="-120"/>
              </a:rPr>
              <a:t>Easy 14-Day Returns</a:t>
            </a:r>
            <a:endParaRPr lang="en-US" sz="1300" dirty="0"/>
          </a:p>
        </p:txBody>
      </p:sp>
      <p:sp>
        <p:nvSpPr>
          <p:cNvPr id="28" name="Text 21"/>
          <p:cNvSpPr/>
          <p:nvPr/>
        </p:nvSpPr>
        <p:spPr>
          <a:xfrm>
            <a:off x="1783080" y="5879592"/>
            <a:ext cx="4160520" cy="457200"/>
          </a:xfrm>
          <a:prstGeom prst="rect">
            <a:avLst/>
          </a:prstGeom>
          <a:noFill/>
          <a:ln/>
        </p:spPr>
        <p:txBody>
          <a:bodyPr wrap="square" lIns="0" tIns="0" rIns="0" bIns="0" rtlCol="0" anchor="ctr"/>
          <a:lstStyle/>
          <a:p>
            <a:pPr indent="0" marL="0">
              <a:buNone/>
            </a:pPr>
            <a:r>
              <a:rPr lang="en-US" sz="1200" dirty="0">
                <a:solidFill>
                  <a:srgbClr val="14532D"/>
                </a:solidFill>
                <a:latin typeface="Calibri" pitchFamily="34" charset="0"/>
                <a:ea typeface="Calibri" pitchFamily="34" charset="-122"/>
                <a:cs typeface="Calibri" pitchFamily="34" charset="-120"/>
              </a:rPr>
              <a:t>إرجاع سهل خلال 14 يومًا</a:t>
            </a:r>
            <a:endParaRPr lang="en-US" sz="1200" dirty="0"/>
          </a:p>
        </p:txBody>
      </p:sp>
      <p:sp>
        <p:nvSpPr>
          <p:cNvPr id="29" name="Shape 22"/>
          <p:cNvSpPr/>
          <p:nvPr/>
        </p:nvSpPr>
        <p:spPr>
          <a:xfrm>
            <a:off x="6537960" y="5166360"/>
            <a:ext cx="5440680" cy="1417320"/>
          </a:xfrm>
          <a:prstGeom prst="roundRect">
            <a:avLst>
              <a:gd name="adj" fmla="val 6452"/>
            </a:avLst>
          </a:prstGeom>
          <a:solidFill>
            <a:srgbClr val="FAFAFA"/>
          </a:solidFill>
          <a:ln/>
        </p:spPr>
      </p:sp>
      <p:sp>
        <p:nvSpPr>
          <p:cNvPr id="30" name="Shape 23"/>
          <p:cNvSpPr/>
          <p:nvPr/>
        </p:nvSpPr>
        <p:spPr>
          <a:xfrm>
            <a:off x="6812280" y="5577840"/>
            <a:ext cx="594360" cy="594360"/>
          </a:xfrm>
          <a:prstGeom prst="ellipse">
            <a:avLst/>
          </a:prstGeom>
          <a:solidFill>
            <a:srgbClr val="14532D"/>
          </a:solidFill>
          <a:ln/>
        </p:spPr>
      </p:sp>
      <p:pic>
        <p:nvPicPr>
          <p:cNvPr id="31" name="Image 5" descr="/tmp/claude-0/-home-user-Alhisan-alriyadi/26da07a5-a74a-5428-98ab-1d407f05d509/scratchpad/profile-deck/icons/headset.png">    </p:cNvPr>
          <p:cNvPicPr>
            <a:picLocks noChangeAspect="1"/>
          </p:cNvPicPr>
          <p:nvPr/>
        </p:nvPicPr>
        <p:blipFill>
          <a:blip r:embed="rId6"/>
          <a:stretch>
            <a:fillRect/>
          </a:stretch>
        </p:blipFill>
        <p:spPr>
          <a:xfrm>
            <a:off x="6954926" y="5720486"/>
            <a:ext cx="309067" cy="309067"/>
          </a:xfrm>
          <a:prstGeom prst="rect">
            <a:avLst/>
          </a:prstGeom>
        </p:spPr>
      </p:pic>
      <p:sp>
        <p:nvSpPr>
          <p:cNvPr id="32" name="Text 24"/>
          <p:cNvSpPr/>
          <p:nvPr/>
        </p:nvSpPr>
        <p:spPr>
          <a:xfrm>
            <a:off x="7589520" y="5422392"/>
            <a:ext cx="4160520" cy="457200"/>
          </a:xfrm>
          <a:prstGeom prst="rect">
            <a:avLst/>
          </a:prstGeom>
          <a:noFill/>
          <a:ln/>
        </p:spPr>
        <p:txBody>
          <a:bodyPr wrap="square" lIns="0" tIns="0" rIns="0" bIns="0" rtlCol="0" anchor="ctr"/>
          <a:lstStyle/>
          <a:p>
            <a:pPr indent="0" marL="0">
              <a:buNone/>
            </a:pPr>
            <a:r>
              <a:rPr lang="en-US" sz="1300" b="1" dirty="0">
                <a:solidFill>
                  <a:srgbClr val="171717"/>
                </a:solidFill>
                <a:latin typeface="Calibri" pitchFamily="34" charset="0"/>
                <a:ea typeface="Calibri" pitchFamily="34" charset="-122"/>
                <a:cs typeface="Calibri" pitchFamily="34" charset="-120"/>
              </a:rPr>
              <a:t>Responsive WhatsApp Support</a:t>
            </a:r>
            <a:endParaRPr lang="en-US" sz="1300" dirty="0"/>
          </a:p>
        </p:txBody>
      </p:sp>
      <p:sp>
        <p:nvSpPr>
          <p:cNvPr id="33" name="Text 25"/>
          <p:cNvSpPr/>
          <p:nvPr/>
        </p:nvSpPr>
        <p:spPr>
          <a:xfrm>
            <a:off x="7589520" y="5879592"/>
            <a:ext cx="4160520" cy="457200"/>
          </a:xfrm>
          <a:prstGeom prst="rect">
            <a:avLst/>
          </a:prstGeom>
          <a:noFill/>
          <a:ln/>
        </p:spPr>
        <p:txBody>
          <a:bodyPr wrap="square" lIns="0" tIns="0" rIns="0" bIns="0" rtlCol="0" anchor="ctr"/>
          <a:lstStyle/>
          <a:p>
            <a:pPr indent="0" marL="0">
              <a:buNone/>
            </a:pPr>
            <a:r>
              <a:rPr lang="en-US" sz="1200" dirty="0">
                <a:solidFill>
                  <a:srgbClr val="14532D"/>
                </a:solidFill>
                <a:latin typeface="Calibri" pitchFamily="34" charset="0"/>
                <a:ea typeface="Calibri" pitchFamily="34" charset="-122"/>
                <a:cs typeface="Calibri" pitchFamily="34" charset="-120"/>
              </a:rPr>
              <a:t>دعم عملاء سريع عبر واتساب</a:t>
            </a:r>
            <a:endParaRPr lang="en-US" sz="1200" dirty="0"/>
          </a:p>
        </p:txBody>
      </p:sp>
      <p:sp>
        <p:nvSpPr>
          <p:cNvPr id="34" name="Text 26"/>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09 / 26</a:t>
            </a:r>
            <a:endParaRPr lang="en-US" sz="900" dirty="0"/>
          </a:p>
        </p:txBody>
      </p:sp>
      <p:sp>
        <p:nvSpPr>
          <p:cNvPr id="35" name="Text 27"/>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Why Alhisan Alriyadi   |   لماذا الحصان الرياضي</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D22"/>
        </a:solidFill>
      </p:bgPr>
    </p:bg>
    <p:spTree>
      <p:nvGrpSpPr>
        <p:cNvPr id="1" name=""/>
        <p:cNvGrpSpPr/>
        <p:nvPr/>
      </p:nvGrpSpPr>
      <p:grpSpPr>
        <a:xfrm>
          <a:off x="0" y="0"/>
          <a:ext cx="0" cy="0"/>
          <a:chOff x="0" y="0"/>
          <a:chExt cx="0" cy="0"/>
        </a:xfrm>
      </p:grpSpPr>
      <p:sp>
        <p:nvSpPr>
          <p:cNvPr id="2" name="Text 0"/>
          <p:cNvSpPr/>
          <p:nvPr/>
        </p:nvSpPr>
        <p:spPr>
          <a:xfrm>
            <a:off x="731520" y="45720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Our Product Universe</a:t>
            </a:r>
            <a:endParaRPr lang="en-US" sz="2800" dirty="0"/>
          </a:p>
        </p:txBody>
      </p:sp>
      <p:sp>
        <p:nvSpPr>
          <p:cNvPr id="3" name="Text 1"/>
          <p:cNvSpPr/>
          <p:nvPr/>
        </p:nvSpPr>
        <p:spPr>
          <a:xfrm>
            <a:off x="731520" y="960120"/>
            <a:ext cx="7315200" cy="411480"/>
          </a:xfrm>
          <a:prstGeom prst="rect">
            <a:avLst/>
          </a:prstGeom>
          <a:noFill/>
          <a:ln/>
        </p:spPr>
        <p:txBody>
          <a:bodyPr wrap="square" lIns="0" tIns="0" rIns="0" bIns="0" rtlCol="0" anchor="ctr"/>
          <a:lstStyle/>
          <a:p>
            <a:pPr indent="0" marL="0">
              <a:buNone/>
            </a:pPr>
            <a:r>
              <a:rPr lang="en-US" sz="1600" b="1" dirty="0">
                <a:solidFill>
                  <a:srgbClr val="CFE3D6"/>
                </a:solidFill>
                <a:latin typeface="Calibri" pitchFamily="34" charset="0"/>
                <a:ea typeface="Calibri" pitchFamily="34" charset="-122"/>
                <a:cs typeface="Calibri" pitchFamily="34" charset="-120"/>
              </a:rPr>
              <a:t>عالم منتجاتنا</a:t>
            </a:r>
            <a:endParaRPr lang="en-US" sz="1600" dirty="0"/>
          </a:p>
        </p:txBody>
      </p:sp>
      <p:sp>
        <p:nvSpPr>
          <p:cNvPr id="4" name="Shape 2"/>
          <p:cNvSpPr/>
          <p:nvPr/>
        </p:nvSpPr>
        <p:spPr>
          <a:xfrm>
            <a:off x="534924" y="1600200"/>
            <a:ext cx="2084832" cy="1965960"/>
          </a:xfrm>
          <a:prstGeom prst="roundRect">
            <a:avLst>
              <a:gd name="adj" fmla="val 4651"/>
            </a:avLst>
          </a:prstGeom>
          <a:solidFill>
            <a:srgbClr val="14532D"/>
          </a:solidFill>
          <a:ln/>
        </p:spPr>
      </p:sp>
      <p:pic>
        <p:nvPicPr>
          <p:cNvPr id="5" name="Image 0" descr="/tmp/claude-0/-home-user-Alhisan-alriyadi/26da07a5-a74a-5428-98ab-1d407f05d509/scratchpad/profile-deck/icons/football_white.png">    </p:cNvPr>
          <p:cNvPicPr>
            <a:picLocks noChangeAspect="1"/>
          </p:cNvPicPr>
          <p:nvPr/>
        </p:nvPicPr>
        <p:blipFill>
          <a:blip r:embed="rId1"/>
          <a:stretch>
            <a:fillRect/>
          </a:stretch>
        </p:blipFill>
        <p:spPr>
          <a:xfrm>
            <a:off x="1257300" y="1801368"/>
            <a:ext cx="640080" cy="640080"/>
          </a:xfrm>
          <a:prstGeom prst="rect">
            <a:avLst/>
          </a:prstGeom>
        </p:spPr>
      </p:pic>
      <p:sp>
        <p:nvSpPr>
          <p:cNvPr id="6" name="Text 3"/>
          <p:cNvSpPr/>
          <p:nvPr/>
        </p:nvSpPr>
        <p:spPr>
          <a:xfrm>
            <a:off x="626364" y="2514600"/>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Football</a:t>
            </a:r>
            <a:endParaRPr lang="en-US" sz="1100" dirty="0"/>
          </a:p>
        </p:txBody>
      </p:sp>
      <p:sp>
        <p:nvSpPr>
          <p:cNvPr id="7" name="Text 4"/>
          <p:cNvSpPr/>
          <p:nvPr/>
        </p:nvSpPr>
        <p:spPr>
          <a:xfrm>
            <a:off x="626364" y="3017520"/>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كرة القدم</a:t>
            </a:r>
            <a:endParaRPr lang="en-US" sz="1000" dirty="0"/>
          </a:p>
        </p:txBody>
      </p:sp>
      <p:sp>
        <p:nvSpPr>
          <p:cNvPr id="8" name="Shape 5"/>
          <p:cNvSpPr/>
          <p:nvPr/>
        </p:nvSpPr>
        <p:spPr>
          <a:xfrm>
            <a:off x="2793492" y="1600200"/>
            <a:ext cx="2084832" cy="1965960"/>
          </a:xfrm>
          <a:prstGeom prst="roundRect">
            <a:avLst>
              <a:gd name="adj" fmla="val 4651"/>
            </a:avLst>
          </a:prstGeom>
          <a:solidFill>
            <a:srgbClr val="14532D"/>
          </a:solidFill>
          <a:ln/>
        </p:spPr>
      </p:sp>
      <p:pic>
        <p:nvPicPr>
          <p:cNvPr id="9" name="Image 1" descr="/tmp/claude-0/-home-user-Alhisan-alriyadi/26da07a5-a74a-5428-98ab-1d407f05d509/scratchpad/profile-deck/icons/dumbbell_white.png">    </p:cNvPr>
          <p:cNvPicPr>
            <a:picLocks noChangeAspect="1"/>
          </p:cNvPicPr>
          <p:nvPr/>
        </p:nvPicPr>
        <p:blipFill>
          <a:blip r:embed="rId2"/>
          <a:stretch>
            <a:fillRect/>
          </a:stretch>
        </p:blipFill>
        <p:spPr>
          <a:xfrm>
            <a:off x="3515868" y="1801368"/>
            <a:ext cx="640080" cy="640080"/>
          </a:xfrm>
          <a:prstGeom prst="rect">
            <a:avLst/>
          </a:prstGeom>
        </p:spPr>
      </p:pic>
      <p:sp>
        <p:nvSpPr>
          <p:cNvPr id="10" name="Text 6"/>
          <p:cNvSpPr/>
          <p:nvPr/>
        </p:nvSpPr>
        <p:spPr>
          <a:xfrm>
            <a:off x="2884932" y="2514600"/>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Gym &amp; Fitness</a:t>
            </a:r>
            <a:endParaRPr lang="en-US" sz="1100" dirty="0"/>
          </a:p>
        </p:txBody>
      </p:sp>
      <p:sp>
        <p:nvSpPr>
          <p:cNvPr id="11" name="Text 7"/>
          <p:cNvSpPr/>
          <p:nvPr/>
        </p:nvSpPr>
        <p:spPr>
          <a:xfrm>
            <a:off x="2884932" y="3017520"/>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الجيم واللياقة</a:t>
            </a:r>
            <a:endParaRPr lang="en-US" sz="1000" dirty="0"/>
          </a:p>
        </p:txBody>
      </p:sp>
      <p:sp>
        <p:nvSpPr>
          <p:cNvPr id="12" name="Shape 8"/>
          <p:cNvSpPr/>
          <p:nvPr/>
        </p:nvSpPr>
        <p:spPr>
          <a:xfrm>
            <a:off x="5052060" y="1600200"/>
            <a:ext cx="2084832" cy="1965960"/>
          </a:xfrm>
          <a:prstGeom prst="roundRect">
            <a:avLst>
              <a:gd name="adj" fmla="val 4651"/>
            </a:avLst>
          </a:prstGeom>
          <a:solidFill>
            <a:srgbClr val="14532D"/>
          </a:solidFill>
          <a:ln/>
        </p:spPr>
      </p:sp>
      <p:pic>
        <p:nvPicPr>
          <p:cNvPr id="13" name="Image 2" descr="/tmp/claude-0/-home-user-Alhisan-alriyadi/26da07a5-a74a-5428-98ab-1d407f05d509/scratchpad/profile-deck/icons/swim_white.png">    </p:cNvPr>
          <p:cNvPicPr>
            <a:picLocks noChangeAspect="1"/>
          </p:cNvPicPr>
          <p:nvPr/>
        </p:nvPicPr>
        <p:blipFill>
          <a:blip r:embed="rId3"/>
          <a:stretch>
            <a:fillRect/>
          </a:stretch>
        </p:blipFill>
        <p:spPr>
          <a:xfrm>
            <a:off x="5774436" y="1801368"/>
            <a:ext cx="640080" cy="640080"/>
          </a:xfrm>
          <a:prstGeom prst="rect">
            <a:avLst/>
          </a:prstGeom>
        </p:spPr>
      </p:pic>
      <p:sp>
        <p:nvSpPr>
          <p:cNvPr id="14" name="Text 9"/>
          <p:cNvSpPr/>
          <p:nvPr/>
        </p:nvSpPr>
        <p:spPr>
          <a:xfrm>
            <a:off x="5143500" y="2514600"/>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Water Sports &amp; Swimming</a:t>
            </a:r>
            <a:endParaRPr lang="en-US" sz="1100" dirty="0"/>
          </a:p>
        </p:txBody>
      </p:sp>
      <p:sp>
        <p:nvSpPr>
          <p:cNvPr id="15" name="Text 10"/>
          <p:cNvSpPr/>
          <p:nvPr/>
        </p:nvSpPr>
        <p:spPr>
          <a:xfrm>
            <a:off x="5143500" y="3017520"/>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الرياضات المائية</a:t>
            </a:r>
            <a:endParaRPr lang="en-US" sz="1000" dirty="0"/>
          </a:p>
        </p:txBody>
      </p:sp>
      <p:sp>
        <p:nvSpPr>
          <p:cNvPr id="16" name="Shape 11"/>
          <p:cNvSpPr/>
          <p:nvPr/>
        </p:nvSpPr>
        <p:spPr>
          <a:xfrm>
            <a:off x="7310628" y="1600200"/>
            <a:ext cx="2084832" cy="1965960"/>
          </a:xfrm>
          <a:prstGeom prst="roundRect">
            <a:avLst>
              <a:gd name="adj" fmla="val 4651"/>
            </a:avLst>
          </a:prstGeom>
          <a:solidFill>
            <a:srgbClr val="14532D"/>
          </a:solidFill>
          <a:ln/>
        </p:spPr>
      </p:sp>
      <p:pic>
        <p:nvPicPr>
          <p:cNvPr id="17" name="Image 3" descr="/tmp/claude-0/-home-user-Alhisan-alriyadi/26da07a5-a74a-5428-98ab-1d407f05d509/scratchpad/profile-deck/icons/martial_white.png">    </p:cNvPr>
          <p:cNvPicPr>
            <a:picLocks noChangeAspect="1"/>
          </p:cNvPicPr>
          <p:nvPr/>
        </p:nvPicPr>
        <p:blipFill>
          <a:blip r:embed="rId4"/>
          <a:stretch>
            <a:fillRect/>
          </a:stretch>
        </p:blipFill>
        <p:spPr>
          <a:xfrm>
            <a:off x="8033004" y="1801368"/>
            <a:ext cx="640080" cy="640080"/>
          </a:xfrm>
          <a:prstGeom prst="rect">
            <a:avLst/>
          </a:prstGeom>
        </p:spPr>
      </p:pic>
      <p:sp>
        <p:nvSpPr>
          <p:cNvPr id="18" name="Text 12"/>
          <p:cNvSpPr/>
          <p:nvPr/>
        </p:nvSpPr>
        <p:spPr>
          <a:xfrm>
            <a:off x="7402068" y="2514600"/>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Martial Arts</a:t>
            </a:r>
            <a:endParaRPr lang="en-US" sz="1100" dirty="0"/>
          </a:p>
        </p:txBody>
      </p:sp>
      <p:sp>
        <p:nvSpPr>
          <p:cNvPr id="19" name="Text 13"/>
          <p:cNvSpPr/>
          <p:nvPr/>
        </p:nvSpPr>
        <p:spPr>
          <a:xfrm>
            <a:off x="7402068" y="3017520"/>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الفنون القتالية</a:t>
            </a:r>
            <a:endParaRPr lang="en-US" sz="1000" dirty="0"/>
          </a:p>
        </p:txBody>
      </p:sp>
      <p:sp>
        <p:nvSpPr>
          <p:cNvPr id="20" name="Shape 14"/>
          <p:cNvSpPr/>
          <p:nvPr/>
        </p:nvSpPr>
        <p:spPr>
          <a:xfrm>
            <a:off x="9569196" y="1600200"/>
            <a:ext cx="2084832" cy="1965960"/>
          </a:xfrm>
          <a:prstGeom prst="roundRect">
            <a:avLst>
              <a:gd name="adj" fmla="val 4651"/>
            </a:avLst>
          </a:prstGeom>
          <a:solidFill>
            <a:srgbClr val="14532D"/>
          </a:solidFill>
          <a:ln/>
        </p:spPr>
      </p:sp>
      <p:pic>
        <p:nvPicPr>
          <p:cNvPr id="21" name="Image 4" descr="/tmp/claude-0/-home-user-Alhisan-alriyadi/26da07a5-a74a-5428-98ab-1d407f05d509/scratchpad/profile-deck/icons/racket_white.png">    </p:cNvPr>
          <p:cNvPicPr>
            <a:picLocks noChangeAspect="1"/>
          </p:cNvPicPr>
          <p:nvPr/>
        </p:nvPicPr>
        <p:blipFill>
          <a:blip r:embed="rId5"/>
          <a:stretch>
            <a:fillRect/>
          </a:stretch>
        </p:blipFill>
        <p:spPr>
          <a:xfrm>
            <a:off x="10291572" y="1801368"/>
            <a:ext cx="640080" cy="640080"/>
          </a:xfrm>
          <a:prstGeom prst="rect">
            <a:avLst/>
          </a:prstGeom>
        </p:spPr>
      </p:pic>
      <p:sp>
        <p:nvSpPr>
          <p:cNvPr id="22" name="Text 15"/>
          <p:cNvSpPr/>
          <p:nvPr/>
        </p:nvSpPr>
        <p:spPr>
          <a:xfrm>
            <a:off x="9660636" y="2514600"/>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Racket Sports</a:t>
            </a:r>
            <a:endParaRPr lang="en-US" sz="1100" dirty="0"/>
          </a:p>
        </p:txBody>
      </p:sp>
      <p:sp>
        <p:nvSpPr>
          <p:cNvPr id="23" name="Text 16"/>
          <p:cNvSpPr/>
          <p:nvPr/>
        </p:nvSpPr>
        <p:spPr>
          <a:xfrm>
            <a:off x="9660636" y="3017520"/>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الرياضات المضربية</a:t>
            </a:r>
            <a:endParaRPr lang="en-US" sz="1000" dirty="0"/>
          </a:p>
        </p:txBody>
      </p:sp>
      <p:sp>
        <p:nvSpPr>
          <p:cNvPr id="24" name="Shape 17"/>
          <p:cNvSpPr/>
          <p:nvPr/>
        </p:nvSpPr>
        <p:spPr>
          <a:xfrm>
            <a:off x="534924" y="3739896"/>
            <a:ext cx="2084832" cy="1965960"/>
          </a:xfrm>
          <a:prstGeom prst="roundRect">
            <a:avLst>
              <a:gd name="adj" fmla="val 4651"/>
            </a:avLst>
          </a:prstGeom>
          <a:solidFill>
            <a:srgbClr val="14532D"/>
          </a:solidFill>
          <a:ln/>
        </p:spPr>
      </p:sp>
      <p:pic>
        <p:nvPicPr>
          <p:cNvPr id="25" name="Image 5" descr="/tmp/claude-0/-home-user-Alhisan-alriyadi/26da07a5-a74a-5428-98ab-1d407f05d509/scratchpad/profile-deck/icons/basketball_white.png">    </p:cNvPr>
          <p:cNvPicPr>
            <a:picLocks noChangeAspect="1"/>
          </p:cNvPicPr>
          <p:nvPr/>
        </p:nvPicPr>
        <p:blipFill>
          <a:blip r:embed="rId6"/>
          <a:stretch>
            <a:fillRect/>
          </a:stretch>
        </p:blipFill>
        <p:spPr>
          <a:xfrm>
            <a:off x="1257300" y="3941064"/>
            <a:ext cx="640080" cy="640080"/>
          </a:xfrm>
          <a:prstGeom prst="rect">
            <a:avLst/>
          </a:prstGeom>
        </p:spPr>
      </p:pic>
      <p:sp>
        <p:nvSpPr>
          <p:cNvPr id="26" name="Text 18"/>
          <p:cNvSpPr/>
          <p:nvPr/>
        </p:nvSpPr>
        <p:spPr>
          <a:xfrm>
            <a:off x="626364" y="4654296"/>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Team Sports</a:t>
            </a:r>
            <a:endParaRPr lang="en-US" sz="1100" dirty="0"/>
          </a:p>
        </p:txBody>
      </p:sp>
      <p:sp>
        <p:nvSpPr>
          <p:cNvPr id="27" name="Text 19"/>
          <p:cNvSpPr/>
          <p:nvPr/>
        </p:nvSpPr>
        <p:spPr>
          <a:xfrm>
            <a:off x="626364" y="5157216"/>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الرياضات الجماعية</a:t>
            </a:r>
            <a:endParaRPr lang="en-US" sz="1000" dirty="0"/>
          </a:p>
        </p:txBody>
      </p:sp>
      <p:sp>
        <p:nvSpPr>
          <p:cNvPr id="28" name="Shape 20"/>
          <p:cNvSpPr/>
          <p:nvPr/>
        </p:nvSpPr>
        <p:spPr>
          <a:xfrm>
            <a:off x="2793492" y="3739896"/>
            <a:ext cx="2084832" cy="1965960"/>
          </a:xfrm>
          <a:prstGeom prst="roundRect">
            <a:avLst>
              <a:gd name="adj" fmla="val 4651"/>
            </a:avLst>
          </a:prstGeom>
          <a:solidFill>
            <a:srgbClr val="14532D"/>
          </a:solidFill>
          <a:ln/>
        </p:spPr>
      </p:sp>
      <p:pic>
        <p:nvPicPr>
          <p:cNvPr id="29" name="Image 6" descr="/tmp/claude-0/-home-user-Alhisan-alriyadi/26da07a5-a74a-5428-98ab-1d407f05d509/scratchpad/profile-deck/icons/child_white.png">    </p:cNvPr>
          <p:cNvPicPr>
            <a:picLocks noChangeAspect="1"/>
          </p:cNvPicPr>
          <p:nvPr/>
        </p:nvPicPr>
        <p:blipFill>
          <a:blip r:embed="rId7"/>
          <a:stretch>
            <a:fillRect/>
          </a:stretch>
        </p:blipFill>
        <p:spPr>
          <a:xfrm>
            <a:off x="3515868" y="3941064"/>
            <a:ext cx="640080" cy="640080"/>
          </a:xfrm>
          <a:prstGeom prst="rect">
            <a:avLst/>
          </a:prstGeom>
        </p:spPr>
      </p:pic>
      <p:sp>
        <p:nvSpPr>
          <p:cNvPr id="30" name="Text 21"/>
          <p:cNvSpPr/>
          <p:nvPr/>
        </p:nvSpPr>
        <p:spPr>
          <a:xfrm>
            <a:off x="2884932" y="4654296"/>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Kids &amp; Family</a:t>
            </a:r>
            <a:endParaRPr lang="en-US" sz="1100" dirty="0"/>
          </a:p>
        </p:txBody>
      </p:sp>
      <p:sp>
        <p:nvSpPr>
          <p:cNvPr id="31" name="Text 22"/>
          <p:cNvSpPr/>
          <p:nvPr/>
        </p:nvSpPr>
        <p:spPr>
          <a:xfrm>
            <a:off x="2884932" y="5157216"/>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الأطفال والعائلة</a:t>
            </a:r>
            <a:endParaRPr lang="en-US" sz="1000" dirty="0"/>
          </a:p>
        </p:txBody>
      </p:sp>
      <p:sp>
        <p:nvSpPr>
          <p:cNvPr id="32" name="Shape 23"/>
          <p:cNvSpPr/>
          <p:nvPr/>
        </p:nvSpPr>
        <p:spPr>
          <a:xfrm>
            <a:off x="5052060" y="3739896"/>
            <a:ext cx="2084832" cy="1965960"/>
          </a:xfrm>
          <a:prstGeom prst="roundRect">
            <a:avLst>
              <a:gd name="adj" fmla="val 4651"/>
            </a:avLst>
          </a:prstGeom>
          <a:solidFill>
            <a:srgbClr val="14532D"/>
          </a:solidFill>
          <a:ln/>
        </p:spPr>
      </p:sp>
      <p:pic>
        <p:nvPicPr>
          <p:cNvPr id="33" name="Image 7" descr="/tmp/claude-0/-home-user-Alhisan-alriyadi/26da07a5-a74a-5428-98ab-1d407f05d509/scratchpad/profile-deck/icons/tent_white.png">    </p:cNvPr>
          <p:cNvPicPr>
            <a:picLocks noChangeAspect="1"/>
          </p:cNvPicPr>
          <p:nvPr/>
        </p:nvPicPr>
        <p:blipFill>
          <a:blip r:embed="rId8"/>
          <a:stretch>
            <a:fillRect/>
          </a:stretch>
        </p:blipFill>
        <p:spPr>
          <a:xfrm>
            <a:off x="5774436" y="3941064"/>
            <a:ext cx="640080" cy="640080"/>
          </a:xfrm>
          <a:prstGeom prst="rect">
            <a:avLst/>
          </a:prstGeom>
        </p:spPr>
      </p:pic>
      <p:sp>
        <p:nvSpPr>
          <p:cNvPr id="34" name="Text 24"/>
          <p:cNvSpPr/>
          <p:nvPr/>
        </p:nvSpPr>
        <p:spPr>
          <a:xfrm>
            <a:off x="5143500" y="4654296"/>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Camping &amp; Outdoor</a:t>
            </a:r>
            <a:endParaRPr lang="en-US" sz="1100" dirty="0"/>
          </a:p>
        </p:txBody>
      </p:sp>
      <p:sp>
        <p:nvSpPr>
          <p:cNvPr id="35" name="Text 25"/>
          <p:cNvSpPr/>
          <p:nvPr/>
        </p:nvSpPr>
        <p:spPr>
          <a:xfrm>
            <a:off x="5143500" y="5157216"/>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المخيمات</a:t>
            </a:r>
            <a:endParaRPr lang="en-US" sz="1000" dirty="0"/>
          </a:p>
        </p:txBody>
      </p:sp>
      <p:sp>
        <p:nvSpPr>
          <p:cNvPr id="36" name="Shape 26"/>
          <p:cNvSpPr/>
          <p:nvPr/>
        </p:nvSpPr>
        <p:spPr>
          <a:xfrm>
            <a:off x="7310628" y="3739896"/>
            <a:ext cx="2084832" cy="1965960"/>
          </a:xfrm>
          <a:prstGeom prst="roundRect">
            <a:avLst>
              <a:gd name="adj" fmla="val 4651"/>
            </a:avLst>
          </a:prstGeom>
          <a:solidFill>
            <a:srgbClr val="14532D"/>
          </a:solidFill>
          <a:ln/>
        </p:spPr>
      </p:sp>
      <p:pic>
        <p:nvPicPr>
          <p:cNvPr id="37" name="Image 8" descr="/tmp/claude-0/-home-user-Alhisan-alriyadi/26da07a5-a74a-5428-98ab-1d407f05d509/scratchpad/profile-deck/icons/tshirt_white.png">    </p:cNvPr>
          <p:cNvPicPr>
            <a:picLocks noChangeAspect="1"/>
          </p:cNvPicPr>
          <p:nvPr/>
        </p:nvPicPr>
        <p:blipFill>
          <a:blip r:embed="rId9"/>
          <a:stretch>
            <a:fillRect/>
          </a:stretch>
        </p:blipFill>
        <p:spPr>
          <a:xfrm>
            <a:off x="8033004" y="3941064"/>
            <a:ext cx="640080" cy="640080"/>
          </a:xfrm>
          <a:prstGeom prst="rect">
            <a:avLst/>
          </a:prstGeom>
        </p:spPr>
      </p:pic>
      <p:sp>
        <p:nvSpPr>
          <p:cNvPr id="38" name="Text 27"/>
          <p:cNvSpPr/>
          <p:nvPr/>
        </p:nvSpPr>
        <p:spPr>
          <a:xfrm>
            <a:off x="7402068" y="4654296"/>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Sportswear</a:t>
            </a:r>
            <a:endParaRPr lang="en-US" sz="1100" dirty="0"/>
          </a:p>
        </p:txBody>
      </p:sp>
      <p:sp>
        <p:nvSpPr>
          <p:cNvPr id="39" name="Text 28"/>
          <p:cNvSpPr/>
          <p:nvPr/>
        </p:nvSpPr>
        <p:spPr>
          <a:xfrm>
            <a:off x="7402068" y="5157216"/>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الملابس الرياضية</a:t>
            </a:r>
            <a:endParaRPr lang="en-US" sz="1000" dirty="0"/>
          </a:p>
        </p:txBody>
      </p:sp>
      <p:sp>
        <p:nvSpPr>
          <p:cNvPr id="40" name="Shape 29"/>
          <p:cNvSpPr/>
          <p:nvPr/>
        </p:nvSpPr>
        <p:spPr>
          <a:xfrm>
            <a:off x="9569196" y="3739896"/>
            <a:ext cx="2084832" cy="1965960"/>
          </a:xfrm>
          <a:prstGeom prst="roundRect">
            <a:avLst>
              <a:gd name="adj" fmla="val 4651"/>
            </a:avLst>
          </a:prstGeom>
          <a:solidFill>
            <a:srgbClr val="14532D"/>
          </a:solidFill>
          <a:ln/>
        </p:spPr>
      </p:sp>
      <p:pic>
        <p:nvPicPr>
          <p:cNvPr id="41" name="Image 9" descr="/tmp/claude-0/-home-user-Alhisan-alriyadi/26da07a5-a74a-5428-98ab-1d407f05d509/scratchpad/profile-deck/icons/bag_white.png">    </p:cNvPr>
          <p:cNvPicPr>
            <a:picLocks noChangeAspect="1"/>
          </p:cNvPicPr>
          <p:nvPr/>
        </p:nvPicPr>
        <p:blipFill>
          <a:blip r:embed="rId10"/>
          <a:stretch>
            <a:fillRect/>
          </a:stretch>
        </p:blipFill>
        <p:spPr>
          <a:xfrm>
            <a:off x="10291572" y="3941064"/>
            <a:ext cx="640080" cy="640080"/>
          </a:xfrm>
          <a:prstGeom prst="rect">
            <a:avLst/>
          </a:prstGeom>
        </p:spPr>
      </p:pic>
      <p:sp>
        <p:nvSpPr>
          <p:cNvPr id="42" name="Text 30"/>
          <p:cNvSpPr/>
          <p:nvPr/>
        </p:nvSpPr>
        <p:spPr>
          <a:xfrm>
            <a:off x="9660636" y="4654296"/>
            <a:ext cx="1901952" cy="438912"/>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Accessories &amp; Equipment</a:t>
            </a:r>
            <a:endParaRPr lang="en-US" sz="1100" dirty="0"/>
          </a:p>
        </p:txBody>
      </p:sp>
      <p:sp>
        <p:nvSpPr>
          <p:cNvPr id="43" name="Text 31"/>
          <p:cNvSpPr/>
          <p:nvPr/>
        </p:nvSpPr>
        <p:spPr>
          <a:xfrm>
            <a:off x="9660636" y="5157216"/>
            <a:ext cx="1901952" cy="502920"/>
          </a:xfrm>
          <a:prstGeom prst="rect">
            <a:avLst/>
          </a:prstGeom>
          <a:noFill/>
          <a:ln/>
        </p:spPr>
        <p:txBody>
          <a:bodyPr wrap="square" lIns="0" tIns="0" rIns="0" bIns="0" rtlCol="0" anchor="t"/>
          <a:lstStyle/>
          <a:p>
            <a:pPr algn="ctr" indent="0" marL="0">
              <a:buNone/>
            </a:pPr>
            <a:r>
              <a:rPr lang="en-US" sz="1000" dirty="0">
                <a:solidFill>
                  <a:srgbClr val="CFE3D6"/>
                </a:solidFill>
                <a:latin typeface="Calibri" pitchFamily="34" charset="0"/>
                <a:ea typeface="Calibri" pitchFamily="34" charset="-122"/>
                <a:cs typeface="Calibri" pitchFamily="34" charset="-120"/>
              </a:rPr>
              <a:t>الإكسسوارات والمعدات</a:t>
            </a:r>
            <a:endParaRPr lang="en-US" sz="1000" dirty="0"/>
          </a:p>
        </p:txBody>
      </p:sp>
      <p:sp>
        <p:nvSpPr>
          <p:cNvPr id="44" name="Text 32"/>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10 / 26</a:t>
            </a:r>
            <a:endParaRPr lang="en-US" sz="900" dirty="0"/>
          </a:p>
        </p:txBody>
      </p:sp>
      <p:sp>
        <p:nvSpPr>
          <p:cNvPr id="45" name="Text 33"/>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Our Product Universe   |   عالم منتجاتنا</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9244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9555480" y="2880360"/>
            <a:ext cx="457200" cy="457200"/>
          </a:xfrm>
          <a:prstGeom prst="rect">
            <a:avLst/>
          </a:prstGeom>
        </p:spPr>
      </p:pic>
      <p:sp>
        <p:nvSpPr>
          <p:cNvPr id="4" name="Text 1"/>
          <p:cNvSpPr/>
          <p:nvPr/>
        </p:nvSpPr>
        <p:spPr>
          <a:xfrm>
            <a:off x="836676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player in action / football product shot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لاعب في أجواء المباراة أو منتجات كرة القدم</a:t>
            </a:r>
            <a:endParaRPr lang="en-US" sz="1100" dirty="0"/>
          </a:p>
        </p:txBody>
      </p:sp>
      <p:sp>
        <p:nvSpPr>
          <p:cNvPr id="5" name="Text 2"/>
          <p:cNvSpPr/>
          <p:nvPr/>
        </p:nvSpPr>
        <p:spPr>
          <a:xfrm>
            <a:off x="73152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11</a:t>
            </a:r>
            <a:endParaRPr lang="en-US" sz="2000" dirty="0"/>
          </a:p>
        </p:txBody>
      </p:sp>
      <p:sp>
        <p:nvSpPr>
          <p:cNvPr id="6" name="Shape 3"/>
          <p:cNvSpPr/>
          <p:nvPr/>
        </p:nvSpPr>
        <p:spPr>
          <a:xfrm>
            <a:off x="731520" y="1051560"/>
            <a:ext cx="685800" cy="685800"/>
          </a:xfrm>
          <a:prstGeom prst="ellipse">
            <a:avLst/>
          </a:prstGeom>
          <a:solidFill>
            <a:srgbClr val="14532D"/>
          </a:solidFill>
          <a:ln/>
        </p:spPr>
      </p:sp>
      <p:pic>
        <p:nvPicPr>
          <p:cNvPr id="7" name="Image 1" descr="/tmp/claude-0/-home-user-Alhisan-alriyadi/26da07a5-a74a-5428-98ab-1d407f05d509/scratchpad/profile-deck/icons/football.png">    </p:cNvPr>
          <p:cNvPicPr>
            <a:picLocks noChangeAspect="1"/>
          </p:cNvPicPr>
          <p:nvPr/>
        </p:nvPicPr>
        <p:blipFill>
          <a:blip r:embed="rId2"/>
          <a:stretch>
            <a:fillRect/>
          </a:stretch>
        </p:blipFill>
        <p:spPr>
          <a:xfrm>
            <a:off x="896112" y="1216152"/>
            <a:ext cx="356616" cy="356616"/>
          </a:xfrm>
          <a:prstGeom prst="rect">
            <a:avLst/>
          </a:prstGeom>
        </p:spPr>
      </p:pic>
      <p:sp>
        <p:nvSpPr>
          <p:cNvPr id="8" name="Text 4"/>
          <p:cNvSpPr/>
          <p:nvPr/>
        </p:nvSpPr>
        <p:spPr>
          <a:xfrm>
            <a:off x="160020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Football</a:t>
            </a:r>
            <a:endParaRPr lang="en-US" sz="2400" dirty="0"/>
          </a:p>
        </p:txBody>
      </p:sp>
      <p:sp>
        <p:nvSpPr>
          <p:cNvPr id="9" name="Text 5"/>
          <p:cNvSpPr/>
          <p:nvPr/>
        </p:nvSpPr>
        <p:spPr>
          <a:xfrm>
            <a:off x="160020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كرة القدم</a:t>
            </a:r>
            <a:endParaRPr lang="en-US" sz="1500" dirty="0"/>
          </a:p>
        </p:txBody>
      </p:sp>
      <p:sp>
        <p:nvSpPr>
          <p:cNvPr id="10" name="Text 6"/>
          <p:cNvSpPr/>
          <p:nvPr/>
        </p:nvSpPr>
        <p:spPr>
          <a:xfrm>
            <a:off x="73152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Everything the modern footballer needs, for weekend players and dedicated athletes alike.</a:t>
            </a:r>
            <a:endParaRPr lang="en-US" sz="1150" dirty="0"/>
          </a:p>
        </p:txBody>
      </p:sp>
      <p:sp>
        <p:nvSpPr>
          <p:cNvPr id="11" name="Text 7"/>
          <p:cNvSpPr/>
          <p:nvPr/>
        </p:nvSpPr>
        <p:spPr>
          <a:xfrm>
            <a:off x="73152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كل ما يحتاجه لاعب كرة القدم العصري، سواء لهواة الملاعب أو الرياضيين المحترفين.</a:t>
            </a:r>
            <a:endParaRPr lang="en-US" sz="1100" dirty="0"/>
          </a:p>
        </p:txBody>
      </p:sp>
      <p:sp>
        <p:nvSpPr>
          <p:cNvPr id="12" name="Text 8"/>
          <p:cNvSpPr/>
          <p:nvPr/>
        </p:nvSpPr>
        <p:spPr>
          <a:xfrm>
            <a:off x="73152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731520" y="3959352"/>
            <a:ext cx="82296" cy="82296"/>
          </a:xfrm>
          <a:prstGeom prst="ellipse">
            <a:avLst/>
          </a:prstGeom>
          <a:solidFill>
            <a:srgbClr val="14532D"/>
          </a:solidFill>
          <a:ln/>
        </p:spPr>
      </p:sp>
      <p:sp>
        <p:nvSpPr>
          <p:cNvPr id="14" name="Text 10"/>
          <p:cNvSpPr/>
          <p:nvPr/>
        </p:nvSpPr>
        <p:spPr>
          <a:xfrm>
            <a:off x="93268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Footballs  •  كرات القدم</a:t>
            </a:r>
            <a:endParaRPr lang="en-US" sz="1050" dirty="0"/>
          </a:p>
        </p:txBody>
      </p:sp>
      <p:sp>
        <p:nvSpPr>
          <p:cNvPr id="15" name="Shape 11"/>
          <p:cNvSpPr/>
          <p:nvPr/>
        </p:nvSpPr>
        <p:spPr>
          <a:xfrm>
            <a:off x="3840480" y="3959352"/>
            <a:ext cx="82296" cy="82296"/>
          </a:xfrm>
          <a:prstGeom prst="ellipse">
            <a:avLst/>
          </a:prstGeom>
          <a:solidFill>
            <a:srgbClr val="14532D"/>
          </a:solidFill>
          <a:ln/>
        </p:spPr>
      </p:sp>
      <p:sp>
        <p:nvSpPr>
          <p:cNvPr id="16" name="Text 12"/>
          <p:cNvSpPr/>
          <p:nvPr/>
        </p:nvSpPr>
        <p:spPr>
          <a:xfrm>
            <a:off x="404164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Football Boots  •  أحذية كرة القدم</a:t>
            </a:r>
            <a:endParaRPr lang="en-US" sz="1050" dirty="0"/>
          </a:p>
        </p:txBody>
      </p:sp>
      <p:sp>
        <p:nvSpPr>
          <p:cNvPr id="17" name="Shape 13"/>
          <p:cNvSpPr/>
          <p:nvPr/>
        </p:nvSpPr>
        <p:spPr>
          <a:xfrm>
            <a:off x="731520" y="4416552"/>
            <a:ext cx="82296" cy="82296"/>
          </a:xfrm>
          <a:prstGeom prst="ellipse">
            <a:avLst/>
          </a:prstGeom>
          <a:solidFill>
            <a:srgbClr val="14532D"/>
          </a:solidFill>
          <a:ln/>
        </p:spPr>
      </p:sp>
      <p:sp>
        <p:nvSpPr>
          <p:cNvPr id="18" name="Text 14"/>
          <p:cNvSpPr/>
          <p:nvPr/>
        </p:nvSpPr>
        <p:spPr>
          <a:xfrm>
            <a:off x="93268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Kits &amp; Jerseys  •  الأطقم والقمصان</a:t>
            </a:r>
            <a:endParaRPr lang="en-US" sz="1050" dirty="0"/>
          </a:p>
        </p:txBody>
      </p:sp>
      <p:sp>
        <p:nvSpPr>
          <p:cNvPr id="19" name="Shape 15"/>
          <p:cNvSpPr/>
          <p:nvPr/>
        </p:nvSpPr>
        <p:spPr>
          <a:xfrm>
            <a:off x="3840480" y="4416552"/>
            <a:ext cx="82296" cy="82296"/>
          </a:xfrm>
          <a:prstGeom prst="ellipse">
            <a:avLst/>
          </a:prstGeom>
          <a:solidFill>
            <a:srgbClr val="14532D"/>
          </a:solidFill>
          <a:ln/>
        </p:spPr>
      </p:sp>
      <p:sp>
        <p:nvSpPr>
          <p:cNvPr id="20" name="Text 16"/>
          <p:cNvSpPr/>
          <p:nvPr/>
        </p:nvSpPr>
        <p:spPr>
          <a:xfrm>
            <a:off x="404164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Shin Guards  •  واقيات الساق</a:t>
            </a:r>
            <a:endParaRPr lang="en-US" sz="1050" dirty="0"/>
          </a:p>
        </p:txBody>
      </p:sp>
      <p:sp>
        <p:nvSpPr>
          <p:cNvPr id="21" name="Shape 17"/>
          <p:cNvSpPr/>
          <p:nvPr/>
        </p:nvSpPr>
        <p:spPr>
          <a:xfrm>
            <a:off x="731520" y="4873752"/>
            <a:ext cx="82296" cy="82296"/>
          </a:xfrm>
          <a:prstGeom prst="ellipse">
            <a:avLst/>
          </a:prstGeom>
          <a:solidFill>
            <a:srgbClr val="14532D"/>
          </a:solidFill>
          <a:ln/>
        </p:spPr>
      </p:sp>
      <p:sp>
        <p:nvSpPr>
          <p:cNvPr id="22" name="Text 18"/>
          <p:cNvSpPr/>
          <p:nvPr/>
        </p:nvSpPr>
        <p:spPr>
          <a:xfrm>
            <a:off x="932688" y="47548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Goalkeeper Gloves  •  قفازات الحراسة</a:t>
            </a:r>
            <a:endParaRPr lang="en-US" sz="1050" dirty="0"/>
          </a:p>
        </p:txBody>
      </p:sp>
      <p:sp>
        <p:nvSpPr>
          <p:cNvPr id="23" name="Shape 19"/>
          <p:cNvSpPr/>
          <p:nvPr/>
        </p:nvSpPr>
        <p:spPr>
          <a:xfrm>
            <a:off x="3840480" y="4873752"/>
            <a:ext cx="82296" cy="82296"/>
          </a:xfrm>
          <a:prstGeom prst="ellipse">
            <a:avLst/>
          </a:prstGeom>
          <a:solidFill>
            <a:srgbClr val="14532D"/>
          </a:solidFill>
          <a:ln/>
        </p:spPr>
      </p:sp>
      <p:sp>
        <p:nvSpPr>
          <p:cNvPr id="24" name="Text 20"/>
          <p:cNvSpPr/>
          <p:nvPr/>
        </p:nvSpPr>
        <p:spPr>
          <a:xfrm>
            <a:off x="4041648" y="47548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Training Accessories  •  مستلزمات التدريب</a:t>
            </a:r>
            <a:endParaRPr lang="en-US" sz="1050" dirty="0"/>
          </a:p>
        </p:txBody>
      </p:sp>
      <p:sp>
        <p:nvSpPr>
          <p:cNvPr id="25" name="Text 21"/>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11 / 26</a:t>
            </a:r>
            <a:endParaRPr lang="en-US" sz="900" dirty="0"/>
          </a:p>
        </p:txBody>
      </p:sp>
      <p:sp>
        <p:nvSpPr>
          <p:cNvPr id="26" name="Text 22"/>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Football   |   كرة القدم</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2194560" y="2880360"/>
            <a:ext cx="457200" cy="457200"/>
          </a:xfrm>
          <a:prstGeom prst="rect">
            <a:avLst/>
          </a:prstGeom>
        </p:spPr>
      </p:pic>
      <p:sp>
        <p:nvSpPr>
          <p:cNvPr id="4" name="Text 1"/>
          <p:cNvSpPr/>
          <p:nvPr/>
        </p:nvSpPr>
        <p:spPr>
          <a:xfrm>
            <a:off x="100584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home-gym / fitness training lifestyle shot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أجواء تمرين منزلي أو لياقة بدنية</a:t>
            </a:r>
            <a:endParaRPr lang="en-US" sz="1100" dirty="0"/>
          </a:p>
        </p:txBody>
      </p:sp>
      <p:sp>
        <p:nvSpPr>
          <p:cNvPr id="5" name="Text 2"/>
          <p:cNvSpPr/>
          <p:nvPr/>
        </p:nvSpPr>
        <p:spPr>
          <a:xfrm>
            <a:off x="525780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12</a:t>
            </a:r>
            <a:endParaRPr lang="en-US" sz="2000" dirty="0"/>
          </a:p>
        </p:txBody>
      </p:sp>
      <p:sp>
        <p:nvSpPr>
          <p:cNvPr id="6" name="Shape 3"/>
          <p:cNvSpPr/>
          <p:nvPr/>
        </p:nvSpPr>
        <p:spPr>
          <a:xfrm>
            <a:off x="5257800" y="1051560"/>
            <a:ext cx="685800" cy="685800"/>
          </a:xfrm>
          <a:prstGeom prst="ellipse">
            <a:avLst/>
          </a:prstGeom>
          <a:solidFill>
            <a:srgbClr val="14532D"/>
          </a:solidFill>
          <a:ln/>
        </p:spPr>
      </p:sp>
      <p:pic>
        <p:nvPicPr>
          <p:cNvPr id="7" name="Image 1" descr="/tmp/claude-0/-home-user-Alhisan-alriyadi/26da07a5-a74a-5428-98ab-1d407f05d509/scratchpad/profile-deck/icons/dumbbell.png">    </p:cNvPr>
          <p:cNvPicPr>
            <a:picLocks noChangeAspect="1"/>
          </p:cNvPicPr>
          <p:nvPr/>
        </p:nvPicPr>
        <p:blipFill>
          <a:blip r:embed="rId2"/>
          <a:stretch>
            <a:fillRect/>
          </a:stretch>
        </p:blipFill>
        <p:spPr>
          <a:xfrm>
            <a:off x="5422392" y="1216152"/>
            <a:ext cx="356616" cy="356616"/>
          </a:xfrm>
          <a:prstGeom prst="rect">
            <a:avLst/>
          </a:prstGeom>
        </p:spPr>
      </p:pic>
      <p:sp>
        <p:nvSpPr>
          <p:cNvPr id="8" name="Text 4"/>
          <p:cNvSpPr/>
          <p:nvPr/>
        </p:nvSpPr>
        <p:spPr>
          <a:xfrm>
            <a:off x="612648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Gym &amp; Fitness</a:t>
            </a:r>
            <a:endParaRPr lang="en-US" sz="2400" dirty="0"/>
          </a:p>
        </p:txBody>
      </p:sp>
      <p:sp>
        <p:nvSpPr>
          <p:cNvPr id="9" name="Text 5"/>
          <p:cNvSpPr/>
          <p:nvPr/>
        </p:nvSpPr>
        <p:spPr>
          <a:xfrm>
            <a:off x="612648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الجيم واللياقة</a:t>
            </a:r>
            <a:endParaRPr lang="en-US" sz="1500" dirty="0"/>
          </a:p>
        </p:txBody>
      </p:sp>
      <p:sp>
        <p:nvSpPr>
          <p:cNvPr id="10" name="Text 6"/>
          <p:cNvSpPr/>
          <p:nvPr/>
        </p:nvSpPr>
        <p:spPr>
          <a:xfrm>
            <a:off x="525780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Reliable equipment for home gyms and fitness routines, for every training level.</a:t>
            </a:r>
            <a:endParaRPr lang="en-US" sz="1150" dirty="0"/>
          </a:p>
        </p:txBody>
      </p:sp>
      <p:sp>
        <p:nvSpPr>
          <p:cNvPr id="11" name="Text 7"/>
          <p:cNvSpPr/>
          <p:nvPr/>
        </p:nvSpPr>
        <p:spPr>
          <a:xfrm>
            <a:off x="525780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معدات موثوقة للتمارين المنزلية وروتين اللياقة، لكل مستويات التدريب.</a:t>
            </a:r>
            <a:endParaRPr lang="en-US" sz="1100" dirty="0"/>
          </a:p>
        </p:txBody>
      </p:sp>
      <p:sp>
        <p:nvSpPr>
          <p:cNvPr id="12" name="Text 8"/>
          <p:cNvSpPr/>
          <p:nvPr/>
        </p:nvSpPr>
        <p:spPr>
          <a:xfrm>
            <a:off x="525780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5257800" y="3959352"/>
            <a:ext cx="82296" cy="82296"/>
          </a:xfrm>
          <a:prstGeom prst="ellipse">
            <a:avLst/>
          </a:prstGeom>
          <a:solidFill>
            <a:srgbClr val="14532D"/>
          </a:solidFill>
          <a:ln/>
        </p:spPr>
      </p:sp>
      <p:sp>
        <p:nvSpPr>
          <p:cNvPr id="14" name="Text 10"/>
          <p:cNvSpPr/>
          <p:nvPr/>
        </p:nvSpPr>
        <p:spPr>
          <a:xfrm>
            <a:off x="545896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Dumbbells &amp; Weights  •  الدمبل والأوزان</a:t>
            </a:r>
            <a:endParaRPr lang="en-US" sz="1050" dirty="0"/>
          </a:p>
        </p:txBody>
      </p:sp>
      <p:sp>
        <p:nvSpPr>
          <p:cNvPr id="15" name="Shape 11"/>
          <p:cNvSpPr/>
          <p:nvPr/>
        </p:nvSpPr>
        <p:spPr>
          <a:xfrm>
            <a:off x="8366760" y="3959352"/>
            <a:ext cx="82296" cy="82296"/>
          </a:xfrm>
          <a:prstGeom prst="ellipse">
            <a:avLst/>
          </a:prstGeom>
          <a:solidFill>
            <a:srgbClr val="14532D"/>
          </a:solidFill>
          <a:ln/>
        </p:spPr>
      </p:sp>
      <p:sp>
        <p:nvSpPr>
          <p:cNvPr id="16" name="Text 12"/>
          <p:cNvSpPr/>
          <p:nvPr/>
        </p:nvSpPr>
        <p:spPr>
          <a:xfrm>
            <a:off x="856792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Resistance Bands  •  أحزمة المقاومة</a:t>
            </a:r>
            <a:endParaRPr lang="en-US" sz="1050" dirty="0"/>
          </a:p>
        </p:txBody>
      </p:sp>
      <p:sp>
        <p:nvSpPr>
          <p:cNvPr id="17" name="Shape 13"/>
          <p:cNvSpPr/>
          <p:nvPr/>
        </p:nvSpPr>
        <p:spPr>
          <a:xfrm>
            <a:off x="5257800" y="4416552"/>
            <a:ext cx="82296" cy="82296"/>
          </a:xfrm>
          <a:prstGeom prst="ellipse">
            <a:avLst/>
          </a:prstGeom>
          <a:solidFill>
            <a:srgbClr val="14532D"/>
          </a:solidFill>
          <a:ln/>
        </p:spPr>
      </p:sp>
      <p:sp>
        <p:nvSpPr>
          <p:cNvPr id="18" name="Text 14"/>
          <p:cNvSpPr/>
          <p:nvPr/>
        </p:nvSpPr>
        <p:spPr>
          <a:xfrm>
            <a:off x="545896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Exercise Mats  •  سجادات التمارين</a:t>
            </a:r>
            <a:endParaRPr lang="en-US" sz="1050" dirty="0"/>
          </a:p>
        </p:txBody>
      </p:sp>
      <p:sp>
        <p:nvSpPr>
          <p:cNvPr id="19" name="Shape 15"/>
          <p:cNvSpPr/>
          <p:nvPr/>
        </p:nvSpPr>
        <p:spPr>
          <a:xfrm>
            <a:off x="8366760" y="4416552"/>
            <a:ext cx="82296" cy="82296"/>
          </a:xfrm>
          <a:prstGeom prst="ellipse">
            <a:avLst/>
          </a:prstGeom>
          <a:solidFill>
            <a:srgbClr val="14532D"/>
          </a:solidFill>
          <a:ln/>
        </p:spPr>
      </p:sp>
      <p:sp>
        <p:nvSpPr>
          <p:cNvPr id="20" name="Text 16"/>
          <p:cNvSpPr/>
          <p:nvPr/>
        </p:nvSpPr>
        <p:spPr>
          <a:xfrm>
            <a:off x="856792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Gym Gloves  •  قفازات الجيم</a:t>
            </a:r>
            <a:endParaRPr lang="en-US" sz="1050" dirty="0"/>
          </a:p>
        </p:txBody>
      </p:sp>
      <p:sp>
        <p:nvSpPr>
          <p:cNvPr id="21" name="Shape 17"/>
          <p:cNvSpPr/>
          <p:nvPr/>
        </p:nvSpPr>
        <p:spPr>
          <a:xfrm>
            <a:off x="5257800" y="4873752"/>
            <a:ext cx="82296" cy="82296"/>
          </a:xfrm>
          <a:prstGeom prst="ellipse">
            <a:avLst/>
          </a:prstGeom>
          <a:solidFill>
            <a:srgbClr val="14532D"/>
          </a:solidFill>
          <a:ln/>
        </p:spPr>
      </p:sp>
      <p:sp>
        <p:nvSpPr>
          <p:cNvPr id="22" name="Text 18"/>
          <p:cNvSpPr/>
          <p:nvPr/>
        </p:nvSpPr>
        <p:spPr>
          <a:xfrm>
            <a:off x="5458968" y="47548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Jump Ropes  •  حبال القفز</a:t>
            </a:r>
            <a:endParaRPr lang="en-US" sz="1050" dirty="0"/>
          </a:p>
        </p:txBody>
      </p:sp>
      <p:sp>
        <p:nvSpPr>
          <p:cNvPr id="23" name="Shape 19"/>
          <p:cNvSpPr/>
          <p:nvPr/>
        </p:nvSpPr>
        <p:spPr>
          <a:xfrm>
            <a:off x="8366760" y="4873752"/>
            <a:ext cx="82296" cy="82296"/>
          </a:xfrm>
          <a:prstGeom prst="ellipse">
            <a:avLst/>
          </a:prstGeom>
          <a:solidFill>
            <a:srgbClr val="14532D"/>
          </a:solidFill>
          <a:ln/>
        </p:spPr>
      </p:sp>
      <p:sp>
        <p:nvSpPr>
          <p:cNvPr id="24" name="Text 20"/>
          <p:cNvSpPr/>
          <p:nvPr/>
        </p:nvSpPr>
        <p:spPr>
          <a:xfrm>
            <a:off x="8567928" y="47548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Activewear  •  ملابس اللياقة</a:t>
            </a:r>
            <a:endParaRPr lang="en-US" sz="1050" dirty="0"/>
          </a:p>
        </p:txBody>
      </p:sp>
      <p:sp>
        <p:nvSpPr>
          <p:cNvPr id="25" name="Text 21"/>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12 / 26</a:t>
            </a:r>
            <a:endParaRPr lang="en-US" sz="900" dirty="0"/>
          </a:p>
        </p:txBody>
      </p:sp>
      <p:sp>
        <p:nvSpPr>
          <p:cNvPr id="26" name="Text 22"/>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Gym &amp; Fitness   |   الجيم واللياقة</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9244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9555480" y="2880360"/>
            <a:ext cx="457200" cy="457200"/>
          </a:xfrm>
          <a:prstGeom prst="rect">
            <a:avLst/>
          </a:prstGeom>
        </p:spPr>
      </p:pic>
      <p:sp>
        <p:nvSpPr>
          <p:cNvPr id="4" name="Text 1"/>
          <p:cNvSpPr/>
          <p:nvPr/>
        </p:nvSpPr>
        <p:spPr>
          <a:xfrm>
            <a:off x="836676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pool / swimming lifestyle photography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أجواء المسبح أو السباحة</a:t>
            </a:r>
            <a:endParaRPr lang="en-US" sz="1100" dirty="0"/>
          </a:p>
        </p:txBody>
      </p:sp>
      <p:sp>
        <p:nvSpPr>
          <p:cNvPr id="5" name="Text 2"/>
          <p:cNvSpPr/>
          <p:nvPr/>
        </p:nvSpPr>
        <p:spPr>
          <a:xfrm>
            <a:off x="73152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13</a:t>
            </a:r>
            <a:endParaRPr lang="en-US" sz="2000" dirty="0"/>
          </a:p>
        </p:txBody>
      </p:sp>
      <p:sp>
        <p:nvSpPr>
          <p:cNvPr id="6" name="Shape 3"/>
          <p:cNvSpPr/>
          <p:nvPr/>
        </p:nvSpPr>
        <p:spPr>
          <a:xfrm>
            <a:off x="731520" y="1051560"/>
            <a:ext cx="685800" cy="685800"/>
          </a:xfrm>
          <a:prstGeom prst="ellipse">
            <a:avLst/>
          </a:prstGeom>
          <a:solidFill>
            <a:srgbClr val="14532D"/>
          </a:solidFill>
          <a:ln/>
        </p:spPr>
      </p:sp>
      <p:pic>
        <p:nvPicPr>
          <p:cNvPr id="7" name="Image 1" descr="/tmp/claude-0/-home-user-Alhisan-alriyadi/26da07a5-a74a-5428-98ab-1d407f05d509/scratchpad/profile-deck/icons/swim.png">    </p:cNvPr>
          <p:cNvPicPr>
            <a:picLocks noChangeAspect="1"/>
          </p:cNvPicPr>
          <p:nvPr/>
        </p:nvPicPr>
        <p:blipFill>
          <a:blip r:embed="rId2"/>
          <a:stretch>
            <a:fillRect/>
          </a:stretch>
        </p:blipFill>
        <p:spPr>
          <a:xfrm>
            <a:off x="896112" y="1216152"/>
            <a:ext cx="356616" cy="356616"/>
          </a:xfrm>
          <a:prstGeom prst="rect">
            <a:avLst/>
          </a:prstGeom>
        </p:spPr>
      </p:pic>
      <p:sp>
        <p:nvSpPr>
          <p:cNvPr id="8" name="Text 4"/>
          <p:cNvSpPr/>
          <p:nvPr/>
        </p:nvSpPr>
        <p:spPr>
          <a:xfrm>
            <a:off x="160020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Water Sports &amp; Swimming</a:t>
            </a:r>
            <a:endParaRPr lang="en-US" sz="2400" dirty="0"/>
          </a:p>
        </p:txBody>
      </p:sp>
      <p:sp>
        <p:nvSpPr>
          <p:cNvPr id="9" name="Text 5"/>
          <p:cNvSpPr/>
          <p:nvPr/>
        </p:nvSpPr>
        <p:spPr>
          <a:xfrm>
            <a:off x="160020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الرياضات المائية والسباحة</a:t>
            </a:r>
            <a:endParaRPr lang="en-US" sz="1500" dirty="0"/>
          </a:p>
        </p:txBody>
      </p:sp>
      <p:sp>
        <p:nvSpPr>
          <p:cNvPr id="10" name="Text 6"/>
          <p:cNvSpPr/>
          <p:nvPr/>
        </p:nvSpPr>
        <p:spPr>
          <a:xfrm>
            <a:off x="73152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Swimwear and pool essentials for every age, including modest swimwear options.</a:t>
            </a:r>
            <a:endParaRPr lang="en-US" sz="1150" dirty="0"/>
          </a:p>
        </p:txBody>
      </p:sp>
      <p:sp>
        <p:nvSpPr>
          <p:cNvPr id="11" name="Text 7"/>
          <p:cNvSpPr/>
          <p:nvPr/>
        </p:nvSpPr>
        <p:spPr>
          <a:xfrm>
            <a:off x="73152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ملابس سباحة ومستلزمات مسبح لكل الأعمار، تشمل خيارات الملابس المحتشمة.</a:t>
            </a:r>
            <a:endParaRPr lang="en-US" sz="1100" dirty="0"/>
          </a:p>
        </p:txBody>
      </p:sp>
      <p:sp>
        <p:nvSpPr>
          <p:cNvPr id="12" name="Text 8"/>
          <p:cNvSpPr/>
          <p:nvPr/>
        </p:nvSpPr>
        <p:spPr>
          <a:xfrm>
            <a:off x="73152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731520" y="3959352"/>
            <a:ext cx="82296" cy="82296"/>
          </a:xfrm>
          <a:prstGeom prst="ellipse">
            <a:avLst/>
          </a:prstGeom>
          <a:solidFill>
            <a:srgbClr val="14532D"/>
          </a:solidFill>
          <a:ln/>
        </p:spPr>
      </p:sp>
      <p:sp>
        <p:nvSpPr>
          <p:cNvPr id="14" name="Text 10"/>
          <p:cNvSpPr/>
          <p:nvPr/>
        </p:nvSpPr>
        <p:spPr>
          <a:xfrm>
            <a:off x="93268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Swimming Goggles  •  نظارات السباحة</a:t>
            </a:r>
            <a:endParaRPr lang="en-US" sz="1050" dirty="0"/>
          </a:p>
        </p:txBody>
      </p:sp>
      <p:sp>
        <p:nvSpPr>
          <p:cNvPr id="15" name="Shape 11"/>
          <p:cNvSpPr/>
          <p:nvPr/>
        </p:nvSpPr>
        <p:spPr>
          <a:xfrm>
            <a:off x="3840480" y="3959352"/>
            <a:ext cx="82296" cy="82296"/>
          </a:xfrm>
          <a:prstGeom prst="ellipse">
            <a:avLst/>
          </a:prstGeom>
          <a:solidFill>
            <a:srgbClr val="14532D"/>
          </a:solidFill>
          <a:ln/>
        </p:spPr>
      </p:sp>
      <p:sp>
        <p:nvSpPr>
          <p:cNvPr id="16" name="Text 12"/>
          <p:cNvSpPr/>
          <p:nvPr/>
        </p:nvSpPr>
        <p:spPr>
          <a:xfrm>
            <a:off x="404164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Swim Caps  •  أغطية الرأس</a:t>
            </a:r>
            <a:endParaRPr lang="en-US" sz="1050" dirty="0"/>
          </a:p>
        </p:txBody>
      </p:sp>
      <p:sp>
        <p:nvSpPr>
          <p:cNvPr id="17" name="Shape 13"/>
          <p:cNvSpPr/>
          <p:nvPr/>
        </p:nvSpPr>
        <p:spPr>
          <a:xfrm>
            <a:off x="731520" y="4416552"/>
            <a:ext cx="82296" cy="82296"/>
          </a:xfrm>
          <a:prstGeom prst="ellipse">
            <a:avLst/>
          </a:prstGeom>
          <a:solidFill>
            <a:srgbClr val="14532D"/>
          </a:solidFill>
          <a:ln/>
        </p:spPr>
      </p:sp>
      <p:sp>
        <p:nvSpPr>
          <p:cNvPr id="18" name="Text 14"/>
          <p:cNvSpPr/>
          <p:nvPr/>
        </p:nvSpPr>
        <p:spPr>
          <a:xfrm>
            <a:off x="93268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Swimwear &amp; Modest Swimwear  •  ملابس السباحة والمحتشمة</a:t>
            </a:r>
            <a:endParaRPr lang="en-US" sz="1050" dirty="0"/>
          </a:p>
        </p:txBody>
      </p:sp>
      <p:sp>
        <p:nvSpPr>
          <p:cNvPr id="19" name="Shape 15"/>
          <p:cNvSpPr/>
          <p:nvPr/>
        </p:nvSpPr>
        <p:spPr>
          <a:xfrm>
            <a:off x="3840480" y="4416552"/>
            <a:ext cx="82296" cy="82296"/>
          </a:xfrm>
          <a:prstGeom prst="ellipse">
            <a:avLst/>
          </a:prstGeom>
          <a:solidFill>
            <a:srgbClr val="14532D"/>
          </a:solidFill>
          <a:ln/>
        </p:spPr>
      </p:sp>
      <p:sp>
        <p:nvSpPr>
          <p:cNvPr id="20" name="Text 16"/>
          <p:cNvSpPr/>
          <p:nvPr/>
        </p:nvSpPr>
        <p:spPr>
          <a:xfrm>
            <a:off x="404164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Kickboards  •  ألواح التعويم</a:t>
            </a:r>
            <a:endParaRPr lang="en-US" sz="1050" dirty="0"/>
          </a:p>
        </p:txBody>
      </p:sp>
      <p:sp>
        <p:nvSpPr>
          <p:cNvPr id="21" name="Shape 17"/>
          <p:cNvSpPr/>
          <p:nvPr/>
        </p:nvSpPr>
        <p:spPr>
          <a:xfrm>
            <a:off x="731520" y="4873752"/>
            <a:ext cx="82296" cy="82296"/>
          </a:xfrm>
          <a:prstGeom prst="ellipse">
            <a:avLst/>
          </a:prstGeom>
          <a:solidFill>
            <a:srgbClr val="14532D"/>
          </a:solidFill>
          <a:ln/>
        </p:spPr>
      </p:sp>
      <p:sp>
        <p:nvSpPr>
          <p:cNvPr id="22" name="Text 18"/>
          <p:cNvSpPr/>
          <p:nvPr/>
        </p:nvSpPr>
        <p:spPr>
          <a:xfrm>
            <a:off x="932688" y="47548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Pool Accessories  •  مستلزمات المسبح</a:t>
            </a:r>
            <a:endParaRPr lang="en-US" sz="1050" dirty="0"/>
          </a:p>
        </p:txBody>
      </p:sp>
      <p:sp>
        <p:nvSpPr>
          <p:cNvPr id="23" name="Text 1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13 / 26</a:t>
            </a:r>
            <a:endParaRPr lang="en-US" sz="900" dirty="0"/>
          </a:p>
        </p:txBody>
      </p:sp>
      <p:sp>
        <p:nvSpPr>
          <p:cNvPr id="24" name="Text 2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Water Sports &amp; Swimming   |   الرياضات المائية والسباحة</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2194560" y="2880360"/>
            <a:ext cx="457200" cy="457200"/>
          </a:xfrm>
          <a:prstGeom prst="rect">
            <a:avLst/>
          </a:prstGeom>
        </p:spPr>
      </p:pic>
      <p:sp>
        <p:nvSpPr>
          <p:cNvPr id="4" name="Text 1"/>
          <p:cNvSpPr/>
          <p:nvPr/>
        </p:nvSpPr>
        <p:spPr>
          <a:xfrm>
            <a:off x="100584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martial-arts training / uniform product shot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تدريب فنون قتالية أو بدلة رياضية</a:t>
            </a:r>
            <a:endParaRPr lang="en-US" sz="1100" dirty="0"/>
          </a:p>
        </p:txBody>
      </p:sp>
      <p:sp>
        <p:nvSpPr>
          <p:cNvPr id="5" name="Text 2"/>
          <p:cNvSpPr/>
          <p:nvPr/>
        </p:nvSpPr>
        <p:spPr>
          <a:xfrm>
            <a:off x="525780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14</a:t>
            </a:r>
            <a:endParaRPr lang="en-US" sz="2000" dirty="0"/>
          </a:p>
        </p:txBody>
      </p:sp>
      <p:sp>
        <p:nvSpPr>
          <p:cNvPr id="6" name="Shape 3"/>
          <p:cNvSpPr/>
          <p:nvPr/>
        </p:nvSpPr>
        <p:spPr>
          <a:xfrm>
            <a:off x="5257800" y="1051560"/>
            <a:ext cx="685800" cy="685800"/>
          </a:xfrm>
          <a:prstGeom prst="ellipse">
            <a:avLst/>
          </a:prstGeom>
          <a:solidFill>
            <a:srgbClr val="14532D"/>
          </a:solidFill>
          <a:ln/>
        </p:spPr>
      </p:sp>
      <p:pic>
        <p:nvPicPr>
          <p:cNvPr id="7" name="Image 1" descr="/tmp/claude-0/-home-user-Alhisan-alriyadi/26da07a5-a74a-5428-98ab-1d407f05d509/scratchpad/profile-deck/icons/martial.png">    </p:cNvPr>
          <p:cNvPicPr>
            <a:picLocks noChangeAspect="1"/>
          </p:cNvPicPr>
          <p:nvPr/>
        </p:nvPicPr>
        <p:blipFill>
          <a:blip r:embed="rId2"/>
          <a:stretch>
            <a:fillRect/>
          </a:stretch>
        </p:blipFill>
        <p:spPr>
          <a:xfrm>
            <a:off x="5422392" y="1216152"/>
            <a:ext cx="356616" cy="356616"/>
          </a:xfrm>
          <a:prstGeom prst="rect">
            <a:avLst/>
          </a:prstGeom>
        </p:spPr>
      </p:pic>
      <p:sp>
        <p:nvSpPr>
          <p:cNvPr id="8" name="Text 4"/>
          <p:cNvSpPr/>
          <p:nvPr/>
        </p:nvSpPr>
        <p:spPr>
          <a:xfrm>
            <a:off x="612648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Martial Arts</a:t>
            </a:r>
            <a:endParaRPr lang="en-US" sz="2400" dirty="0"/>
          </a:p>
        </p:txBody>
      </p:sp>
      <p:sp>
        <p:nvSpPr>
          <p:cNvPr id="9" name="Text 5"/>
          <p:cNvSpPr/>
          <p:nvPr/>
        </p:nvSpPr>
        <p:spPr>
          <a:xfrm>
            <a:off x="612648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الفنون القتالية</a:t>
            </a:r>
            <a:endParaRPr lang="en-US" sz="1500" dirty="0"/>
          </a:p>
        </p:txBody>
      </p:sp>
      <p:sp>
        <p:nvSpPr>
          <p:cNvPr id="10" name="Text 6"/>
          <p:cNvSpPr/>
          <p:nvPr/>
        </p:nvSpPr>
        <p:spPr>
          <a:xfrm>
            <a:off x="525780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Uniforms and protective gear for karate, taekwondo and combat-sport training.</a:t>
            </a:r>
            <a:endParaRPr lang="en-US" sz="1150" dirty="0"/>
          </a:p>
        </p:txBody>
      </p:sp>
      <p:sp>
        <p:nvSpPr>
          <p:cNvPr id="11" name="Text 7"/>
          <p:cNvSpPr/>
          <p:nvPr/>
        </p:nvSpPr>
        <p:spPr>
          <a:xfrm>
            <a:off x="525780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بدلات ومعدات حماية لتدريبات الكاراتيه والتايكوندو والرياضات القتالية.</a:t>
            </a:r>
            <a:endParaRPr lang="en-US" sz="1100" dirty="0"/>
          </a:p>
        </p:txBody>
      </p:sp>
      <p:sp>
        <p:nvSpPr>
          <p:cNvPr id="12" name="Text 8"/>
          <p:cNvSpPr/>
          <p:nvPr/>
        </p:nvSpPr>
        <p:spPr>
          <a:xfrm>
            <a:off x="525780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5257800" y="3959352"/>
            <a:ext cx="82296" cy="82296"/>
          </a:xfrm>
          <a:prstGeom prst="ellipse">
            <a:avLst/>
          </a:prstGeom>
          <a:solidFill>
            <a:srgbClr val="14532D"/>
          </a:solidFill>
          <a:ln/>
        </p:spPr>
      </p:sp>
      <p:sp>
        <p:nvSpPr>
          <p:cNvPr id="14" name="Text 10"/>
          <p:cNvSpPr/>
          <p:nvPr/>
        </p:nvSpPr>
        <p:spPr>
          <a:xfrm>
            <a:off x="545896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Karate &amp; Taekwondo Uniforms  •  بدلات الكاراتيه والتايكوندو</a:t>
            </a:r>
            <a:endParaRPr lang="en-US" sz="1050" dirty="0"/>
          </a:p>
        </p:txBody>
      </p:sp>
      <p:sp>
        <p:nvSpPr>
          <p:cNvPr id="15" name="Shape 11"/>
          <p:cNvSpPr/>
          <p:nvPr/>
        </p:nvSpPr>
        <p:spPr>
          <a:xfrm>
            <a:off x="8366760" y="3959352"/>
            <a:ext cx="82296" cy="82296"/>
          </a:xfrm>
          <a:prstGeom prst="ellipse">
            <a:avLst/>
          </a:prstGeom>
          <a:solidFill>
            <a:srgbClr val="14532D"/>
          </a:solidFill>
          <a:ln/>
        </p:spPr>
      </p:sp>
      <p:sp>
        <p:nvSpPr>
          <p:cNvPr id="16" name="Text 12"/>
          <p:cNvSpPr/>
          <p:nvPr/>
        </p:nvSpPr>
        <p:spPr>
          <a:xfrm>
            <a:off x="856792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Belts  •  الأحزمة</a:t>
            </a:r>
            <a:endParaRPr lang="en-US" sz="1050" dirty="0"/>
          </a:p>
        </p:txBody>
      </p:sp>
      <p:sp>
        <p:nvSpPr>
          <p:cNvPr id="17" name="Shape 13"/>
          <p:cNvSpPr/>
          <p:nvPr/>
        </p:nvSpPr>
        <p:spPr>
          <a:xfrm>
            <a:off x="5257800" y="4416552"/>
            <a:ext cx="82296" cy="82296"/>
          </a:xfrm>
          <a:prstGeom prst="ellipse">
            <a:avLst/>
          </a:prstGeom>
          <a:solidFill>
            <a:srgbClr val="14532D"/>
          </a:solidFill>
          <a:ln/>
        </p:spPr>
      </p:sp>
      <p:sp>
        <p:nvSpPr>
          <p:cNvPr id="18" name="Text 14"/>
          <p:cNvSpPr/>
          <p:nvPr/>
        </p:nvSpPr>
        <p:spPr>
          <a:xfrm>
            <a:off x="545896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Gloves &amp; Protective Gear  •  القفازات ومعدات الحماية</a:t>
            </a:r>
            <a:endParaRPr lang="en-US" sz="1050" dirty="0"/>
          </a:p>
        </p:txBody>
      </p:sp>
      <p:sp>
        <p:nvSpPr>
          <p:cNvPr id="19" name="Shape 15"/>
          <p:cNvSpPr/>
          <p:nvPr/>
        </p:nvSpPr>
        <p:spPr>
          <a:xfrm>
            <a:off x="8366760" y="4416552"/>
            <a:ext cx="82296" cy="82296"/>
          </a:xfrm>
          <a:prstGeom prst="ellipse">
            <a:avLst/>
          </a:prstGeom>
          <a:solidFill>
            <a:srgbClr val="14532D"/>
          </a:solidFill>
          <a:ln/>
        </p:spPr>
      </p:sp>
      <p:sp>
        <p:nvSpPr>
          <p:cNvPr id="20" name="Text 16"/>
          <p:cNvSpPr/>
          <p:nvPr/>
        </p:nvSpPr>
        <p:spPr>
          <a:xfrm>
            <a:off x="856792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Head &amp; Shin Guards  •  واقيات الرأس والساق</a:t>
            </a:r>
            <a:endParaRPr lang="en-US" sz="1050" dirty="0"/>
          </a:p>
        </p:txBody>
      </p:sp>
      <p:sp>
        <p:nvSpPr>
          <p:cNvPr id="21" name="Shape 17"/>
          <p:cNvSpPr/>
          <p:nvPr/>
        </p:nvSpPr>
        <p:spPr>
          <a:xfrm>
            <a:off x="5257800" y="4873752"/>
            <a:ext cx="82296" cy="82296"/>
          </a:xfrm>
          <a:prstGeom prst="ellipse">
            <a:avLst/>
          </a:prstGeom>
          <a:solidFill>
            <a:srgbClr val="14532D"/>
          </a:solidFill>
          <a:ln/>
        </p:spPr>
      </p:sp>
      <p:sp>
        <p:nvSpPr>
          <p:cNvPr id="22" name="Text 18"/>
          <p:cNvSpPr/>
          <p:nvPr/>
        </p:nvSpPr>
        <p:spPr>
          <a:xfrm>
            <a:off x="5458968" y="47548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Training Pads &amp; Bags  •  وسائد وأكياس التدريب</a:t>
            </a:r>
            <a:endParaRPr lang="en-US" sz="1050" dirty="0"/>
          </a:p>
        </p:txBody>
      </p:sp>
      <p:sp>
        <p:nvSpPr>
          <p:cNvPr id="23" name="Text 1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14 / 26</a:t>
            </a:r>
            <a:endParaRPr lang="en-US" sz="900" dirty="0"/>
          </a:p>
        </p:txBody>
      </p:sp>
      <p:sp>
        <p:nvSpPr>
          <p:cNvPr id="24" name="Text 2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Martial Arts   |   الفنون القتالية</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9244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9555480" y="2880360"/>
            <a:ext cx="457200" cy="457200"/>
          </a:xfrm>
          <a:prstGeom prst="rect">
            <a:avLst/>
          </a:prstGeom>
        </p:spPr>
      </p:pic>
      <p:sp>
        <p:nvSpPr>
          <p:cNvPr id="4" name="Text 1"/>
          <p:cNvSpPr/>
          <p:nvPr/>
        </p:nvSpPr>
        <p:spPr>
          <a:xfrm>
            <a:off x="836676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racket-sport action shot / equipment flat-lay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أجواء رياضة مضربية أو منتجات</a:t>
            </a:r>
            <a:endParaRPr lang="en-US" sz="1100" dirty="0"/>
          </a:p>
        </p:txBody>
      </p:sp>
      <p:sp>
        <p:nvSpPr>
          <p:cNvPr id="5" name="Text 2"/>
          <p:cNvSpPr/>
          <p:nvPr/>
        </p:nvSpPr>
        <p:spPr>
          <a:xfrm>
            <a:off x="73152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15</a:t>
            </a:r>
            <a:endParaRPr lang="en-US" sz="2000" dirty="0"/>
          </a:p>
        </p:txBody>
      </p:sp>
      <p:sp>
        <p:nvSpPr>
          <p:cNvPr id="6" name="Shape 3"/>
          <p:cNvSpPr/>
          <p:nvPr/>
        </p:nvSpPr>
        <p:spPr>
          <a:xfrm>
            <a:off x="731520" y="1051560"/>
            <a:ext cx="685800" cy="685800"/>
          </a:xfrm>
          <a:prstGeom prst="ellipse">
            <a:avLst/>
          </a:prstGeom>
          <a:solidFill>
            <a:srgbClr val="14532D"/>
          </a:solidFill>
          <a:ln/>
        </p:spPr>
      </p:sp>
      <p:pic>
        <p:nvPicPr>
          <p:cNvPr id="7" name="Image 1" descr="/tmp/claude-0/-home-user-Alhisan-alriyadi/26da07a5-a74a-5428-98ab-1d407f05d509/scratchpad/profile-deck/icons/racket.png">    </p:cNvPr>
          <p:cNvPicPr>
            <a:picLocks noChangeAspect="1"/>
          </p:cNvPicPr>
          <p:nvPr/>
        </p:nvPicPr>
        <p:blipFill>
          <a:blip r:embed="rId2"/>
          <a:stretch>
            <a:fillRect/>
          </a:stretch>
        </p:blipFill>
        <p:spPr>
          <a:xfrm>
            <a:off x="896112" y="1216152"/>
            <a:ext cx="356616" cy="356616"/>
          </a:xfrm>
          <a:prstGeom prst="rect">
            <a:avLst/>
          </a:prstGeom>
        </p:spPr>
      </p:pic>
      <p:sp>
        <p:nvSpPr>
          <p:cNvPr id="8" name="Text 4"/>
          <p:cNvSpPr/>
          <p:nvPr/>
        </p:nvSpPr>
        <p:spPr>
          <a:xfrm>
            <a:off x="160020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Racket Sports</a:t>
            </a:r>
            <a:endParaRPr lang="en-US" sz="2400" dirty="0"/>
          </a:p>
        </p:txBody>
      </p:sp>
      <p:sp>
        <p:nvSpPr>
          <p:cNvPr id="9" name="Text 5"/>
          <p:cNvSpPr/>
          <p:nvPr/>
        </p:nvSpPr>
        <p:spPr>
          <a:xfrm>
            <a:off x="160020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الرياضات المضربية</a:t>
            </a:r>
            <a:endParaRPr lang="en-US" sz="1500" dirty="0"/>
          </a:p>
        </p:txBody>
      </p:sp>
      <p:sp>
        <p:nvSpPr>
          <p:cNvPr id="10" name="Text 6"/>
          <p:cNvSpPr/>
          <p:nvPr/>
        </p:nvSpPr>
        <p:spPr>
          <a:xfrm>
            <a:off x="73152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Rackets, balls and accessories for tennis, squash, badminton, padel and table tennis.</a:t>
            </a:r>
            <a:endParaRPr lang="en-US" sz="1150" dirty="0"/>
          </a:p>
        </p:txBody>
      </p:sp>
      <p:sp>
        <p:nvSpPr>
          <p:cNvPr id="11" name="Text 7"/>
          <p:cNvSpPr/>
          <p:nvPr/>
        </p:nvSpPr>
        <p:spPr>
          <a:xfrm>
            <a:off x="73152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مضارب وكرات وإكسسوارات لرياضات التنس والاسكواش والبادمنتون والبادل وتنس الطاولة.</a:t>
            </a:r>
            <a:endParaRPr lang="en-US" sz="1100" dirty="0"/>
          </a:p>
        </p:txBody>
      </p:sp>
      <p:sp>
        <p:nvSpPr>
          <p:cNvPr id="12" name="Text 8"/>
          <p:cNvSpPr/>
          <p:nvPr/>
        </p:nvSpPr>
        <p:spPr>
          <a:xfrm>
            <a:off x="73152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731520" y="3959352"/>
            <a:ext cx="82296" cy="82296"/>
          </a:xfrm>
          <a:prstGeom prst="ellipse">
            <a:avLst/>
          </a:prstGeom>
          <a:solidFill>
            <a:srgbClr val="14532D"/>
          </a:solidFill>
          <a:ln/>
        </p:spPr>
      </p:sp>
      <p:sp>
        <p:nvSpPr>
          <p:cNvPr id="14" name="Text 10"/>
          <p:cNvSpPr/>
          <p:nvPr/>
        </p:nvSpPr>
        <p:spPr>
          <a:xfrm>
            <a:off x="93268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Tennis &amp; Squash Rackets  •  مضارب التنس والاسكواش</a:t>
            </a:r>
            <a:endParaRPr lang="en-US" sz="1050" dirty="0"/>
          </a:p>
        </p:txBody>
      </p:sp>
      <p:sp>
        <p:nvSpPr>
          <p:cNvPr id="15" name="Shape 11"/>
          <p:cNvSpPr/>
          <p:nvPr/>
        </p:nvSpPr>
        <p:spPr>
          <a:xfrm>
            <a:off x="3840480" y="3959352"/>
            <a:ext cx="82296" cy="82296"/>
          </a:xfrm>
          <a:prstGeom prst="ellipse">
            <a:avLst/>
          </a:prstGeom>
          <a:solidFill>
            <a:srgbClr val="14532D"/>
          </a:solidFill>
          <a:ln/>
        </p:spPr>
      </p:sp>
      <p:sp>
        <p:nvSpPr>
          <p:cNvPr id="16" name="Text 12"/>
          <p:cNvSpPr/>
          <p:nvPr/>
        </p:nvSpPr>
        <p:spPr>
          <a:xfrm>
            <a:off x="404164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Badminton &amp; Padel  •  البادمنتون والبادل</a:t>
            </a:r>
            <a:endParaRPr lang="en-US" sz="1050" dirty="0"/>
          </a:p>
        </p:txBody>
      </p:sp>
      <p:sp>
        <p:nvSpPr>
          <p:cNvPr id="17" name="Shape 13"/>
          <p:cNvSpPr/>
          <p:nvPr/>
        </p:nvSpPr>
        <p:spPr>
          <a:xfrm>
            <a:off x="731520" y="4416552"/>
            <a:ext cx="82296" cy="82296"/>
          </a:xfrm>
          <a:prstGeom prst="ellipse">
            <a:avLst/>
          </a:prstGeom>
          <a:solidFill>
            <a:srgbClr val="14532D"/>
          </a:solidFill>
          <a:ln/>
        </p:spPr>
      </p:sp>
      <p:sp>
        <p:nvSpPr>
          <p:cNvPr id="18" name="Text 14"/>
          <p:cNvSpPr/>
          <p:nvPr/>
        </p:nvSpPr>
        <p:spPr>
          <a:xfrm>
            <a:off x="93268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Table Tennis  •  تنس الطاولة</a:t>
            </a:r>
            <a:endParaRPr lang="en-US" sz="1050" dirty="0"/>
          </a:p>
        </p:txBody>
      </p:sp>
      <p:sp>
        <p:nvSpPr>
          <p:cNvPr id="19" name="Shape 15"/>
          <p:cNvSpPr/>
          <p:nvPr/>
        </p:nvSpPr>
        <p:spPr>
          <a:xfrm>
            <a:off x="3840480" y="4416552"/>
            <a:ext cx="82296" cy="82296"/>
          </a:xfrm>
          <a:prstGeom prst="ellipse">
            <a:avLst/>
          </a:prstGeom>
          <a:solidFill>
            <a:srgbClr val="14532D"/>
          </a:solidFill>
          <a:ln/>
        </p:spPr>
      </p:sp>
      <p:sp>
        <p:nvSpPr>
          <p:cNvPr id="20" name="Text 16"/>
          <p:cNvSpPr/>
          <p:nvPr/>
        </p:nvSpPr>
        <p:spPr>
          <a:xfrm>
            <a:off x="404164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Balls &amp; Shuttlecocks  •  الكرات والريش</a:t>
            </a:r>
            <a:endParaRPr lang="en-US" sz="1050" dirty="0"/>
          </a:p>
        </p:txBody>
      </p:sp>
      <p:sp>
        <p:nvSpPr>
          <p:cNvPr id="21" name="Shape 17"/>
          <p:cNvSpPr/>
          <p:nvPr/>
        </p:nvSpPr>
        <p:spPr>
          <a:xfrm>
            <a:off x="731520" y="4873752"/>
            <a:ext cx="82296" cy="82296"/>
          </a:xfrm>
          <a:prstGeom prst="ellipse">
            <a:avLst/>
          </a:prstGeom>
          <a:solidFill>
            <a:srgbClr val="14532D"/>
          </a:solidFill>
          <a:ln/>
        </p:spPr>
      </p:sp>
      <p:sp>
        <p:nvSpPr>
          <p:cNvPr id="22" name="Text 18"/>
          <p:cNvSpPr/>
          <p:nvPr/>
        </p:nvSpPr>
        <p:spPr>
          <a:xfrm>
            <a:off x="932688" y="47548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Racket Bags &amp; Grips  •  حقائب ومقابض المضارب</a:t>
            </a:r>
            <a:endParaRPr lang="en-US" sz="1050" dirty="0"/>
          </a:p>
        </p:txBody>
      </p:sp>
      <p:sp>
        <p:nvSpPr>
          <p:cNvPr id="23" name="Text 1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15 / 26</a:t>
            </a:r>
            <a:endParaRPr lang="en-US" sz="900" dirty="0"/>
          </a:p>
        </p:txBody>
      </p:sp>
      <p:sp>
        <p:nvSpPr>
          <p:cNvPr id="24" name="Text 2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Racket Sports   |   الرياضات المضربية</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2194560" y="2880360"/>
            <a:ext cx="457200" cy="457200"/>
          </a:xfrm>
          <a:prstGeom prst="rect">
            <a:avLst/>
          </a:prstGeom>
        </p:spPr>
      </p:pic>
      <p:sp>
        <p:nvSpPr>
          <p:cNvPr id="4" name="Text 1"/>
          <p:cNvSpPr/>
          <p:nvPr/>
        </p:nvSpPr>
        <p:spPr>
          <a:xfrm>
            <a:off x="100584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team sport in action / group shot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أجواء رياضة جماعية أو صورة فريق</a:t>
            </a:r>
            <a:endParaRPr lang="en-US" sz="1100" dirty="0"/>
          </a:p>
        </p:txBody>
      </p:sp>
      <p:sp>
        <p:nvSpPr>
          <p:cNvPr id="5" name="Text 2"/>
          <p:cNvSpPr/>
          <p:nvPr/>
        </p:nvSpPr>
        <p:spPr>
          <a:xfrm>
            <a:off x="525780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16</a:t>
            </a:r>
            <a:endParaRPr lang="en-US" sz="2000" dirty="0"/>
          </a:p>
        </p:txBody>
      </p:sp>
      <p:sp>
        <p:nvSpPr>
          <p:cNvPr id="6" name="Shape 3"/>
          <p:cNvSpPr/>
          <p:nvPr/>
        </p:nvSpPr>
        <p:spPr>
          <a:xfrm>
            <a:off x="5257800" y="1051560"/>
            <a:ext cx="685800" cy="685800"/>
          </a:xfrm>
          <a:prstGeom prst="ellipse">
            <a:avLst/>
          </a:prstGeom>
          <a:solidFill>
            <a:srgbClr val="14532D"/>
          </a:solidFill>
          <a:ln/>
        </p:spPr>
      </p:sp>
      <p:pic>
        <p:nvPicPr>
          <p:cNvPr id="7" name="Image 1" descr="/tmp/claude-0/-home-user-Alhisan-alriyadi/26da07a5-a74a-5428-98ab-1d407f05d509/scratchpad/profile-deck/icons/basketball.png">    </p:cNvPr>
          <p:cNvPicPr>
            <a:picLocks noChangeAspect="1"/>
          </p:cNvPicPr>
          <p:nvPr/>
        </p:nvPicPr>
        <p:blipFill>
          <a:blip r:embed="rId2"/>
          <a:stretch>
            <a:fillRect/>
          </a:stretch>
        </p:blipFill>
        <p:spPr>
          <a:xfrm>
            <a:off x="5422392" y="1216152"/>
            <a:ext cx="356616" cy="356616"/>
          </a:xfrm>
          <a:prstGeom prst="rect">
            <a:avLst/>
          </a:prstGeom>
        </p:spPr>
      </p:pic>
      <p:sp>
        <p:nvSpPr>
          <p:cNvPr id="8" name="Text 4"/>
          <p:cNvSpPr/>
          <p:nvPr/>
        </p:nvSpPr>
        <p:spPr>
          <a:xfrm>
            <a:off x="612648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Team Sports</a:t>
            </a:r>
            <a:endParaRPr lang="en-US" sz="2400" dirty="0"/>
          </a:p>
        </p:txBody>
      </p:sp>
      <p:sp>
        <p:nvSpPr>
          <p:cNvPr id="9" name="Text 5"/>
          <p:cNvSpPr/>
          <p:nvPr/>
        </p:nvSpPr>
        <p:spPr>
          <a:xfrm>
            <a:off x="612648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الرياضات الجماعية</a:t>
            </a:r>
            <a:endParaRPr lang="en-US" sz="1500" dirty="0"/>
          </a:p>
        </p:txBody>
      </p:sp>
      <p:sp>
        <p:nvSpPr>
          <p:cNvPr id="10" name="Text 6"/>
          <p:cNvSpPr/>
          <p:nvPr/>
        </p:nvSpPr>
        <p:spPr>
          <a:xfrm>
            <a:off x="525780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Balls, jerseys and training gear for basketball, volleyball and handball teams.</a:t>
            </a:r>
            <a:endParaRPr lang="en-US" sz="1150" dirty="0"/>
          </a:p>
        </p:txBody>
      </p:sp>
      <p:sp>
        <p:nvSpPr>
          <p:cNvPr id="11" name="Text 7"/>
          <p:cNvSpPr/>
          <p:nvPr/>
        </p:nvSpPr>
        <p:spPr>
          <a:xfrm>
            <a:off x="525780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كرات وأطقم ومعدات تدريب لفرق كرة السلة والطائرة واليد.</a:t>
            </a:r>
            <a:endParaRPr lang="en-US" sz="1100" dirty="0"/>
          </a:p>
        </p:txBody>
      </p:sp>
      <p:sp>
        <p:nvSpPr>
          <p:cNvPr id="12" name="Text 8"/>
          <p:cNvSpPr/>
          <p:nvPr/>
        </p:nvSpPr>
        <p:spPr>
          <a:xfrm>
            <a:off x="525780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5257800" y="3959352"/>
            <a:ext cx="82296" cy="82296"/>
          </a:xfrm>
          <a:prstGeom prst="ellipse">
            <a:avLst/>
          </a:prstGeom>
          <a:solidFill>
            <a:srgbClr val="14532D"/>
          </a:solidFill>
          <a:ln/>
        </p:spPr>
      </p:sp>
      <p:sp>
        <p:nvSpPr>
          <p:cNvPr id="14" name="Text 10"/>
          <p:cNvSpPr/>
          <p:nvPr/>
        </p:nvSpPr>
        <p:spPr>
          <a:xfrm>
            <a:off x="545896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Basketball, Volleyball &amp; Handball  •  كرة السلة والطائرة واليد</a:t>
            </a:r>
            <a:endParaRPr lang="en-US" sz="1050" dirty="0"/>
          </a:p>
        </p:txBody>
      </p:sp>
      <p:sp>
        <p:nvSpPr>
          <p:cNvPr id="15" name="Shape 11"/>
          <p:cNvSpPr/>
          <p:nvPr/>
        </p:nvSpPr>
        <p:spPr>
          <a:xfrm>
            <a:off x="8366760" y="3959352"/>
            <a:ext cx="82296" cy="82296"/>
          </a:xfrm>
          <a:prstGeom prst="ellipse">
            <a:avLst/>
          </a:prstGeom>
          <a:solidFill>
            <a:srgbClr val="14532D"/>
          </a:solidFill>
          <a:ln/>
        </p:spPr>
      </p:sp>
      <p:sp>
        <p:nvSpPr>
          <p:cNvPr id="16" name="Text 12"/>
          <p:cNvSpPr/>
          <p:nvPr/>
        </p:nvSpPr>
        <p:spPr>
          <a:xfrm>
            <a:off x="856792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Team Jerseys  •  أطقم الفريق</a:t>
            </a:r>
            <a:endParaRPr lang="en-US" sz="1050" dirty="0"/>
          </a:p>
        </p:txBody>
      </p:sp>
      <p:sp>
        <p:nvSpPr>
          <p:cNvPr id="17" name="Shape 13"/>
          <p:cNvSpPr/>
          <p:nvPr/>
        </p:nvSpPr>
        <p:spPr>
          <a:xfrm>
            <a:off x="5257800" y="4416552"/>
            <a:ext cx="82296" cy="82296"/>
          </a:xfrm>
          <a:prstGeom prst="ellipse">
            <a:avLst/>
          </a:prstGeom>
          <a:solidFill>
            <a:srgbClr val="14532D"/>
          </a:solidFill>
          <a:ln/>
        </p:spPr>
      </p:sp>
      <p:sp>
        <p:nvSpPr>
          <p:cNvPr id="18" name="Text 14"/>
          <p:cNvSpPr/>
          <p:nvPr/>
        </p:nvSpPr>
        <p:spPr>
          <a:xfrm>
            <a:off x="545896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Nets &amp; Training Gear  •  الشباك ومعدات التدريب</a:t>
            </a:r>
            <a:endParaRPr lang="en-US" sz="1050" dirty="0"/>
          </a:p>
        </p:txBody>
      </p:sp>
      <p:sp>
        <p:nvSpPr>
          <p:cNvPr id="19" name="Shape 15"/>
          <p:cNvSpPr/>
          <p:nvPr/>
        </p:nvSpPr>
        <p:spPr>
          <a:xfrm>
            <a:off x="8366760" y="4416552"/>
            <a:ext cx="82296" cy="82296"/>
          </a:xfrm>
          <a:prstGeom prst="ellipse">
            <a:avLst/>
          </a:prstGeom>
          <a:solidFill>
            <a:srgbClr val="14532D"/>
          </a:solidFill>
          <a:ln/>
        </p:spPr>
      </p:sp>
      <p:sp>
        <p:nvSpPr>
          <p:cNvPr id="20" name="Text 16"/>
          <p:cNvSpPr/>
          <p:nvPr/>
        </p:nvSpPr>
        <p:spPr>
          <a:xfrm>
            <a:off x="856792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Balls  •  الكرات</a:t>
            </a:r>
            <a:endParaRPr lang="en-US" sz="1050" dirty="0"/>
          </a:p>
        </p:txBody>
      </p:sp>
      <p:sp>
        <p:nvSpPr>
          <p:cNvPr id="21" name="Text 17"/>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16 / 26</a:t>
            </a:r>
            <a:endParaRPr lang="en-US" sz="900" dirty="0"/>
          </a:p>
        </p:txBody>
      </p:sp>
      <p:sp>
        <p:nvSpPr>
          <p:cNvPr id="22" name="Text 18"/>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Team Sports   |   الرياضات الجماعية</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9244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9555480" y="2880360"/>
            <a:ext cx="457200" cy="457200"/>
          </a:xfrm>
          <a:prstGeom prst="rect">
            <a:avLst/>
          </a:prstGeom>
        </p:spPr>
      </p:pic>
      <p:sp>
        <p:nvSpPr>
          <p:cNvPr id="4" name="Text 1"/>
          <p:cNvSpPr/>
          <p:nvPr/>
        </p:nvSpPr>
        <p:spPr>
          <a:xfrm>
            <a:off x="836676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kids playing sport / family lifestyle shot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أطفال يمارسون الرياضة أو أجواء عائلية</a:t>
            </a:r>
            <a:endParaRPr lang="en-US" sz="1100" dirty="0"/>
          </a:p>
        </p:txBody>
      </p:sp>
      <p:sp>
        <p:nvSpPr>
          <p:cNvPr id="5" name="Text 2"/>
          <p:cNvSpPr/>
          <p:nvPr/>
        </p:nvSpPr>
        <p:spPr>
          <a:xfrm>
            <a:off x="73152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17</a:t>
            </a:r>
            <a:endParaRPr lang="en-US" sz="2000" dirty="0"/>
          </a:p>
        </p:txBody>
      </p:sp>
      <p:sp>
        <p:nvSpPr>
          <p:cNvPr id="6" name="Shape 3"/>
          <p:cNvSpPr/>
          <p:nvPr/>
        </p:nvSpPr>
        <p:spPr>
          <a:xfrm>
            <a:off x="731520" y="1051560"/>
            <a:ext cx="685800" cy="685800"/>
          </a:xfrm>
          <a:prstGeom prst="ellipse">
            <a:avLst/>
          </a:prstGeom>
          <a:solidFill>
            <a:srgbClr val="14532D"/>
          </a:solidFill>
          <a:ln/>
        </p:spPr>
      </p:sp>
      <p:pic>
        <p:nvPicPr>
          <p:cNvPr id="7" name="Image 1" descr="/tmp/claude-0/-home-user-Alhisan-alriyadi/26da07a5-a74a-5428-98ab-1d407f05d509/scratchpad/profile-deck/icons/child.png">    </p:cNvPr>
          <p:cNvPicPr>
            <a:picLocks noChangeAspect="1"/>
          </p:cNvPicPr>
          <p:nvPr/>
        </p:nvPicPr>
        <p:blipFill>
          <a:blip r:embed="rId2"/>
          <a:stretch>
            <a:fillRect/>
          </a:stretch>
        </p:blipFill>
        <p:spPr>
          <a:xfrm>
            <a:off x="896112" y="1216152"/>
            <a:ext cx="356616" cy="356616"/>
          </a:xfrm>
          <a:prstGeom prst="rect">
            <a:avLst/>
          </a:prstGeom>
        </p:spPr>
      </p:pic>
      <p:sp>
        <p:nvSpPr>
          <p:cNvPr id="8" name="Text 4"/>
          <p:cNvSpPr/>
          <p:nvPr/>
        </p:nvSpPr>
        <p:spPr>
          <a:xfrm>
            <a:off x="160020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Kids &amp; Family</a:t>
            </a:r>
            <a:endParaRPr lang="en-US" sz="2400" dirty="0"/>
          </a:p>
        </p:txBody>
      </p:sp>
      <p:sp>
        <p:nvSpPr>
          <p:cNvPr id="9" name="Text 5"/>
          <p:cNvSpPr/>
          <p:nvPr/>
        </p:nvSpPr>
        <p:spPr>
          <a:xfrm>
            <a:off x="160020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الأطفال والعائلة</a:t>
            </a:r>
            <a:endParaRPr lang="en-US" sz="1500" dirty="0"/>
          </a:p>
        </p:txBody>
      </p:sp>
      <p:sp>
        <p:nvSpPr>
          <p:cNvPr id="10" name="Text 6"/>
          <p:cNvSpPr/>
          <p:nvPr/>
        </p:nvSpPr>
        <p:spPr>
          <a:xfrm>
            <a:off x="73152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Sportswear and gear sized for young athletes, built for play and durability.</a:t>
            </a:r>
            <a:endParaRPr lang="en-US" sz="1150" dirty="0"/>
          </a:p>
        </p:txBody>
      </p:sp>
      <p:sp>
        <p:nvSpPr>
          <p:cNvPr id="11" name="Text 7"/>
          <p:cNvSpPr/>
          <p:nvPr/>
        </p:nvSpPr>
        <p:spPr>
          <a:xfrm>
            <a:off x="73152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ملابس ومعدات رياضية بمقاسات مناسبة للرياضيين الصغار، مصممة للّعب والمتانة.</a:t>
            </a:r>
            <a:endParaRPr lang="en-US" sz="1100" dirty="0"/>
          </a:p>
        </p:txBody>
      </p:sp>
      <p:sp>
        <p:nvSpPr>
          <p:cNvPr id="12" name="Text 8"/>
          <p:cNvSpPr/>
          <p:nvPr/>
        </p:nvSpPr>
        <p:spPr>
          <a:xfrm>
            <a:off x="73152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731520" y="3959352"/>
            <a:ext cx="82296" cy="82296"/>
          </a:xfrm>
          <a:prstGeom prst="ellipse">
            <a:avLst/>
          </a:prstGeom>
          <a:solidFill>
            <a:srgbClr val="14532D"/>
          </a:solidFill>
          <a:ln/>
        </p:spPr>
      </p:sp>
      <p:sp>
        <p:nvSpPr>
          <p:cNvPr id="14" name="Text 10"/>
          <p:cNvSpPr/>
          <p:nvPr/>
        </p:nvSpPr>
        <p:spPr>
          <a:xfrm>
            <a:off x="93268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Kids Sportswear  •  ملابس رياضية للأطفال</a:t>
            </a:r>
            <a:endParaRPr lang="en-US" sz="1050" dirty="0"/>
          </a:p>
        </p:txBody>
      </p:sp>
      <p:sp>
        <p:nvSpPr>
          <p:cNvPr id="15" name="Shape 11"/>
          <p:cNvSpPr/>
          <p:nvPr/>
        </p:nvSpPr>
        <p:spPr>
          <a:xfrm>
            <a:off x="3840480" y="3959352"/>
            <a:ext cx="82296" cy="82296"/>
          </a:xfrm>
          <a:prstGeom prst="ellipse">
            <a:avLst/>
          </a:prstGeom>
          <a:solidFill>
            <a:srgbClr val="14532D"/>
          </a:solidFill>
          <a:ln/>
        </p:spPr>
      </p:sp>
      <p:sp>
        <p:nvSpPr>
          <p:cNvPr id="16" name="Text 12"/>
          <p:cNvSpPr/>
          <p:nvPr/>
        </p:nvSpPr>
        <p:spPr>
          <a:xfrm>
            <a:off x="404164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Mini Equipment  •  معدات مصغّرة</a:t>
            </a:r>
            <a:endParaRPr lang="en-US" sz="1050" dirty="0"/>
          </a:p>
        </p:txBody>
      </p:sp>
      <p:sp>
        <p:nvSpPr>
          <p:cNvPr id="17" name="Shape 13"/>
          <p:cNvSpPr/>
          <p:nvPr/>
        </p:nvSpPr>
        <p:spPr>
          <a:xfrm>
            <a:off x="731520" y="4416552"/>
            <a:ext cx="82296" cy="82296"/>
          </a:xfrm>
          <a:prstGeom prst="ellipse">
            <a:avLst/>
          </a:prstGeom>
          <a:solidFill>
            <a:srgbClr val="14532D"/>
          </a:solidFill>
          <a:ln/>
        </p:spPr>
      </p:sp>
      <p:sp>
        <p:nvSpPr>
          <p:cNvPr id="18" name="Text 14"/>
          <p:cNvSpPr/>
          <p:nvPr/>
        </p:nvSpPr>
        <p:spPr>
          <a:xfrm>
            <a:off x="93268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Kids Footwear  •  أحذية الأطفال</a:t>
            </a:r>
            <a:endParaRPr lang="en-US" sz="1050" dirty="0"/>
          </a:p>
        </p:txBody>
      </p:sp>
      <p:sp>
        <p:nvSpPr>
          <p:cNvPr id="19" name="Shape 15"/>
          <p:cNvSpPr/>
          <p:nvPr/>
        </p:nvSpPr>
        <p:spPr>
          <a:xfrm>
            <a:off x="3840480" y="4416552"/>
            <a:ext cx="82296" cy="82296"/>
          </a:xfrm>
          <a:prstGeom prst="ellipse">
            <a:avLst/>
          </a:prstGeom>
          <a:solidFill>
            <a:srgbClr val="14532D"/>
          </a:solidFill>
          <a:ln/>
        </p:spPr>
      </p:sp>
      <p:sp>
        <p:nvSpPr>
          <p:cNvPr id="20" name="Text 16"/>
          <p:cNvSpPr/>
          <p:nvPr/>
        </p:nvSpPr>
        <p:spPr>
          <a:xfrm>
            <a:off x="404164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Family Bags &amp; Accessories  •  حقائب ومستلزمات عائلية</a:t>
            </a:r>
            <a:endParaRPr lang="en-US" sz="1050" dirty="0"/>
          </a:p>
        </p:txBody>
      </p:sp>
      <p:sp>
        <p:nvSpPr>
          <p:cNvPr id="21" name="Text 17"/>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17 / 26</a:t>
            </a:r>
            <a:endParaRPr lang="en-US" sz="900" dirty="0"/>
          </a:p>
        </p:txBody>
      </p:sp>
      <p:sp>
        <p:nvSpPr>
          <p:cNvPr id="22" name="Text 18"/>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Kids &amp; Family   |   الأطفال والعائلة</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2194560" y="2880360"/>
            <a:ext cx="457200" cy="457200"/>
          </a:xfrm>
          <a:prstGeom prst="rect">
            <a:avLst/>
          </a:prstGeom>
        </p:spPr>
      </p:pic>
      <p:sp>
        <p:nvSpPr>
          <p:cNvPr id="4" name="Text 1"/>
          <p:cNvSpPr/>
          <p:nvPr/>
        </p:nvSpPr>
        <p:spPr>
          <a:xfrm>
            <a:off x="100584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desert / outdoor camping lifestyle shot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أجواء تخييم أو نشاط خارجي</a:t>
            </a:r>
            <a:endParaRPr lang="en-US" sz="1100" dirty="0"/>
          </a:p>
        </p:txBody>
      </p:sp>
      <p:sp>
        <p:nvSpPr>
          <p:cNvPr id="5" name="Text 2"/>
          <p:cNvSpPr/>
          <p:nvPr/>
        </p:nvSpPr>
        <p:spPr>
          <a:xfrm>
            <a:off x="525780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18</a:t>
            </a:r>
            <a:endParaRPr lang="en-US" sz="2000" dirty="0"/>
          </a:p>
        </p:txBody>
      </p:sp>
      <p:sp>
        <p:nvSpPr>
          <p:cNvPr id="6" name="Shape 3"/>
          <p:cNvSpPr/>
          <p:nvPr/>
        </p:nvSpPr>
        <p:spPr>
          <a:xfrm>
            <a:off x="5257800" y="1051560"/>
            <a:ext cx="685800" cy="685800"/>
          </a:xfrm>
          <a:prstGeom prst="ellipse">
            <a:avLst/>
          </a:prstGeom>
          <a:solidFill>
            <a:srgbClr val="14532D"/>
          </a:solidFill>
          <a:ln/>
        </p:spPr>
      </p:sp>
      <p:pic>
        <p:nvPicPr>
          <p:cNvPr id="7" name="Image 1" descr="/tmp/claude-0/-home-user-Alhisan-alriyadi/26da07a5-a74a-5428-98ab-1d407f05d509/scratchpad/profile-deck/icons/tent.png">    </p:cNvPr>
          <p:cNvPicPr>
            <a:picLocks noChangeAspect="1"/>
          </p:cNvPicPr>
          <p:nvPr/>
        </p:nvPicPr>
        <p:blipFill>
          <a:blip r:embed="rId2"/>
          <a:stretch>
            <a:fillRect/>
          </a:stretch>
        </p:blipFill>
        <p:spPr>
          <a:xfrm>
            <a:off x="5422392" y="1216152"/>
            <a:ext cx="356616" cy="356616"/>
          </a:xfrm>
          <a:prstGeom prst="rect">
            <a:avLst/>
          </a:prstGeom>
        </p:spPr>
      </p:pic>
      <p:sp>
        <p:nvSpPr>
          <p:cNvPr id="8" name="Text 4"/>
          <p:cNvSpPr/>
          <p:nvPr/>
        </p:nvSpPr>
        <p:spPr>
          <a:xfrm>
            <a:off x="612648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Camping &amp; Outdoor</a:t>
            </a:r>
            <a:endParaRPr lang="en-US" sz="2400" dirty="0"/>
          </a:p>
        </p:txBody>
      </p:sp>
      <p:sp>
        <p:nvSpPr>
          <p:cNvPr id="9" name="Text 5"/>
          <p:cNvSpPr/>
          <p:nvPr/>
        </p:nvSpPr>
        <p:spPr>
          <a:xfrm>
            <a:off x="612648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المخيمات والأنشطة الخارجية</a:t>
            </a:r>
            <a:endParaRPr lang="en-US" sz="1500" dirty="0"/>
          </a:p>
        </p:txBody>
      </p:sp>
      <p:sp>
        <p:nvSpPr>
          <p:cNvPr id="10" name="Text 6"/>
          <p:cNvSpPr/>
          <p:nvPr/>
        </p:nvSpPr>
        <p:spPr>
          <a:xfrm>
            <a:off x="525780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Gear for weekend getaways and outdoor adventures across the Kingdom's landscapes.</a:t>
            </a:r>
            <a:endParaRPr lang="en-US" sz="1150" dirty="0"/>
          </a:p>
        </p:txBody>
      </p:sp>
      <p:sp>
        <p:nvSpPr>
          <p:cNvPr id="11" name="Text 7"/>
          <p:cNvSpPr/>
          <p:nvPr/>
        </p:nvSpPr>
        <p:spPr>
          <a:xfrm>
            <a:off x="525780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معدات لرحلات نهاية الأسبوع والمغامرات الخارجية في مختلف مناطق المملكة.</a:t>
            </a:r>
            <a:endParaRPr lang="en-US" sz="1100" dirty="0"/>
          </a:p>
        </p:txBody>
      </p:sp>
      <p:sp>
        <p:nvSpPr>
          <p:cNvPr id="12" name="Text 8"/>
          <p:cNvSpPr/>
          <p:nvPr/>
        </p:nvSpPr>
        <p:spPr>
          <a:xfrm>
            <a:off x="525780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5257800" y="3959352"/>
            <a:ext cx="82296" cy="82296"/>
          </a:xfrm>
          <a:prstGeom prst="ellipse">
            <a:avLst/>
          </a:prstGeom>
          <a:solidFill>
            <a:srgbClr val="14532D"/>
          </a:solidFill>
          <a:ln/>
        </p:spPr>
      </p:sp>
      <p:sp>
        <p:nvSpPr>
          <p:cNvPr id="14" name="Text 10"/>
          <p:cNvSpPr/>
          <p:nvPr/>
        </p:nvSpPr>
        <p:spPr>
          <a:xfrm>
            <a:off x="545896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Tents  •  الخيام</a:t>
            </a:r>
            <a:endParaRPr lang="en-US" sz="1050" dirty="0"/>
          </a:p>
        </p:txBody>
      </p:sp>
      <p:sp>
        <p:nvSpPr>
          <p:cNvPr id="15" name="Shape 11"/>
          <p:cNvSpPr/>
          <p:nvPr/>
        </p:nvSpPr>
        <p:spPr>
          <a:xfrm>
            <a:off x="8366760" y="3959352"/>
            <a:ext cx="82296" cy="82296"/>
          </a:xfrm>
          <a:prstGeom prst="ellipse">
            <a:avLst/>
          </a:prstGeom>
          <a:solidFill>
            <a:srgbClr val="14532D"/>
          </a:solidFill>
          <a:ln/>
        </p:spPr>
      </p:sp>
      <p:sp>
        <p:nvSpPr>
          <p:cNvPr id="16" name="Text 12"/>
          <p:cNvSpPr/>
          <p:nvPr/>
        </p:nvSpPr>
        <p:spPr>
          <a:xfrm>
            <a:off x="856792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Sleeping Bags  •  أكياس النوم</a:t>
            </a:r>
            <a:endParaRPr lang="en-US" sz="1050" dirty="0"/>
          </a:p>
        </p:txBody>
      </p:sp>
      <p:sp>
        <p:nvSpPr>
          <p:cNvPr id="17" name="Shape 13"/>
          <p:cNvSpPr/>
          <p:nvPr/>
        </p:nvSpPr>
        <p:spPr>
          <a:xfrm>
            <a:off x="5257800" y="4416552"/>
            <a:ext cx="82296" cy="82296"/>
          </a:xfrm>
          <a:prstGeom prst="ellipse">
            <a:avLst/>
          </a:prstGeom>
          <a:solidFill>
            <a:srgbClr val="14532D"/>
          </a:solidFill>
          <a:ln/>
        </p:spPr>
      </p:sp>
      <p:sp>
        <p:nvSpPr>
          <p:cNvPr id="18" name="Text 14"/>
          <p:cNvSpPr/>
          <p:nvPr/>
        </p:nvSpPr>
        <p:spPr>
          <a:xfrm>
            <a:off x="545896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Backpacks  •  حقائب الظهر</a:t>
            </a:r>
            <a:endParaRPr lang="en-US" sz="1050" dirty="0"/>
          </a:p>
        </p:txBody>
      </p:sp>
      <p:sp>
        <p:nvSpPr>
          <p:cNvPr id="19" name="Shape 15"/>
          <p:cNvSpPr/>
          <p:nvPr/>
        </p:nvSpPr>
        <p:spPr>
          <a:xfrm>
            <a:off x="8366760" y="4416552"/>
            <a:ext cx="82296" cy="82296"/>
          </a:xfrm>
          <a:prstGeom prst="ellipse">
            <a:avLst/>
          </a:prstGeom>
          <a:solidFill>
            <a:srgbClr val="14532D"/>
          </a:solidFill>
          <a:ln/>
        </p:spPr>
      </p:sp>
      <p:sp>
        <p:nvSpPr>
          <p:cNvPr id="20" name="Text 16"/>
          <p:cNvSpPr/>
          <p:nvPr/>
        </p:nvSpPr>
        <p:spPr>
          <a:xfrm>
            <a:off x="856792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Outdoor Accessories  •  مستلزمات الأنشطة الخارجية</a:t>
            </a:r>
            <a:endParaRPr lang="en-US" sz="1050" dirty="0"/>
          </a:p>
        </p:txBody>
      </p:sp>
      <p:sp>
        <p:nvSpPr>
          <p:cNvPr id="21" name="Text 17"/>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18 / 26</a:t>
            </a:r>
            <a:endParaRPr lang="en-US" sz="900" dirty="0"/>
          </a:p>
        </p:txBody>
      </p:sp>
      <p:sp>
        <p:nvSpPr>
          <p:cNvPr id="22" name="Text 18"/>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Camping &amp; Outdoor   |   المخيمات والأنشطة الخارجية</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9244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9555480" y="2880360"/>
            <a:ext cx="457200" cy="457200"/>
          </a:xfrm>
          <a:prstGeom prst="rect">
            <a:avLst/>
          </a:prstGeom>
        </p:spPr>
      </p:pic>
      <p:sp>
        <p:nvSpPr>
          <p:cNvPr id="4" name="Text 1"/>
          <p:cNvSpPr/>
          <p:nvPr/>
        </p:nvSpPr>
        <p:spPr>
          <a:xfrm>
            <a:off x="836676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activewear lookbook / lifestyle photography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عرض أزياء رياضية أو أجواء حياتية</a:t>
            </a:r>
            <a:endParaRPr lang="en-US" sz="1100" dirty="0"/>
          </a:p>
        </p:txBody>
      </p:sp>
      <p:sp>
        <p:nvSpPr>
          <p:cNvPr id="5" name="Text 2"/>
          <p:cNvSpPr/>
          <p:nvPr/>
        </p:nvSpPr>
        <p:spPr>
          <a:xfrm>
            <a:off x="73152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19</a:t>
            </a:r>
            <a:endParaRPr lang="en-US" sz="2000" dirty="0"/>
          </a:p>
        </p:txBody>
      </p:sp>
      <p:sp>
        <p:nvSpPr>
          <p:cNvPr id="6" name="Shape 3"/>
          <p:cNvSpPr/>
          <p:nvPr/>
        </p:nvSpPr>
        <p:spPr>
          <a:xfrm>
            <a:off x="731520" y="1051560"/>
            <a:ext cx="685800" cy="685800"/>
          </a:xfrm>
          <a:prstGeom prst="ellipse">
            <a:avLst/>
          </a:prstGeom>
          <a:solidFill>
            <a:srgbClr val="14532D"/>
          </a:solidFill>
          <a:ln/>
        </p:spPr>
      </p:sp>
      <p:pic>
        <p:nvPicPr>
          <p:cNvPr id="7" name="Image 1" descr="/tmp/claude-0/-home-user-Alhisan-alriyadi/26da07a5-a74a-5428-98ab-1d407f05d509/scratchpad/profile-deck/icons/tshirt.png">    </p:cNvPr>
          <p:cNvPicPr>
            <a:picLocks noChangeAspect="1"/>
          </p:cNvPicPr>
          <p:nvPr/>
        </p:nvPicPr>
        <p:blipFill>
          <a:blip r:embed="rId2"/>
          <a:stretch>
            <a:fillRect/>
          </a:stretch>
        </p:blipFill>
        <p:spPr>
          <a:xfrm>
            <a:off x="896112" y="1216152"/>
            <a:ext cx="356616" cy="356616"/>
          </a:xfrm>
          <a:prstGeom prst="rect">
            <a:avLst/>
          </a:prstGeom>
        </p:spPr>
      </p:pic>
      <p:sp>
        <p:nvSpPr>
          <p:cNvPr id="8" name="Text 4"/>
          <p:cNvSpPr/>
          <p:nvPr/>
        </p:nvSpPr>
        <p:spPr>
          <a:xfrm>
            <a:off x="160020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Sportswear</a:t>
            </a:r>
            <a:endParaRPr lang="en-US" sz="2400" dirty="0"/>
          </a:p>
        </p:txBody>
      </p:sp>
      <p:sp>
        <p:nvSpPr>
          <p:cNvPr id="9" name="Text 5"/>
          <p:cNvSpPr/>
          <p:nvPr/>
        </p:nvSpPr>
        <p:spPr>
          <a:xfrm>
            <a:off x="160020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الملابس الرياضية</a:t>
            </a:r>
            <a:endParaRPr lang="en-US" sz="1500" dirty="0"/>
          </a:p>
        </p:txBody>
      </p:sp>
      <p:sp>
        <p:nvSpPr>
          <p:cNvPr id="10" name="Text 6"/>
          <p:cNvSpPr/>
          <p:nvPr/>
        </p:nvSpPr>
        <p:spPr>
          <a:xfrm>
            <a:off x="73152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Activewear for men, women and kids — including modest sportswear options for every lifestyle.</a:t>
            </a:r>
            <a:endParaRPr lang="en-US" sz="1150" dirty="0"/>
          </a:p>
        </p:txBody>
      </p:sp>
      <p:sp>
        <p:nvSpPr>
          <p:cNvPr id="11" name="Text 7"/>
          <p:cNvSpPr/>
          <p:nvPr/>
        </p:nvSpPr>
        <p:spPr>
          <a:xfrm>
            <a:off x="73152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ملابس رياضية للرجال والنساء والأطفال — بما في ذلك خيارات الملابس الرياضية المحتشمة لكل أسلوب حياة.</a:t>
            </a:r>
            <a:endParaRPr lang="en-US" sz="1100" dirty="0"/>
          </a:p>
        </p:txBody>
      </p:sp>
      <p:sp>
        <p:nvSpPr>
          <p:cNvPr id="12" name="Text 8"/>
          <p:cNvSpPr/>
          <p:nvPr/>
        </p:nvSpPr>
        <p:spPr>
          <a:xfrm>
            <a:off x="73152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731520" y="3959352"/>
            <a:ext cx="82296" cy="82296"/>
          </a:xfrm>
          <a:prstGeom prst="ellipse">
            <a:avLst/>
          </a:prstGeom>
          <a:solidFill>
            <a:srgbClr val="14532D"/>
          </a:solidFill>
          <a:ln/>
        </p:spPr>
      </p:sp>
      <p:sp>
        <p:nvSpPr>
          <p:cNvPr id="14" name="Text 10"/>
          <p:cNvSpPr/>
          <p:nvPr/>
        </p:nvSpPr>
        <p:spPr>
          <a:xfrm>
            <a:off x="93268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Men's Activewear  •  ملابس رياضية للرجال</a:t>
            </a:r>
            <a:endParaRPr lang="en-US" sz="1050" dirty="0"/>
          </a:p>
        </p:txBody>
      </p:sp>
      <p:sp>
        <p:nvSpPr>
          <p:cNvPr id="15" name="Shape 11"/>
          <p:cNvSpPr/>
          <p:nvPr/>
        </p:nvSpPr>
        <p:spPr>
          <a:xfrm>
            <a:off x="3840480" y="3959352"/>
            <a:ext cx="82296" cy="82296"/>
          </a:xfrm>
          <a:prstGeom prst="ellipse">
            <a:avLst/>
          </a:prstGeom>
          <a:solidFill>
            <a:srgbClr val="14532D"/>
          </a:solidFill>
          <a:ln/>
        </p:spPr>
      </p:sp>
      <p:sp>
        <p:nvSpPr>
          <p:cNvPr id="16" name="Text 12"/>
          <p:cNvSpPr/>
          <p:nvPr/>
        </p:nvSpPr>
        <p:spPr>
          <a:xfrm>
            <a:off x="404164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Women's Activewear  •  ملابس رياضية للنساء</a:t>
            </a:r>
            <a:endParaRPr lang="en-US" sz="1050" dirty="0"/>
          </a:p>
        </p:txBody>
      </p:sp>
      <p:sp>
        <p:nvSpPr>
          <p:cNvPr id="17" name="Shape 13"/>
          <p:cNvSpPr/>
          <p:nvPr/>
        </p:nvSpPr>
        <p:spPr>
          <a:xfrm>
            <a:off x="731520" y="4416552"/>
            <a:ext cx="82296" cy="82296"/>
          </a:xfrm>
          <a:prstGeom prst="ellipse">
            <a:avLst/>
          </a:prstGeom>
          <a:solidFill>
            <a:srgbClr val="14532D"/>
          </a:solidFill>
          <a:ln/>
        </p:spPr>
      </p:sp>
      <p:sp>
        <p:nvSpPr>
          <p:cNvPr id="18" name="Text 14"/>
          <p:cNvSpPr/>
          <p:nvPr/>
        </p:nvSpPr>
        <p:spPr>
          <a:xfrm>
            <a:off x="93268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Modest Sportswear  •  الملابس الرياضية المحتشمة</a:t>
            </a:r>
            <a:endParaRPr lang="en-US" sz="1050" dirty="0"/>
          </a:p>
        </p:txBody>
      </p:sp>
      <p:sp>
        <p:nvSpPr>
          <p:cNvPr id="19" name="Shape 15"/>
          <p:cNvSpPr/>
          <p:nvPr/>
        </p:nvSpPr>
        <p:spPr>
          <a:xfrm>
            <a:off x="3840480" y="4416552"/>
            <a:ext cx="82296" cy="82296"/>
          </a:xfrm>
          <a:prstGeom prst="ellipse">
            <a:avLst/>
          </a:prstGeom>
          <a:solidFill>
            <a:srgbClr val="14532D"/>
          </a:solidFill>
          <a:ln/>
        </p:spPr>
      </p:sp>
      <p:sp>
        <p:nvSpPr>
          <p:cNvPr id="20" name="Text 16"/>
          <p:cNvSpPr/>
          <p:nvPr/>
        </p:nvSpPr>
        <p:spPr>
          <a:xfrm>
            <a:off x="404164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Kids' Activewear  •  ملابس رياضية للأطفال</a:t>
            </a:r>
            <a:endParaRPr lang="en-US" sz="1050" dirty="0"/>
          </a:p>
        </p:txBody>
      </p:sp>
      <p:sp>
        <p:nvSpPr>
          <p:cNvPr id="21" name="Shape 17"/>
          <p:cNvSpPr/>
          <p:nvPr/>
        </p:nvSpPr>
        <p:spPr>
          <a:xfrm>
            <a:off x="731520" y="4873752"/>
            <a:ext cx="82296" cy="82296"/>
          </a:xfrm>
          <a:prstGeom prst="ellipse">
            <a:avLst/>
          </a:prstGeom>
          <a:solidFill>
            <a:srgbClr val="14532D"/>
          </a:solidFill>
          <a:ln/>
        </p:spPr>
      </p:sp>
      <p:sp>
        <p:nvSpPr>
          <p:cNvPr id="22" name="Text 18"/>
          <p:cNvSpPr/>
          <p:nvPr/>
        </p:nvSpPr>
        <p:spPr>
          <a:xfrm>
            <a:off x="932688" y="47548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Sports Footwear  •  الأحذية الرياضية</a:t>
            </a:r>
            <a:endParaRPr lang="en-US" sz="1050" dirty="0"/>
          </a:p>
        </p:txBody>
      </p:sp>
      <p:sp>
        <p:nvSpPr>
          <p:cNvPr id="23" name="Text 1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19 / 26</a:t>
            </a:r>
            <a:endParaRPr lang="en-US" sz="900" dirty="0"/>
          </a:p>
        </p:txBody>
      </p:sp>
      <p:sp>
        <p:nvSpPr>
          <p:cNvPr id="24" name="Text 2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Sportswear   |   الملابس الرياضية</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40080"/>
            <a:ext cx="3383280" cy="5486400"/>
          </a:xfrm>
          <a:prstGeom prst="roundRect">
            <a:avLst>
              <a:gd name="adj" fmla="val 3243"/>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2194560" y="2880360"/>
            <a:ext cx="457200" cy="457200"/>
          </a:xfrm>
          <a:prstGeom prst="rect">
            <a:avLst/>
          </a:prstGeom>
        </p:spPr>
      </p:pic>
      <p:sp>
        <p:nvSpPr>
          <p:cNvPr id="4" name="Text 1"/>
          <p:cNvSpPr/>
          <p:nvPr/>
        </p:nvSpPr>
        <p:spPr>
          <a:xfrm>
            <a:off x="1005840" y="3337560"/>
            <a:ext cx="2834640" cy="274320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flat-lay of bags, trophies and accessories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تجميعة حقائب وكؤوس وإكسسوارات</a:t>
            </a:r>
            <a:endParaRPr lang="en-US" sz="1100" dirty="0"/>
          </a:p>
        </p:txBody>
      </p:sp>
      <p:sp>
        <p:nvSpPr>
          <p:cNvPr id="5" name="Text 2"/>
          <p:cNvSpPr/>
          <p:nvPr/>
        </p:nvSpPr>
        <p:spPr>
          <a:xfrm>
            <a:off x="5257800" y="457200"/>
            <a:ext cx="1371600" cy="457200"/>
          </a:xfrm>
          <a:prstGeom prst="rect">
            <a:avLst/>
          </a:prstGeom>
          <a:noFill/>
          <a:ln/>
        </p:spPr>
        <p:txBody>
          <a:bodyPr wrap="square" lIns="0" tIns="0" rIns="0" bIns="0" rtlCol="0" anchor="ctr"/>
          <a:lstStyle/>
          <a:p>
            <a:pPr indent="0" marL="0">
              <a:buNone/>
            </a:pPr>
            <a:r>
              <a:rPr lang="en-US" sz="2000" b="1" dirty="0">
                <a:solidFill>
                  <a:srgbClr val="B9CDBF"/>
                </a:solidFill>
                <a:latin typeface="Arial" pitchFamily="34" charset="0"/>
                <a:ea typeface="Arial" pitchFamily="34" charset="-122"/>
                <a:cs typeface="Arial" pitchFamily="34" charset="-120"/>
              </a:rPr>
              <a:t>20</a:t>
            </a:r>
            <a:endParaRPr lang="en-US" sz="2000" dirty="0"/>
          </a:p>
        </p:txBody>
      </p:sp>
      <p:sp>
        <p:nvSpPr>
          <p:cNvPr id="6" name="Shape 3"/>
          <p:cNvSpPr/>
          <p:nvPr/>
        </p:nvSpPr>
        <p:spPr>
          <a:xfrm>
            <a:off x="5257800" y="1051560"/>
            <a:ext cx="685800" cy="685800"/>
          </a:xfrm>
          <a:prstGeom prst="ellipse">
            <a:avLst/>
          </a:prstGeom>
          <a:solidFill>
            <a:srgbClr val="14532D"/>
          </a:solidFill>
          <a:ln/>
        </p:spPr>
      </p:sp>
      <p:pic>
        <p:nvPicPr>
          <p:cNvPr id="7" name="Image 1" descr="/tmp/claude-0/-home-user-Alhisan-alriyadi/26da07a5-a74a-5428-98ab-1d407f05d509/scratchpad/profile-deck/icons/bag.png">    </p:cNvPr>
          <p:cNvPicPr>
            <a:picLocks noChangeAspect="1"/>
          </p:cNvPicPr>
          <p:nvPr/>
        </p:nvPicPr>
        <p:blipFill>
          <a:blip r:embed="rId2"/>
          <a:stretch>
            <a:fillRect/>
          </a:stretch>
        </p:blipFill>
        <p:spPr>
          <a:xfrm>
            <a:off x="5422392" y="1216152"/>
            <a:ext cx="356616" cy="356616"/>
          </a:xfrm>
          <a:prstGeom prst="rect">
            <a:avLst/>
          </a:prstGeom>
        </p:spPr>
      </p:pic>
      <p:sp>
        <p:nvSpPr>
          <p:cNvPr id="8" name="Text 4"/>
          <p:cNvSpPr/>
          <p:nvPr/>
        </p:nvSpPr>
        <p:spPr>
          <a:xfrm>
            <a:off x="6126480" y="1024128"/>
            <a:ext cx="5303520" cy="457200"/>
          </a:xfrm>
          <a:prstGeom prst="rect">
            <a:avLst/>
          </a:prstGeom>
          <a:noFill/>
          <a:ln/>
        </p:spPr>
        <p:txBody>
          <a:bodyPr wrap="square" lIns="0" tIns="0" rIns="0" bIns="0" rtlCol="0" anchor="ctr"/>
          <a:lstStyle/>
          <a:p>
            <a:pPr indent="0" marL="0">
              <a:buNone/>
            </a:pPr>
            <a:r>
              <a:rPr lang="en-US" sz="2400" b="1" dirty="0">
                <a:solidFill>
                  <a:srgbClr val="171717"/>
                </a:solidFill>
                <a:latin typeface="Arial" pitchFamily="34" charset="0"/>
                <a:ea typeface="Arial" pitchFamily="34" charset="-122"/>
                <a:cs typeface="Arial" pitchFamily="34" charset="-120"/>
              </a:rPr>
              <a:t>Accessories &amp; Equipment</a:t>
            </a:r>
            <a:endParaRPr lang="en-US" sz="2400" dirty="0"/>
          </a:p>
        </p:txBody>
      </p:sp>
      <p:sp>
        <p:nvSpPr>
          <p:cNvPr id="9" name="Text 5"/>
          <p:cNvSpPr/>
          <p:nvPr/>
        </p:nvSpPr>
        <p:spPr>
          <a:xfrm>
            <a:off x="6126480" y="1481328"/>
            <a:ext cx="5303520" cy="36576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الإكسسوارات والمعدات</a:t>
            </a:r>
            <a:endParaRPr lang="en-US" sz="1500" dirty="0"/>
          </a:p>
        </p:txBody>
      </p:sp>
      <p:sp>
        <p:nvSpPr>
          <p:cNvPr id="10" name="Text 6"/>
          <p:cNvSpPr/>
          <p:nvPr/>
        </p:nvSpPr>
        <p:spPr>
          <a:xfrm>
            <a:off x="5257800" y="2057400"/>
            <a:ext cx="6126480" cy="548640"/>
          </a:xfrm>
          <a:prstGeom prst="rect">
            <a:avLst/>
          </a:prstGeom>
          <a:noFill/>
          <a:ln/>
        </p:spPr>
        <p:txBody>
          <a:bodyPr wrap="square" lIns="0" tIns="0" rIns="0" bIns="0" rtlCol="0" anchor="ctr"/>
          <a:lstStyle/>
          <a:p>
            <a:pPr indent="0" marL="0">
              <a:lnSpc>
                <a:spcPct val="120000"/>
              </a:lnSpc>
              <a:buNone/>
            </a:pPr>
            <a:r>
              <a:rPr lang="en-US" sz="1150" dirty="0">
                <a:solidFill>
                  <a:srgbClr val="404040"/>
                </a:solidFill>
                <a:latin typeface="Calibri" pitchFamily="34" charset="0"/>
                <a:ea typeface="Calibri" pitchFamily="34" charset="-122"/>
                <a:cs typeface="Calibri" pitchFamily="34" charset="-120"/>
              </a:rPr>
              <a:t>The essentials that complete every athlete's kit — bags, protection, and recognition.</a:t>
            </a:r>
            <a:endParaRPr lang="en-US" sz="1150" dirty="0"/>
          </a:p>
        </p:txBody>
      </p:sp>
      <p:sp>
        <p:nvSpPr>
          <p:cNvPr id="11" name="Text 7"/>
          <p:cNvSpPr/>
          <p:nvPr/>
        </p:nvSpPr>
        <p:spPr>
          <a:xfrm>
            <a:off x="5257800" y="2697480"/>
            <a:ext cx="6126480" cy="502920"/>
          </a:xfrm>
          <a:prstGeom prst="rect">
            <a:avLst/>
          </a:prstGeom>
          <a:noFill/>
          <a:ln/>
        </p:spPr>
        <p:txBody>
          <a:bodyPr wrap="square" lIns="0" tIns="0" rIns="0" bIns="0" rtlCol="0" anchor="ctr"/>
          <a:lstStyle/>
          <a:p>
            <a:pPr algn="r" indent="0" marL="0">
              <a:lnSpc>
                <a:spcPct val="125000"/>
              </a:lnSpc>
              <a:buNone/>
            </a:pPr>
            <a:r>
              <a:rPr lang="en-US" sz="1100" dirty="0">
                <a:solidFill>
                  <a:srgbClr val="404040"/>
                </a:solidFill>
                <a:latin typeface="Calibri" pitchFamily="34" charset="0"/>
                <a:ea typeface="Calibri" pitchFamily="34" charset="-122"/>
                <a:cs typeface="Calibri" pitchFamily="34" charset="-120"/>
              </a:rPr>
              <a:t>الأساسيات التي تكمّل عدة كل رياضي — الحقائب، الحماية، والتكريم.</a:t>
            </a:r>
            <a:endParaRPr lang="en-US" sz="1100" dirty="0"/>
          </a:p>
        </p:txBody>
      </p:sp>
      <p:sp>
        <p:nvSpPr>
          <p:cNvPr id="12" name="Text 8"/>
          <p:cNvSpPr/>
          <p:nvPr/>
        </p:nvSpPr>
        <p:spPr>
          <a:xfrm>
            <a:off x="5257800" y="3383280"/>
            <a:ext cx="6126480" cy="320040"/>
          </a:xfrm>
          <a:prstGeom prst="rect">
            <a:avLst/>
          </a:prstGeom>
          <a:noFill/>
          <a:ln/>
        </p:spPr>
        <p:txBody>
          <a:bodyPr wrap="square" lIns="0" tIns="0" rIns="0" bIns="0" rtlCol="0" anchor="ctr"/>
          <a:lstStyle/>
          <a:p>
            <a:pPr indent="0" marL="0">
              <a:buNone/>
            </a:pPr>
            <a:r>
              <a:rPr lang="en-US" sz="1150" b="1" dirty="0">
                <a:solidFill>
                  <a:srgbClr val="171717"/>
                </a:solidFill>
                <a:latin typeface="Calibri" pitchFamily="34" charset="0"/>
                <a:ea typeface="Calibri" pitchFamily="34" charset="-122"/>
                <a:cs typeface="Calibri" pitchFamily="34" charset="-120"/>
              </a:rPr>
              <a:t>What We Offer   |   ماذا نقدّم</a:t>
            </a:r>
            <a:endParaRPr lang="en-US" sz="1150" dirty="0"/>
          </a:p>
        </p:txBody>
      </p:sp>
      <p:sp>
        <p:nvSpPr>
          <p:cNvPr id="13" name="Shape 9"/>
          <p:cNvSpPr/>
          <p:nvPr/>
        </p:nvSpPr>
        <p:spPr>
          <a:xfrm>
            <a:off x="5257800" y="3959352"/>
            <a:ext cx="82296" cy="82296"/>
          </a:xfrm>
          <a:prstGeom prst="ellipse">
            <a:avLst/>
          </a:prstGeom>
          <a:solidFill>
            <a:srgbClr val="14532D"/>
          </a:solidFill>
          <a:ln/>
        </p:spPr>
      </p:sp>
      <p:sp>
        <p:nvSpPr>
          <p:cNvPr id="14" name="Text 10"/>
          <p:cNvSpPr/>
          <p:nvPr/>
        </p:nvSpPr>
        <p:spPr>
          <a:xfrm>
            <a:off x="545896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Sports Bags  •  الحقائب الرياضية</a:t>
            </a:r>
            <a:endParaRPr lang="en-US" sz="1050" dirty="0"/>
          </a:p>
        </p:txBody>
      </p:sp>
      <p:sp>
        <p:nvSpPr>
          <p:cNvPr id="15" name="Shape 11"/>
          <p:cNvSpPr/>
          <p:nvPr/>
        </p:nvSpPr>
        <p:spPr>
          <a:xfrm>
            <a:off x="8366760" y="3959352"/>
            <a:ext cx="82296" cy="82296"/>
          </a:xfrm>
          <a:prstGeom prst="ellipse">
            <a:avLst/>
          </a:prstGeom>
          <a:solidFill>
            <a:srgbClr val="14532D"/>
          </a:solidFill>
          <a:ln/>
        </p:spPr>
      </p:sp>
      <p:sp>
        <p:nvSpPr>
          <p:cNvPr id="16" name="Text 12"/>
          <p:cNvSpPr/>
          <p:nvPr/>
        </p:nvSpPr>
        <p:spPr>
          <a:xfrm>
            <a:off x="8567928" y="38404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Gloves  •  القفازات</a:t>
            </a:r>
            <a:endParaRPr lang="en-US" sz="1050" dirty="0"/>
          </a:p>
        </p:txBody>
      </p:sp>
      <p:sp>
        <p:nvSpPr>
          <p:cNvPr id="17" name="Shape 13"/>
          <p:cNvSpPr/>
          <p:nvPr/>
        </p:nvSpPr>
        <p:spPr>
          <a:xfrm>
            <a:off x="5257800" y="4416552"/>
            <a:ext cx="82296" cy="82296"/>
          </a:xfrm>
          <a:prstGeom prst="ellipse">
            <a:avLst/>
          </a:prstGeom>
          <a:solidFill>
            <a:srgbClr val="14532D"/>
          </a:solidFill>
          <a:ln/>
        </p:spPr>
      </p:sp>
      <p:sp>
        <p:nvSpPr>
          <p:cNvPr id="18" name="Text 14"/>
          <p:cNvSpPr/>
          <p:nvPr/>
        </p:nvSpPr>
        <p:spPr>
          <a:xfrm>
            <a:off x="545896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Medical &amp; First-Aid Items  •  المستلزمات الطبية والإسعافات</a:t>
            </a:r>
            <a:endParaRPr lang="en-US" sz="1050" dirty="0"/>
          </a:p>
        </p:txBody>
      </p:sp>
      <p:sp>
        <p:nvSpPr>
          <p:cNvPr id="19" name="Shape 15"/>
          <p:cNvSpPr/>
          <p:nvPr/>
        </p:nvSpPr>
        <p:spPr>
          <a:xfrm>
            <a:off x="8366760" y="4416552"/>
            <a:ext cx="82296" cy="82296"/>
          </a:xfrm>
          <a:prstGeom prst="ellipse">
            <a:avLst/>
          </a:prstGeom>
          <a:solidFill>
            <a:srgbClr val="14532D"/>
          </a:solidFill>
          <a:ln/>
        </p:spPr>
      </p:sp>
      <p:sp>
        <p:nvSpPr>
          <p:cNvPr id="20" name="Text 16"/>
          <p:cNvSpPr/>
          <p:nvPr/>
        </p:nvSpPr>
        <p:spPr>
          <a:xfrm>
            <a:off x="8567928" y="42976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Trophies &amp; Awards  •  الكؤوس والجوائز</a:t>
            </a:r>
            <a:endParaRPr lang="en-US" sz="1050" dirty="0"/>
          </a:p>
        </p:txBody>
      </p:sp>
      <p:sp>
        <p:nvSpPr>
          <p:cNvPr id="21" name="Shape 17"/>
          <p:cNvSpPr/>
          <p:nvPr/>
        </p:nvSpPr>
        <p:spPr>
          <a:xfrm>
            <a:off x="5257800" y="4873752"/>
            <a:ext cx="82296" cy="82296"/>
          </a:xfrm>
          <a:prstGeom prst="ellipse">
            <a:avLst/>
          </a:prstGeom>
          <a:solidFill>
            <a:srgbClr val="14532D"/>
          </a:solidFill>
          <a:ln/>
        </p:spPr>
      </p:sp>
      <p:sp>
        <p:nvSpPr>
          <p:cNvPr id="22" name="Text 18"/>
          <p:cNvSpPr/>
          <p:nvPr/>
        </p:nvSpPr>
        <p:spPr>
          <a:xfrm>
            <a:off x="5458968" y="4754880"/>
            <a:ext cx="2834640" cy="457200"/>
          </a:xfrm>
          <a:prstGeom prst="rect">
            <a:avLst/>
          </a:prstGeom>
          <a:noFill/>
          <a:ln/>
        </p:spPr>
        <p:txBody>
          <a:bodyPr wrap="square" lIns="0" tIns="0" rIns="0" bIns="0" rtlCol="0" anchor="ctr"/>
          <a:lstStyle/>
          <a:p>
            <a:pPr indent="0" marL="0">
              <a:buNone/>
            </a:pPr>
            <a:r>
              <a:rPr lang="en-US" sz="1050" dirty="0">
                <a:solidFill>
                  <a:srgbClr val="404040"/>
                </a:solidFill>
                <a:latin typeface="Calibri" pitchFamily="34" charset="0"/>
                <a:ea typeface="Calibri" pitchFamily="34" charset="-122"/>
                <a:cs typeface="Calibri" pitchFamily="34" charset="-120"/>
              </a:rPr>
              <a:t>Flags  •  الأعلام</a:t>
            </a:r>
            <a:endParaRPr lang="en-US" sz="1050" dirty="0"/>
          </a:p>
        </p:txBody>
      </p:sp>
      <p:sp>
        <p:nvSpPr>
          <p:cNvPr id="23" name="Text 1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20 / 26</a:t>
            </a:r>
            <a:endParaRPr lang="en-US" sz="900" dirty="0"/>
          </a:p>
        </p:txBody>
      </p:sp>
      <p:sp>
        <p:nvSpPr>
          <p:cNvPr id="24" name="Text 2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Accessories &amp; Equipment   |   الإكسسوارات والمعدات</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5280" y="822960"/>
            <a:ext cx="3520440" cy="4846320"/>
          </a:xfrm>
          <a:prstGeom prst="roundRect">
            <a:avLst>
              <a:gd name="adj" fmla="val 3117"/>
            </a:avLst>
          </a:prstGeom>
          <a:solidFill>
            <a:srgbClr val="E7F0EA"/>
          </a:solidFill>
          <a:ln/>
        </p:spPr>
      </p:sp>
      <p:pic>
        <p:nvPicPr>
          <p:cNvPr id="3" name="Image 0" descr="/tmp/claude-0/-home-user-Alhisan-alriyadi/26da07a5-a74a-5428-98ab-1d407f05d509/scratchpad/profile-deck/icons/camera.png">    </p:cNvPr>
          <p:cNvPicPr>
            <a:picLocks noChangeAspect="1"/>
          </p:cNvPicPr>
          <p:nvPr/>
        </p:nvPicPr>
        <p:blipFill>
          <a:blip r:embed="rId1"/>
          <a:stretch>
            <a:fillRect/>
          </a:stretch>
        </p:blipFill>
        <p:spPr>
          <a:xfrm>
            <a:off x="9486900" y="2743200"/>
            <a:ext cx="457200" cy="457200"/>
          </a:xfrm>
          <a:prstGeom prst="rect">
            <a:avLst/>
          </a:prstGeom>
        </p:spPr>
      </p:pic>
      <p:sp>
        <p:nvSpPr>
          <p:cNvPr id="4" name="Text 1"/>
          <p:cNvSpPr/>
          <p:nvPr/>
        </p:nvSpPr>
        <p:spPr>
          <a:xfrm>
            <a:off x="8229600" y="3200400"/>
            <a:ext cx="2971800" cy="242316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quality-check / packing station close-up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لقطة قريبة لفحص الجودة أو التغليف</a:t>
            </a:r>
            <a:endParaRPr lang="en-US" sz="1100" dirty="0"/>
          </a:p>
        </p:txBody>
      </p:sp>
      <p:sp>
        <p:nvSpPr>
          <p:cNvPr id="5" name="Shape 2"/>
          <p:cNvSpPr/>
          <p:nvPr/>
        </p:nvSpPr>
        <p:spPr>
          <a:xfrm>
            <a:off x="731520" y="822960"/>
            <a:ext cx="640080" cy="640080"/>
          </a:xfrm>
          <a:prstGeom prst="ellipse">
            <a:avLst/>
          </a:prstGeom>
          <a:solidFill>
            <a:srgbClr val="14532D"/>
          </a:solidFill>
          <a:ln/>
        </p:spPr>
      </p:sp>
      <p:pic>
        <p:nvPicPr>
          <p:cNvPr id="6" name="Image 1" descr="/tmp/claude-0/-home-user-Alhisan-alriyadi/26da07a5-a74a-5428-98ab-1d407f05d509/scratchpad/profile-deck/icons/shieldcheck.png">    </p:cNvPr>
          <p:cNvPicPr>
            <a:picLocks noChangeAspect="1"/>
          </p:cNvPicPr>
          <p:nvPr/>
        </p:nvPicPr>
        <p:blipFill>
          <a:blip r:embed="rId2"/>
          <a:stretch>
            <a:fillRect/>
          </a:stretch>
        </p:blipFill>
        <p:spPr>
          <a:xfrm>
            <a:off x="885139" y="976579"/>
            <a:ext cx="332842" cy="332842"/>
          </a:xfrm>
          <a:prstGeom prst="rect">
            <a:avLst/>
          </a:prstGeom>
        </p:spPr>
      </p:pic>
      <p:sp>
        <p:nvSpPr>
          <p:cNvPr id="7" name="Text 3"/>
          <p:cNvSpPr/>
          <p:nvPr/>
        </p:nvSpPr>
        <p:spPr>
          <a:xfrm>
            <a:off x="1554480" y="841248"/>
            <a:ext cx="3291840" cy="274320"/>
          </a:xfrm>
          <a:prstGeom prst="rect">
            <a:avLst/>
          </a:prstGeom>
          <a:noFill/>
          <a:ln/>
        </p:spPr>
        <p:txBody>
          <a:bodyPr wrap="square" lIns="0" tIns="0" rIns="0" bIns="0" rtlCol="0" anchor="ctr"/>
          <a:lstStyle/>
          <a:p>
            <a:pPr indent="0" marL="0">
              <a:buNone/>
            </a:pPr>
            <a:r>
              <a:rPr lang="en-US" sz="1100" b="1" spc="100" kern="0" dirty="0">
                <a:solidFill>
                  <a:srgbClr val="14532D"/>
                </a:solidFill>
                <a:latin typeface="Calibri" pitchFamily="34" charset="0"/>
                <a:ea typeface="Calibri" pitchFamily="34" charset="-122"/>
                <a:cs typeface="Calibri" pitchFamily="34" charset="-120"/>
              </a:rPr>
              <a:t>OUR PROMISE</a:t>
            </a:r>
            <a:endParaRPr lang="en-US" sz="1100" dirty="0"/>
          </a:p>
        </p:txBody>
      </p:sp>
      <p:sp>
        <p:nvSpPr>
          <p:cNvPr id="8" name="Text 4"/>
          <p:cNvSpPr/>
          <p:nvPr/>
        </p:nvSpPr>
        <p:spPr>
          <a:xfrm>
            <a:off x="1554480" y="1115568"/>
            <a:ext cx="3291840" cy="274320"/>
          </a:xfrm>
          <a:prstGeom prst="rect">
            <a:avLst/>
          </a:prstGeom>
          <a:noFill/>
          <a:ln/>
        </p:spPr>
        <p:txBody>
          <a:bodyPr wrap="square" lIns="0" tIns="0" rIns="0" bIns="0" rtlCol="0" anchor="ctr"/>
          <a:lstStyle/>
          <a:p>
            <a:pPr algn="l" indent="0" marL="0">
              <a:buNone/>
            </a:pPr>
            <a:r>
              <a:rPr lang="en-US" sz="1100" b="1" dirty="0">
                <a:solidFill>
                  <a:srgbClr val="14532D"/>
                </a:solidFill>
                <a:latin typeface="Calibri" pitchFamily="34" charset="0"/>
                <a:ea typeface="Calibri" pitchFamily="34" charset="-122"/>
                <a:cs typeface="Calibri" pitchFamily="34" charset="-120"/>
              </a:rPr>
              <a:t>وعدنا</a:t>
            </a:r>
            <a:endParaRPr lang="en-US" sz="1100" dirty="0"/>
          </a:p>
        </p:txBody>
      </p:sp>
      <p:sp>
        <p:nvSpPr>
          <p:cNvPr id="9" name="Text 5"/>
          <p:cNvSpPr/>
          <p:nvPr/>
        </p:nvSpPr>
        <p:spPr>
          <a:xfrm>
            <a:off x="731520" y="1691640"/>
            <a:ext cx="6309360" cy="502920"/>
          </a:xfrm>
          <a:prstGeom prst="rect">
            <a:avLst/>
          </a:prstGeom>
          <a:noFill/>
          <a:ln/>
        </p:spPr>
        <p:txBody>
          <a:bodyPr wrap="square" lIns="0" tIns="0" rIns="0" bIns="0" rtlCol="0" anchor="ctr"/>
          <a:lstStyle/>
          <a:p>
            <a:pPr indent="0" marL="0">
              <a:buNone/>
            </a:pPr>
            <a:r>
              <a:rPr lang="en-US" sz="2800" b="1" dirty="0">
                <a:solidFill>
                  <a:srgbClr val="171717"/>
                </a:solidFill>
                <a:latin typeface="Arial" pitchFamily="34" charset="0"/>
                <a:ea typeface="Arial" pitchFamily="34" charset="-122"/>
                <a:cs typeface="Arial" pitchFamily="34" charset="-120"/>
              </a:rPr>
              <a:t>Quality &amp; Authenticity</a:t>
            </a:r>
            <a:endParaRPr lang="en-US" sz="2800" dirty="0"/>
          </a:p>
        </p:txBody>
      </p:sp>
      <p:sp>
        <p:nvSpPr>
          <p:cNvPr id="10" name="Text 6"/>
          <p:cNvSpPr/>
          <p:nvPr/>
        </p:nvSpPr>
        <p:spPr>
          <a:xfrm>
            <a:off x="731520" y="2286000"/>
            <a:ext cx="6309360" cy="502920"/>
          </a:xfrm>
          <a:prstGeom prst="rect">
            <a:avLst/>
          </a:prstGeom>
          <a:noFill/>
          <a:ln/>
        </p:spPr>
        <p:txBody>
          <a:bodyPr wrap="square" lIns="0" tIns="0" rIns="0" bIns="0" rtlCol="0" anchor="ctr"/>
          <a:lstStyle/>
          <a:p>
            <a:pPr indent="0" marL="0">
              <a:buNone/>
            </a:pPr>
            <a:r>
              <a:rPr lang="en-US" sz="2000" b="1" dirty="0">
                <a:solidFill>
                  <a:srgbClr val="14532D"/>
                </a:solidFill>
                <a:latin typeface="Calibri" pitchFamily="34" charset="0"/>
                <a:ea typeface="Calibri" pitchFamily="34" charset="-122"/>
                <a:cs typeface="Calibri" pitchFamily="34" charset="-120"/>
              </a:rPr>
              <a:t>الجودة والأصالة</a:t>
            </a:r>
            <a:endParaRPr lang="en-US" sz="2000" dirty="0"/>
          </a:p>
        </p:txBody>
      </p:sp>
      <p:sp>
        <p:nvSpPr>
          <p:cNvPr id="11" name="Text 7"/>
          <p:cNvSpPr/>
          <p:nvPr/>
        </p:nvSpPr>
        <p:spPr>
          <a:xfrm>
            <a:off x="731520" y="2971800"/>
            <a:ext cx="6309360" cy="1463040"/>
          </a:xfrm>
          <a:prstGeom prst="rect">
            <a:avLst/>
          </a:prstGeom>
          <a:noFill/>
          <a:ln/>
        </p:spPr>
        <p:txBody>
          <a:bodyPr wrap="square" lIns="0" tIns="0" rIns="0" bIns="0" rtlCol="0" anchor="t"/>
          <a:lstStyle/>
          <a:p>
            <a:pPr indent="0" marL="0">
              <a:lnSpc>
                <a:spcPct val="128000"/>
              </a:lnSpc>
              <a:buNone/>
            </a:pPr>
            <a:r>
              <a:rPr lang="en-US" sz="1250" dirty="0">
                <a:solidFill>
                  <a:srgbClr val="404040"/>
                </a:solidFill>
                <a:latin typeface="Calibri" pitchFamily="34" charset="0"/>
                <a:ea typeface="Calibri" pitchFamily="34" charset="-122"/>
                <a:cs typeface="Calibri" pitchFamily="34" charset="-120"/>
              </a:rPr>
              <a:t>We are committed to 100% authentic products sourced from trusted brands, with careful quality checks on every shipment before it reaches our customers — quality that lasts.</a:t>
            </a:r>
            <a:endParaRPr lang="en-US" sz="1250" dirty="0"/>
          </a:p>
        </p:txBody>
      </p:sp>
      <p:sp>
        <p:nvSpPr>
          <p:cNvPr id="12" name="Text 8"/>
          <p:cNvSpPr/>
          <p:nvPr/>
        </p:nvSpPr>
        <p:spPr>
          <a:xfrm>
            <a:off x="731520" y="4617720"/>
            <a:ext cx="6309360" cy="1097280"/>
          </a:xfrm>
          <a:prstGeom prst="rect">
            <a:avLst/>
          </a:prstGeom>
          <a:noFill/>
          <a:ln/>
        </p:spPr>
        <p:txBody>
          <a:bodyPr wrap="square" lIns="0" tIns="0" rIns="0" bIns="0" rtlCol="0" anchor="t"/>
          <a:lstStyle/>
          <a:p>
            <a:pPr algn="r" indent="0" marL="0">
              <a:lnSpc>
                <a:spcPct val="132000"/>
              </a:lnSpc>
              <a:buNone/>
            </a:pPr>
            <a:r>
              <a:rPr lang="en-US" sz="1200" dirty="0">
                <a:solidFill>
                  <a:srgbClr val="404040"/>
                </a:solidFill>
                <a:latin typeface="Calibri" pitchFamily="34" charset="0"/>
                <a:ea typeface="Calibri" pitchFamily="34" charset="-122"/>
                <a:cs typeface="Calibri" pitchFamily="34" charset="-120"/>
              </a:rPr>
              <a:t>نلتزم بتوفير منتجات أصلية 100٪ من علامات تجارية موثوقة، مع فحص دقيق لكل شحنة قبل وصولها للعميل، لضمان جودة تدوم.</a:t>
            </a:r>
            <a:endParaRPr lang="en-US" sz="1200" dirty="0"/>
          </a:p>
        </p:txBody>
      </p:sp>
      <p:sp>
        <p:nvSpPr>
          <p:cNvPr id="13" name="Text 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21 / 26</a:t>
            </a:r>
            <a:endParaRPr lang="en-US" sz="900" dirty="0"/>
          </a:p>
        </p:txBody>
      </p:sp>
      <p:sp>
        <p:nvSpPr>
          <p:cNvPr id="14" name="Text 1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Our Promise   |   وعدنا</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594360"/>
            <a:ext cx="640080" cy="640080"/>
          </a:xfrm>
          <a:prstGeom prst="ellipse">
            <a:avLst/>
          </a:prstGeom>
          <a:solidFill>
            <a:srgbClr val="14532D"/>
          </a:solidFill>
          <a:ln/>
        </p:spPr>
      </p:sp>
      <p:pic>
        <p:nvPicPr>
          <p:cNvPr id="3" name="Image 0" descr="/tmp/claude-0/-home-user-Alhisan-alriyadi/26da07a5-a74a-5428-98ab-1d407f05d509/scratchpad/profile-deck/icons/truck.png">    </p:cNvPr>
          <p:cNvPicPr>
            <a:picLocks noChangeAspect="1"/>
          </p:cNvPicPr>
          <p:nvPr/>
        </p:nvPicPr>
        <p:blipFill>
          <a:blip r:embed="rId1"/>
          <a:stretch>
            <a:fillRect/>
          </a:stretch>
        </p:blipFill>
        <p:spPr>
          <a:xfrm>
            <a:off x="885139" y="747979"/>
            <a:ext cx="332842" cy="332842"/>
          </a:xfrm>
          <a:prstGeom prst="rect">
            <a:avLst/>
          </a:prstGeom>
        </p:spPr>
      </p:pic>
      <p:sp>
        <p:nvSpPr>
          <p:cNvPr id="4" name="Text 1"/>
          <p:cNvSpPr/>
          <p:nvPr/>
        </p:nvSpPr>
        <p:spPr>
          <a:xfrm>
            <a:off x="1554480" y="621792"/>
            <a:ext cx="4572000" cy="274320"/>
          </a:xfrm>
          <a:prstGeom prst="rect">
            <a:avLst/>
          </a:prstGeom>
          <a:noFill/>
          <a:ln/>
        </p:spPr>
        <p:txBody>
          <a:bodyPr wrap="square" lIns="0" tIns="0" rIns="0" bIns="0" rtlCol="0" anchor="ctr"/>
          <a:lstStyle/>
          <a:p>
            <a:pPr indent="0" marL="0">
              <a:buNone/>
            </a:pPr>
            <a:r>
              <a:rPr lang="en-US" sz="1100" b="1" spc="100" kern="0" dirty="0">
                <a:solidFill>
                  <a:srgbClr val="14532D"/>
                </a:solidFill>
                <a:latin typeface="Calibri" pitchFamily="34" charset="0"/>
                <a:ea typeface="Calibri" pitchFamily="34" charset="-122"/>
                <a:cs typeface="Calibri" pitchFamily="34" charset="-120"/>
              </a:rPr>
              <a:t>LOGISTICS  |  لوجستيات</a:t>
            </a:r>
            <a:endParaRPr lang="en-US" sz="1100" dirty="0"/>
          </a:p>
        </p:txBody>
      </p:sp>
      <p:sp>
        <p:nvSpPr>
          <p:cNvPr id="5" name="Text 2"/>
          <p:cNvSpPr/>
          <p:nvPr/>
        </p:nvSpPr>
        <p:spPr>
          <a:xfrm>
            <a:off x="731520" y="1188720"/>
            <a:ext cx="10698480" cy="502920"/>
          </a:xfrm>
          <a:prstGeom prst="rect">
            <a:avLst/>
          </a:prstGeom>
          <a:noFill/>
          <a:ln/>
        </p:spPr>
        <p:txBody>
          <a:bodyPr wrap="square" lIns="0" tIns="0" rIns="0" bIns="0" rtlCol="0" anchor="ctr"/>
          <a:lstStyle/>
          <a:p>
            <a:pPr indent="0" marL="0">
              <a:buNone/>
            </a:pPr>
            <a:r>
              <a:rPr lang="en-US" sz="2600" b="1" dirty="0">
                <a:solidFill>
                  <a:srgbClr val="171717"/>
                </a:solidFill>
                <a:latin typeface="Arial" pitchFamily="34" charset="0"/>
                <a:ea typeface="Arial" pitchFamily="34" charset="-122"/>
                <a:cs typeface="Arial" pitchFamily="34" charset="-120"/>
              </a:rPr>
              <a:t>Logistics &amp; Delivery Across the Kingdom</a:t>
            </a:r>
            <a:endParaRPr lang="en-US" sz="2600" dirty="0"/>
          </a:p>
        </p:txBody>
      </p:sp>
      <p:sp>
        <p:nvSpPr>
          <p:cNvPr id="6" name="Text 3"/>
          <p:cNvSpPr/>
          <p:nvPr/>
        </p:nvSpPr>
        <p:spPr>
          <a:xfrm>
            <a:off x="731520" y="1691640"/>
            <a:ext cx="10698480" cy="41148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الخدمات اللوجستية والتوصيل لجميع مدن المملكة</a:t>
            </a:r>
            <a:endParaRPr lang="en-US" sz="1500" dirty="0"/>
          </a:p>
        </p:txBody>
      </p:sp>
      <p:sp>
        <p:nvSpPr>
          <p:cNvPr id="7" name="Text 4"/>
          <p:cNvSpPr/>
          <p:nvPr/>
        </p:nvSpPr>
        <p:spPr>
          <a:xfrm>
            <a:off x="731520" y="2194560"/>
            <a:ext cx="10698480" cy="548640"/>
          </a:xfrm>
          <a:prstGeom prst="rect">
            <a:avLst/>
          </a:prstGeom>
          <a:noFill/>
          <a:ln/>
        </p:spPr>
        <p:txBody>
          <a:bodyPr wrap="square" lIns="0" tIns="0" rIns="0" bIns="0" rtlCol="0" anchor="ctr"/>
          <a:lstStyle/>
          <a:p>
            <a:pPr indent="0" marL="0">
              <a:buNone/>
            </a:pPr>
            <a:r>
              <a:rPr lang="en-US" sz="1300" dirty="0">
                <a:solidFill>
                  <a:srgbClr val="404040"/>
                </a:solidFill>
                <a:latin typeface="Calibri" pitchFamily="34" charset="0"/>
                <a:ea typeface="Calibri" pitchFamily="34" charset="-122"/>
                <a:cs typeface="Calibri" pitchFamily="34" charset="-120"/>
              </a:rPr>
              <a:t>We reach customers across every city in Saudi Arabia — fast and reliably — with free shipping on orders over SAR 200 and a flexible 14-day return policy.</a:t>
            </a:r>
            <a:endParaRPr lang="en-US" sz="1300" dirty="0"/>
          </a:p>
        </p:txBody>
      </p:sp>
      <p:sp>
        <p:nvSpPr>
          <p:cNvPr id="8" name="Text 5"/>
          <p:cNvSpPr/>
          <p:nvPr/>
        </p:nvSpPr>
        <p:spPr>
          <a:xfrm>
            <a:off x="731520" y="2697480"/>
            <a:ext cx="10698480" cy="502920"/>
          </a:xfrm>
          <a:prstGeom prst="rect">
            <a:avLst/>
          </a:prstGeom>
          <a:noFill/>
          <a:ln/>
        </p:spPr>
        <p:txBody>
          <a:bodyPr wrap="square" lIns="0" tIns="0" rIns="0" bIns="0" rtlCol="0" anchor="ctr"/>
          <a:lstStyle/>
          <a:p>
            <a:pPr algn="r" indent="0" marL="0">
              <a:buNone/>
            </a:pPr>
            <a:r>
              <a:rPr lang="en-US" sz="1250" dirty="0">
                <a:solidFill>
                  <a:srgbClr val="404040"/>
                </a:solidFill>
                <a:latin typeface="Calibri" pitchFamily="34" charset="0"/>
                <a:ea typeface="Calibri" pitchFamily="34" charset="-122"/>
                <a:cs typeface="Calibri" pitchFamily="34" charset="-120"/>
              </a:rPr>
              <a:t>نصل إلى عملائنا في جميع مدن المملكة بسرعة وموثوقية، مع شحن مجاني للطلبات التي تتجاوز 200 ريال سعودي، وسياسة إرجاع مرنة خلال 14 يومًا.</a:t>
            </a:r>
            <a:endParaRPr lang="en-US" sz="1250" dirty="0"/>
          </a:p>
        </p:txBody>
      </p:sp>
      <p:sp>
        <p:nvSpPr>
          <p:cNvPr id="9" name="Shape 6"/>
          <p:cNvSpPr/>
          <p:nvPr/>
        </p:nvSpPr>
        <p:spPr>
          <a:xfrm>
            <a:off x="653796" y="3520440"/>
            <a:ext cx="2514600" cy="2103120"/>
          </a:xfrm>
          <a:prstGeom prst="roundRect">
            <a:avLst>
              <a:gd name="adj" fmla="val 4348"/>
            </a:avLst>
          </a:prstGeom>
          <a:solidFill>
            <a:srgbClr val="E7F0EA"/>
          </a:solidFill>
          <a:ln/>
        </p:spPr>
      </p:sp>
      <p:sp>
        <p:nvSpPr>
          <p:cNvPr id="10" name="Text 7"/>
          <p:cNvSpPr/>
          <p:nvPr/>
        </p:nvSpPr>
        <p:spPr>
          <a:xfrm>
            <a:off x="653796" y="3794760"/>
            <a:ext cx="2514600" cy="777240"/>
          </a:xfrm>
          <a:prstGeom prst="rect">
            <a:avLst/>
          </a:prstGeom>
          <a:noFill/>
          <a:ln/>
        </p:spPr>
        <p:txBody>
          <a:bodyPr wrap="square" lIns="0" tIns="0" rIns="0" bIns="0" rtlCol="0" anchor="ctr"/>
          <a:lstStyle/>
          <a:p>
            <a:pPr algn="ctr" indent="0" marL="0">
              <a:buNone/>
            </a:pPr>
            <a:r>
              <a:rPr lang="en-US" sz="4000" b="1" dirty="0">
                <a:solidFill>
                  <a:srgbClr val="14532D"/>
                </a:solidFill>
                <a:latin typeface="Arial" pitchFamily="34" charset="0"/>
                <a:ea typeface="Arial" pitchFamily="34" charset="-122"/>
                <a:cs typeface="Arial" pitchFamily="34" charset="-120"/>
              </a:rPr>
              <a:t>24h</a:t>
            </a:r>
            <a:endParaRPr lang="en-US" sz="4000" dirty="0"/>
          </a:p>
        </p:txBody>
      </p:sp>
      <p:sp>
        <p:nvSpPr>
          <p:cNvPr id="11" name="Text 8"/>
          <p:cNvSpPr/>
          <p:nvPr/>
        </p:nvSpPr>
        <p:spPr>
          <a:xfrm>
            <a:off x="790956" y="4663440"/>
            <a:ext cx="2240280" cy="457200"/>
          </a:xfrm>
          <a:prstGeom prst="rect">
            <a:avLst/>
          </a:prstGeom>
          <a:noFill/>
          <a:ln/>
        </p:spPr>
        <p:txBody>
          <a:bodyPr wrap="square" lIns="0" tIns="0" rIns="0" bIns="0" rtlCol="0" anchor="ctr"/>
          <a:lstStyle/>
          <a:p>
            <a:pPr algn="ctr" indent="0" marL="0">
              <a:buNone/>
            </a:pPr>
            <a:r>
              <a:rPr lang="en-US" sz="1100" b="1" dirty="0">
                <a:solidFill>
                  <a:srgbClr val="171717"/>
                </a:solidFill>
                <a:latin typeface="Calibri" pitchFamily="34" charset="0"/>
                <a:ea typeface="Calibri" pitchFamily="34" charset="-122"/>
                <a:cs typeface="Calibri" pitchFamily="34" charset="-120"/>
              </a:rPr>
              <a:t>Fast Dispatch</a:t>
            </a:r>
            <a:endParaRPr lang="en-US" sz="1100" dirty="0"/>
          </a:p>
        </p:txBody>
      </p:sp>
      <p:sp>
        <p:nvSpPr>
          <p:cNvPr id="12" name="Text 9"/>
          <p:cNvSpPr/>
          <p:nvPr/>
        </p:nvSpPr>
        <p:spPr>
          <a:xfrm>
            <a:off x="790956" y="5093208"/>
            <a:ext cx="2240280" cy="457200"/>
          </a:xfrm>
          <a:prstGeom prst="rect">
            <a:avLst/>
          </a:prstGeom>
          <a:noFill/>
          <a:ln/>
        </p:spPr>
        <p:txBody>
          <a:bodyPr wrap="square" lIns="0" tIns="0" rIns="0" bIns="0" rtlCol="0" anchor="ctr"/>
          <a:lstStyle/>
          <a:p>
            <a:pPr algn="ctr" indent="0" marL="0">
              <a:buNone/>
            </a:pPr>
            <a:r>
              <a:rPr lang="en-US" sz="1000" dirty="0">
                <a:solidFill>
                  <a:srgbClr val="737373"/>
                </a:solidFill>
                <a:latin typeface="Calibri" pitchFamily="34" charset="0"/>
                <a:ea typeface="Calibri" pitchFamily="34" charset="-122"/>
                <a:cs typeface="Calibri" pitchFamily="34" charset="-120"/>
              </a:rPr>
              <a:t>تجهيز سريع</a:t>
            </a:r>
            <a:endParaRPr lang="en-US" sz="1000" dirty="0"/>
          </a:p>
        </p:txBody>
      </p:sp>
      <p:sp>
        <p:nvSpPr>
          <p:cNvPr id="13" name="Shape 10"/>
          <p:cNvSpPr/>
          <p:nvPr/>
        </p:nvSpPr>
        <p:spPr>
          <a:xfrm>
            <a:off x="3442716" y="3520440"/>
            <a:ext cx="2514600" cy="2103120"/>
          </a:xfrm>
          <a:prstGeom prst="roundRect">
            <a:avLst>
              <a:gd name="adj" fmla="val 4348"/>
            </a:avLst>
          </a:prstGeom>
          <a:solidFill>
            <a:srgbClr val="E7F0EA"/>
          </a:solidFill>
          <a:ln/>
        </p:spPr>
      </p:sp>
      <p:sp>
        <p:nvSpPr>
          <p:cNvPr id="14" name="Text 11"/>
          <p:cNvSpPr/>
          <p:nvPr/>
        </p:nvSpPr>
        <p:spPr>
          <a:xfrm>
            <a:off x="3442716" y="3794760"/>
            <a:ext cx="2514600" cy="777240"/>
          </a:xfrm>
          <a:prstGeom prst="rect">
            <a:avLst/>
          </a:prstGeom>
          <a:noFill/>
          <a:ln/>
        </p:spPr>
        <p:txBody>
          <a:bodyPr wrap="square" lIns="0" tIns="0" rIns="0" bIns="0" rtlCol="0" anchor="ctr"/>
          <a:lstStyle/>
          <a:p>
            <a:pPr algn="ctr" indent="0" marL="0">
              <a:buNone/>
            </a:pPr>
            <a:r>
              <a:rPr lang="en-US" sz="4000" b="1" dirty="0">
                <a:solidFill>
                  <a:srgbClr val="14532D"/>
                </a:solidFill>
                <a:latin typeface="Arial" pitchFamily="34" charset="0"/>
                <a:ea typeface="Arial" pitchFamily="34" charset="-122"/>
                <a:cs typeface="Arial" pitchFamily="34" charset="-120"/>
              </a:rPr>
              <a:t>14</a:t>
            </a:r>
            <a:endParaRPr lang="en-US" sz="4000" dirty="0"/>
          </a:p>
        </p:txBody>
      </p:sp>
      <p:sp>
        <p:nvSpPr>
          <p:cNvPr id="15" name="Text 12"/>
          <p:cNvSpPr/>
          <p:nvPr/>
        </p:nvSpPr>
        <p:spPr>
          <a:xfrm>
            <a:off x="3579876" y="4663440"/>
            <a:ext cx="2240280" cy="457200"/>
          </a:xfrm>
          <a:prstGeom prst="rect">
            <a:avLst/>
          </a:prstGeom>
          <a:noFill/>
          <a:ln/>
        </p:spPr>
        <p:txBody>
          <a:bodyPr wrap="square" lIns="0" tIns="0" rIns="0" bIns="0" rtlCol="0" anchor="ctr"/>
          <a:lstStyle/>
          <a:p>
            <a:pPr algn="ctr" indent="0" marL="0">
              <a:buNone/>
            </a:pPr>
            <a:r>
              <a:rPr lang="en-US" sz="1100" b="1" dirty="0">
                <a:solidFill>
                  <a:srgbClr val="171717"/>
                </a:solidFill>
                <a:latin typeface="Calibri" pitchFamily="34" charset="0"/>
                <a:ea typeface="Calibri" pitchFamily="34" charset="-122"/>
                <a:cs typeface="Calibri" pitchFamily="34" charset="-120"/>
              </a:rPr>
              <a:t>Day Easy Returns</a:t>
            </a:r>
            <a:endParaRPr lang="en-US" sz="1100" dirty="0"/>
          </a:p>
        </p:txBody>
      </p:sp>
      <p:sp>
        <p:nvSpPr>
          <p:cNvPr id="16" name="Text 13"/>
          <p:cNvSpPr/>
          <p:nvPr/>
        </p:nvSpPr>
        <p:spPr>
          <a:xfrm>
            <a:off x="3579876" y="5093208"/>
            <a:ext cx="2240280" cy="457200"/>
          </a:xfrm>
          <a:prstGeom prst="rect">
            <a:avLst/>
          </a:prstGeom>
          <a:noFill/>
          <a:ln/>
        </p:spPr>
        <p:txBody>
          <a:bodyPr wrap="square" lIns="0" tIns="0" rIns="0" bIns="0" rtlCol="0" anchor="ctr"/>
          <a:lstStyle/>
          <a:p>
            <a:pPr algn="ctr" indent="0" marL="0">
              <a:buNone/>
            </a:pPr>
            <a:r>
              <a:rPr lang="en-US" sz="1000" dirty="0">
                <a:solidFill>
                  <a:srgbClr val="737373"/>
                </a:solidFill>
                <a:latin typeface="Calibri" pitchFamily="34" charset="0"/>
                <a:ea typeface="Calibri" pitchFamily="34" charset="-122"/>
                <a:cs typeface="Calibri" pitchFamily="34" charset="-120"/>
              </a:rPr>
              <a:t>يوم إرجاع سهل</a:t>
            </a:r>
            <a:endParaRPr lang="en-US" sz="1000" dirty="0"/>
          </a:p>
        </p:txBody>
      </p:sp>
      <p:sp>
        <p:nvSpPr>
          <p:cNvPr id="17" name="Shape 14"/>
          <p:cNvSpPr/>
          <p:nvPr/>
        </p:nvSpPr>
        <p:spPr>
          <a:xfrm>
            <a:off x="6231636" y="3520440"/>
            <a:ext cx="2514600" cy="2103120"/>
          </a:xfrm>
          <a:prstGeom prst="roundRect">
            <a:avLst>
              <a:gd name="adj" fmla="val 4348"/>
            </a:avLst>
          </a:prstGeom>
          <a:solidFill>
            <a:srgbClr val="E7F0EA"/>
          </a:solidFill>
          <a:ln/>
        </p:spPr>
      </p:sp>
      <p:sp>
        <p:nvSpPr>
          <p:cNvPr id="18" name="Text 15"/>
          <p:cNvSpPr/>
          <p:nvPr/>
        </p:nvSpPr>
        <p:spPr>
          <a:xfrm>
            <a:off x="6231636" y="3794760"/>
            <a:ext cx="2514600" cy="777240"/>
          </a:xfrm>
          <a:prstGeom prst="rect">
            <a:avLst/>
          </a:prstGeom>
          <a:noFill/>
          <a:ln/>
        </p:spPr>
        <p:txBody>
          <a:bodyPr wrap="square" lIns="0" tIns="0" rIns="0" bIns="0" rtlCol="0" anchor="ctr"/>
          <a:lstStyle/>
          <a:p>
            <a:pPr algn="ctr" indent="0" marL="0">
              <a:buNone/>
            </a:pPr>
            <a:r>
              <a:rPr lang="en-US" sz="4000" b="1" dirty="0">
                <a:solidFill>
                  <a:srgbClr val="14532D"/>
                </a:solidFill>
                <a:latin typeface="Arial" pitchFamily="34" charset="0"/>
                <a:ea typeface="Arial" pitchFamily="34" charset="-122"/>
                <a:cs typeface="Arial" pitchFamily="34" charset="-120"/>
              </a:rPr>
              <a:t>200</a:t>
            </a:r>
            <a:endParaRPr lang="en-US" sz="4000" dirty="0"/>
          </a:p>
        </p:txBody>
      </p:sp>
      <p:sp>
        <p:nvSpPr>
          <p:cNvPr id="19" name="Text 16"/>
          <p:cNvSpPr/>
          <p:nvPr/>
        </p:nvSpPr>
        <p:spPr>
          <a:xfrm>
            <a:off x="6368796" y="4663440"/>
            <a:ext cx="2240280" cy="457200"/>
          </a:xfrm>
          <a:prstGeom prst="rect">
            <a:avLst/>
          </a:prstGeom>
          <a:noFill/>
          <a:ln/>
        </p:spPr>
        <p:txBody>
          <a:bodyPr wrap="square" lIns="0" tIns="0" rIns="0" bIns="0" rtlCol="0" anchor="ctr"/>
          <a:lstStyle/>
          <a:p>
            <a:pPr algn="ctr" indent="0" marL="0">
              <a:buNone/>
            </a:pPr>
            <a:r>
              <a:rPr lang="en-US" sz="1100" b="1" dirty="0">
                <a:solidFill>
                  <a:srgbClr val="171717"/>
                </a:solidFill>
                <a:latin typeface="Calibri" pitchFamily="34" charset="0"/>
                <a:ea typeface="Calibri" pitchFamily="34" charset="-122"/>
                <a:cs typeface="Calibri" pitchFamily="34" charset="-120"/>
              </a:rPr>
              <a:t>SAR Free-Shipping Threshold</a:t>
            </a:r>
            <a:endParaRPr lang="en-US" sz="1100" dirty="0"/>
          </a:p>
        </p:txBody>
      </p:sp>
      <p:sp>
        <p:nvSpPr>
          <p:cNvPr id="20" name="Text 17"/>
          <p:cNvSpPr/>
          <p:nvPr/>
        </p:nvSpPr>
        <p:spPr>
          <a:xfrm>
            <a:off x="6368796" y="5093208"/>
            <a:ext cx="2240280" cy="457200"/>
          </a:xfrm>
          <a:prstGeom prst="rect">
            <a:avLst/>
          </a:prstGeom>
          <a:noFill/>
          <a:ln/>
        </p:spPr>
        <p:txBody>
          <a:bodyPr wrap="square" lIns="0" tIns="0" rIns="0" bIns="0" rtlCol="0" anchor="ctr"/>
          <a:lstStyle/>
          <a:p>
            <a:pPr algn="ctr" indent="0" marL="0">
              <a:buNone/>
            </a:pPr>
            <a:r>
              <a:rPr lang="en-US" sz="1000" dirty="0">
                <a:solidFill>
                  <a:srgbClr val="737373"/>
                </a:solidFill>
                <a:latin typeface="Calibri" pitchFamily="34" charset="0"/>
                <a:ea typeface="Calibri" pitchFamily="34" charset="-122"/>
                <a:cs typeface="Calibri" pitchFamily="34" charset="-120"/>
              </a:rPr>
              <a:t>ريال حد الشحن المجاني</a:t>
            </a:r>
            <a:endParaRPr lang="en-US" sz="1000" dirty="0"/>
          </a:p>
        </p:txBody>
      </p:sp>
      <p:sp>
        <p:nvSpPr>
          <p:cNvPr id="21" name="Shape 18"/>
          <p:cNvSpPr/>
          <p:nvPr/>
        </p:nvSpPr>
        <p:spPr>
          <a:xfrm>
            <a:off x="9020556" y="3520440"/>
            <a:ext cx="2514600" cy="2103120"/>
          </a:xfrm>
          <a:prstGeom prst="roundRect">
            <a:avLst>
              <a:gd name="adj" fmla="val 4348"/>
            </a:avLst>
          </a:prstGeom>
          <a:solidFill>
            <a:srgbClr val="E7F0EA"/>
          </a:solidFill>
          <a:ln/>
        </p:spPr>
      </p:sp>
      <p:sp>
        <p:nvSpPr>
          <p:cNvPr id="22" name="Text 19"/>
          <p:cNvSpPr/>
          <p:nvPr/>
        </p:nvSpPr>
        <p:spPr>
          <a:xfrm>
            <a:off x="9020556" y="3794760"/>
            <a:ext cx="2514600" cy="777240"/>
          </a:xfrm>
          <a:prstGeom prst="rect">
            <a:avLst/>
          </a:prstGeom>
          <a:noFill/>
          <a:ln/>
        </p:spPr>
        <p:txBody>
          <a:bodyPr wrap="square" lIns="0" tIns="0" rIns="0" bIns="0" rtlCol="0" anchor="ctr"/>
          <a:lstStyle/>
          <a:p>
            <a:pPr algn="ctr" indent="0" marL="0">
              <a:buNone/>
            </a:pPr>
            <a:r>
              <a:rPr lang="en-US" sz="4000" b="1" dirty="0">
                <a:solidFill>
                  <a:srgbClr val="14532D"/>
                </a:solidFill>
                <a:latin typeface="Arial" pitchFamily="34" charset="0"/>
                <a:ea typeface="Arial" pitchFamily="34" charset="-122"/>
                <a:cs typeface="Arial" pitchFamily="34" charset="-120"/>
              </a:rPr>
              <a:t>[X]+</a:t>
            </a:r>
            <a:endParaRPr lang="en-US" sz="4000" dirty="0"/>
          </a:p>
        </p:txBody>
      </p:sp>
      <p:sp>
        <p:nvSpPr>
          <p:cNvPr id="23" name="Text 20"/>
          <p:cNvSpPr/>
          <p:nvPr/>
        </p:nvSpPr>
        <p:spPr>
          <a:xfrm>
            <a:off x="9157716" y="4663440"/>
            <a:ext cx="2240280" cy="457200"/>
          </a:xfrm>
          <a:prstGeom prst="rect">
            <a:avLst/>
          </a:prstGeom>
          <a:noFill/>
          <a:ln/>
        </p:spPr>
        <p:txBody>
          <a:bodyPr wrap="square" lIns="0" tIns="0" rIns="0" bIns="0" rtlCol="0" anchor="ctr"/>
          <a:lstStyle/>
          <a:p>
            <a:pPr algn="ctr" indent="0" marL="0">
              <a:buNone/>
            </a:pPr>
            <a:r>
              <a:rPr lang="en-US" sz="1100" b="1" dirty="0">
                <a:solidFill>
                  <a:srgbClr val="171717"/>
                </a:solidFill>
                <a:latin typeface="Calibri" pitchFamily="34" charset="0"/>
                <a:ea typeface="Calibri" pitchFamily="34" charset="-122"/>
                <a:cs typeface="Calibri" pitchFamily="34" charset="-120"/>
              </a:rPr>
              <a:t>Cities Covered — placeholder</a:t>
            </a:r>
            <a:endParaRPr lang="en-US" sz="1100" dirty="0"/>
          </a:p>
        </p:txBody>
      </p:sp>
      <p:sp>
        <p:nvSpPr>
          <p:cNvPr id="24" name="Text 21"/>
          <p:cNvSpPr/>
          <p:nvPr/>
        </p:nvSpPr>
        <p:spPr>
          <a:xfrm>
            <a:off x="9157716" y="5093208"/>
            <a:ext cx="2240280" cy="457200"/>
          </a:xfrm>
          <a:prstGeom prst="rect">
            <a:avLst/>
          </a:prstGeom>
          <a:noFill/>
          <a:ln/>
        </p:spPr>
        <p:txBody>
          <a:bodyPr wrap="square" lIns="0" tIns="0" rIns="0" bIns="0" rtlCol="0" anchor="ctr"/>
          <a:lstStyle/>
          <a:p>
            <a:pPr algn="ctr" indent="0" marL="0">
              <a:buNone/>
            </a:pPr>
            <a:r>
              <a:rPr lang="en-US" sz="1000" dirty="0">
                <a:solidFill>
                  <a:srgbClr val="737373"/>
                </a:solidFill>
                <a:latin typeface="Calibri" pitchFamily="34" charset="0"/>
                <a:ea typeface="Calibri" pitchFamily="34" charset="-122"/>
                <a:cs typeface="Calibri" pitchFamily="34" charset="-120"/>
              </a:rPr>
              <a:t>مدينة مغطاة — عنصر نائب</a:t>
            </a:r>
            <a:endParaRPr lang="en-US" sz="1000" dirty="0"/>
          </a:p>
        </p:txBody>
      </p:sp>
      <p:sp>
        <p:nvSpPr>
          <p:cNvPr id="25" name="Text 22"/>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22 / 26</a:t>
            </a:r>
            <a:endParaRPr lang="en-US" sz="900" dirty="0"/>
          </a:p>
        </p:txBody>
      </p:sp>
      <p:sp>
        <p:nvSpPr>
          <p:cNvPr id="26" name="Text 23"/>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Logistics &amp; Delivery   |   الخدمات اللوجستية والتوصيل</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594360"/>
            <a:ext cx="640080" cy="640080"/>
          </a:xfrm>
          <a:prstGeom prst="ellipse">
            <a:avLst/>
          </a:prstGeom>
          <a:solidFill>
            <a:srgbClr val="14532D"/>
          </a:solidFill>
          <a:ln/>
        </p:spPr>
      </p:sp>
      <p:pic>
        <p:nvPicPr>
          <p:cNvPr id="3" name="Image 0" descr="/tmp/claude-0/-home-user-Alhisan-alriyadi/26da07a5-a74a-5428-98ab-1d407f05d509/scratchpad/profile-deck/icons/mobile.png">    </p:cNvPr>
          <p:cNvPicPr>
            <a:picLocks noChangeAspect="1"/>
          </p:cNvPicPr>
          <p:nvPr/>
        </p:nvPicPr>
        <p:blipFill>
          <a:blip r:embed="rId1"/>
          <a:stretch>
            <a:fillRect/>
          </a:stretch>
        </p:blipFill>
        <p:spPr>
          <a:xfrm>
            <a:off x="885139" y="747979"/>
            <a:ext cx="332842" cy="332842"/>
          </a:xfrm>
          <a:prstGeom prst="rect">
            <a:avLst/>
          </a:prstGeom>
        </p:spPr>
      </p:pic>
      <p:sp>
        <p:nvSpPr>
          <p:cNvPr id="4" name="Text 1"/>
          <p:cNvSpPr/>
          <p:nvPr/>
        </p:nvSpPr>
        <p:spPr>
          <a:xfrm>
            <a:off x="1554480" y="621792"/>
            <a:ext cx="4572000" cy="274320"/>
          </a:xfrm>
          <a:prstGeom prst="rect">
            <a:avLst/>
          </a:prstGeom>
          <a:noFill/>
          <a:ln/>
        </p:spPr>
        <p:txBody>
          <a:bodyPr wrap="square" lIns="0" tIns="0" rIns="0" bIns="0" rtlCol="0" anchor="ctr"/>
          <a:lstStyle/>
          <a:p>
            <a:pPr indent="0" marL="0">
              <a:buNone/>
            </a:pPr>
            <a:r>
              <a:rPr lang="en-US" sz="1100" b="1" spc="100" kern="0" dirty="0">
                <a:solidFill>
                  <a:srgbClr val="14532D"/>
                </a:solidFill>
                <a:latin typeface="Calibri" pitchFamily="34" charset="0"/>
                <a:ea typeface="Calibri" pitchFamily="34" charset="-122"/>
                <a:cs typeface="Calibri" pitchFamily="34" charset="-120"/>
              </a:rPr>
              <a:t>DIGITAL  |  رقمي</a:t>
            </a:r>
            <a:endParaRPr lang="en-US" sz="1100" dirty="0"/>
          </a:p>
        </p:txBody>
      </p:sp>
      <p:sp>
        <p:nvSpPr>
          <p:cNvPr id="5" name="Text 2"/>
          <p:cNvSpPr/>
          <p:nvPr/>
        </p:nvSpPr>
        <p:spPr>
          <a:xfrm>
            <a:off x="731520" y="1188720"/>
            <a:ext cx="10698480" cy="502920"/>
          </a:xfrm>
          <a:prstGeom prst="rect">
            <a:avLst/>
          </a:prstGeom>
          <a:noFill/>
          <a:ln/>
        </p:spPr>
        <p:txBody>
          <a:bodyPr wrap="square" lIns="0" tIns="0" rIns="0" bIns="0" rtlCol="0" anchor="ctr"/>
          <a:lstStyle/>
          <a:p>
            <a:pPr indent="0" marL="0">
              <a:buNone/>
            </a:pPr>
            <a:r>
              <a:rPr lang="en-US" sz="2600" b="1" dirty="0">
                <a:solidFill>
                  <a:srgbClr val="171717"/>
                </a:solidFill>
                <a:latin typeface="Arial" pitchFamily="34" charset="0"/>
                <a:ea typeface="Arial" pitchFamily="34" charset="-122"/>
                <a:cs typeface="Arial" pitchFamily="34" charset="-120"/>
              </a:rPr>
              <a:t>Digital Experience &amp; Customer Care</a:t>
            </a:r>
            <a:endParaRPr lang="en-US" sz="2600" dirty="0"/>
          </a:p>
        </p:txBody>
      </p:sp>
      <p:sp>
        <p:nvSpPr>
          <p:cNvPr id="6" name="Text 3"/>
          <p:cNvSpPr/>
          <p:nvPr/>
        </p:nvSpPr>
        <p:spPr>
          <a:xfrm>
            <a:off x="731520" y="1691640"/>
            <a:ext cx="10698480" cy="411480"/>
          </a:xfrm>
          <a:prstGeom prst="rect">
            <a:avLst/>
          </a:prstGeom>
          <a:noFill/>
          <a:ln/>
        </p:spPr>
        <p:txBody>
          <a:bodyPr wrap="square" lIns="0" tIns="0" rIns="0" bIns="0" rtlCol="0" anchor="ctr"/>
          <a:lstStyle/>
          <a:p>
            <a:pPr indent="0" marL="0">
              <a:buNone/>
            </a:pPr>
            <a:r>
              <a:rPr lang="en-US" sz="1500" b="1" dirty="0">
                <a:solidFill>
                  <a:srgbClr val="14532D"/>
                </a:solidFill>
                <a:latin typeface="Calibri" pitchFamily="34" charset="0"/>
                <a:ea typeface="Calibri" pitchFamily="34" charset="-122"/>
                <a:cs typeface="Calibri" pitchFamily="34" charset="-120"/>
              </a:rPr>
              <a:t>التجربة الرقمية وخدمة العملاء</a:t>
            </a:r>
            <a:endParaRPr lang="en-US" sz="1500" dirty="0"/>
          </a:p>
        </p:txBody>
      </p:sp>
      <p:sp>
        <p:nvSpPr>
          <p:cNvPr id="7" name="Text 4"/>
          <p:cNvSpPr/>
          <p:nvPr/>
        </p:nvSpPr>
        <p:spPr>
          <a:xfrm>
            <a:off x="731520" y="2240280"/>
            <a:ext cx="10698480" cy="457200"/>
          </a:xfrm>
          <a:prstGeom prst="rect">
            <a:avLst/>
          </a:prstGeom>
          <a:noFill/>
          <a:ln/>
        </p:spPr>
        <p:txBody>
          <a:bodyPr wrap="square" lIns="0" tIns="0" rIns="0" bIns="0" rtlCol="0" anchor="ctr"/>
          <a:lstStyle/>
          <a:p>
            <a:pPr indent="0" marL="0">
              <a:buNone/>
            </a:pPr>
            <a:r>
              <a:rPr lang="en-US" sz="1300" dirty="0">
                <a:solidFill>
                  <a:srgbClr val="404040"/>
                </a:solidFill>
                <a:latin typeface="Calibri" pitchFamily="34" charset="0"/>
                <a:ea typeface="Calibri" pitchFamily="34" charset="-122"/>
                <a:cs typeface="Calibri" pitchFamily="34" charset="-120"/>
              </a:rPr>
              <a:t>A seamless digital shopping experience through our website, secure payment options, responsive WhatsApp support, and an active presence on social media.</a:t>
            </a:r>
            <a:endParaRPr lang="en-US" sz="1300" dirty="0"/>
          </a:p>
        </p:txBody>
      </p:sp>
      <p:sp>
        <p:nvSpPr>
          <p:cNvPr id="8" name="Text 5"/>
          <p:cNvSpPr/>
          <p:nvPr/>
        </p:nvSpPr>
        <p:spPr>
          <a:xfrm>
            <a:off x="731520" y="2697480"/>
            <a:ext cx="10698480" cy="457200"/>
          </a:xfrm>
          <a:prstGeom prst="rect">
            <a:avLst/>
          </a:prstGeom>
          <a:noFill/>
          <a:ln/>
        </p:spPr>
        <p:txBody>
          <a:bodyPr wrap="square" lIns="0" tIns="0" rIns="0" bIns="0" rtlCol="0" anchor="ctr"/>
          <a:lstStyle/>
          <a:p>
            <a:pPr algn="r" indent="0" marL="0">
              <a:buNone/>
            </a:pPr>
            <a:r>
              <a:rPr lang="en-US" sz="1250" dirty="0">
                <a:solidFill>
                  <a:srgbClr val="404040"/>
                </a:solidFill>
                <a:latin typeface="Calibri" pitchFamily="34" charset="0"/>
                <a:ea typeface="Calibri" pitchFamily="34" charset="-122"/>
                <a:cs typeface="Calibri" pitchFamily="34" charset="-120"/>
              </a:rPr>
              <a:t>تجربة تسوق رقمية سلسة عبر موقعنا الإلكتروني، مع خيارات دفع آمنة، ودعم عملاء سريع عبر واتساب، وحضور نشط على منصات التواصل الاجتماعي.</a:t>
            </a:r>
            <a:endParaRPr lang="en-US" sz="1250" dirty="0"/>
          </a:p>
        </p:txBody>
      </p:sp>
      <p:sp>
        <p:nvSpPr>
          <p:cNvPr id="9" name="Shape 6"/>
          <p:cNvSpPr/>
          <p:nvPr/>
        </p:nvSpPr>
        <p:spPr>
          <a:xfrm>
            <a:off x="516636" y="3429000"/>
            <a:ext cx="1691640" cy="1828800"/>
          </a:xfrm>
          <a:prstGeom prst="roundRect">
            <a:avLst>
              <a:gd name="adj" fmla="val 5405"/>
            </a:avLst>
          </a:prstGeom>
          <a:solidFill>
            <a:srgbClr val="FAFAFA"/>
          </a:solidFill>
          <a:ln/>
        </p:spPr>
      </p:sp>
      <p:sp>
        <p:nvSpPr>
          <p:cNvPr id="10" name="Shape 7"/>
          <p:cNvSpPr/>
          <p:nvPr/>
        </p:nvSpPr>
        <p:spPr>
          <a:xfrm>
            <a:off x="1065276" y="3630168"/>
            <a:ext cx="594360" cy="594360"/>
          </a:xfrm>
          <a:prstGeom prst="ellipse">
            <a:avLst/>
          </a:prstGeom>
          <a:solidFill>
            <a:srgbClr val="14532D"/>
          </a:solidFill>
          <a:ln/>
        </p:spPr>
      </p:sp>
      <p:pic>
        <p:nvPicPr>
          <p:cNvPr id="11" name="Image 1" descr="/tmp/claude-0/-home-user-Alhisan-alriyadi/26da07a5-a74a-5428-98ab-1d407f05d509/scratchpad/profile-deck/icons/lock.png">    </p:cNvPr>
          <p:cNvPicPr>
            <a:picLocks noChangeAspect="1"/>
          </p:cNvPicPr>
          <p:nvPr/>
        </p:nvPicPr>
        <p:blipFill>
          <a:blip r:embed="rId2"/>
          <a:stretch>
            <a:fillRect/>
          </a:stretch>
        </p:blipFill>
        <p:spPr>
          <a:xfrm>
            <a:off x="1207922" y="3772814"/>
            <a:ext cx="309067" cy="309067"/>
          </a:xfrm>
          <a:prstGeom prst="rect">
            <a:avLst/>
          </a:prstGeom>
        </p:spPr>
      </p:pic>
      <p:sp>
        <p:nvSpPr>
          <p:cNvPr id="12" name="Text 8"/>
          <p:cNvSpPr/>
          <p:nvPr/>
        </p:nvSpPr>
        <p:spPr>
          <a:xfrm>
            <a:off x="589788" y="4343400"/>
            <a:ext cx="1545336" cy="457200"/>
          </a:xfrm>
          <a:prstGeom prst="rect">
            <a:avLst/>
          </a:prstGeom>
          <a:noFill/>
          <a:ln/>
        </p:spPr>
        <p:txBody>
          <a:bodyPr wrap="square" lIns="0" tIns="0" rIns="0" bIns="0" rtlCol="0" anchor="t"/>
          <a:lstStyle/>
          <a:p>
            <a:pPr algn="ctr" indent="0" marL="0">
              <a:buNone/>
            </a:pPr>
            <a:r>
              <a:rPr lang="en-US" sz="950" b="1" dirty="0">
                <a:solidFill>
                  <a:srgbClr val="171717"/>
                </a:solidFill>
                <a:latin typeface="Calibri" pitchFamily="34" charset="0"/>
                <a:ea typeface="Calibri" pitchFamily="34" charset="-122"/>
                <a:cs typeface="Calibri" pitchFamily="34" charset="-120"/>
              </a:rPr>
              <a:t>Mada / Visa / Apple Pay</a:t>
            </a:r>
            <a:endParaRPr lang="en-US" sz="950" dirty="0"/>
          </a:p>
        </p:txBody>
      </p:sp>
      <p:sp>
        <p:nvSpPr>
          <p:cNvPr id="13" name="Text 9"/>
          <p:cNvSpPr/>
          <p:nvPr/>
        </p:nvSpPr>
        <p:spPr>
          <a:xfrm>
            <a:off x="589788" y="4873752"/>
            <a:ext cx="1545336" cy="347472"/>
          </a:xfrm>
          <a:prstGeom prst="rect">
            <a:avLst/>
          </a:prstGeom>
          <a:noFill/>
          <a:ln/>
        </p:spPr>
        <p:txBody>
          <a:bodyPr wrap="square" lIns="0" tIns="0" rIns="0" bIns="0" rtlCol="0" anchor="t"/>
          <a:lstStyle/>
          <a:p>
            <a:pPr algn="ctr" indent="0" marL="0">
              <a:buNone/>
            </a:pPr>
            <a:r>
              <a:rPr lang="en-US" sz="900" dirty="0">
                <a:solidFill>
                  <a:srgbClr val="737373"/>
                </a:solidFill>
                <a:latin typeface="Calibri" pitchFamily="34" charset="0"/>
                <a:ea typeface="Calibri" pitchFamily="34" charset="-122"/>
                <a:cs typeface="Calibri" pitchFamily="34" charset="-120"/>
              </a:rPr>
              <a:t>مدى / فيزا / Apple Pay</a:t>
            </a:r>
            <a:endParaRPr lang="en-US" sz="900" dirty="0"/>
          </a:p>
        </p:txBody>
      </p:sp>
      <p:sp>
        <p:nvSpPr>
          <p:cNvPr id="14" name="Shape 10"/>
          <p:cNvSpPr/>
          <p:nvPr/>
        </p:nvSpPr>
        <p:spPr>
          <a:xfrm>
            <a:off x="2409444" y="3429000"/>
            <a:ext cx="1691640" cy="1828800"/>
          </a:xfrm>
          <a:prstGeom prst="roundRect">
            <a:avLst>
              <a:gd name="adj" fmla="val 5405"/>
            </a:avLst>
          </a:prstGeom>
          <a:solidFill>
            <a:srgbClr val="FAFAFA"/>
          </a:solidFill>
          <a:ln/>
        </p:spPr>
      </p:sp>
      <p:sp>
        <p:nvSpPr>
          <p:cNvPr id="15" name="Shape 11"/>
          <p:cNvSpPr/>
          <p:nvPr/>
        </p:nvSpPr>
        <p:spPr>
          <a:xfrm>
            <a:off x="2958084" y="3630168"/>
            <a:ext cx="594360" cy="594360"/>
          </a:xfrm>
          <a:prstGeom prst="ellipse">
            <a:avLst/>
          </a:prstGeom>
          <a:solidFill>
            <a:srgbClr val="14532D"/>
          </a:solidFill>
          <a:ln/>
        </p:spPr>
      </p:sp>
      <p:pic>
        <p:nvPicPr>
          <p:cNvPr id="16" name="Image 2" descr="/tmp/claude-0/-home-user-Alhisan-alriyadi/26da07a5-a74a-5428-98ab-1d407f05d509/scratchpad/profile-deck/icons/whatsapp.png">    </p:cNvPr>
          <p:cNvPicPr>
            <a:picLocks noChangeAspect="1"/>
          </p:cNvPicPr>
          <p:nvPr/>
        </p:nvPicPr>
        <p:blipFill>
          <a:blip r:embed="rId3"/>
          <a:stretch>
            <a:fillRect/>
          </a:stretch>
        </p:blipFill>
        <p:spPr>
          <a:xfrm>
            <a:off x="3100730" y="3772814"/>
            <a:ext cx="309067" cy="309067"/>
          </a:xfrm>
          <a:prstGeom prst="rect">
            <a:avLst/>
          </a:prstGeom>
        </p:spPr>
      </p:pic>
      <p:sp>
        <p:nvSpPr>
          <p:cNvPr id="17" name="Text 12"/>
          <p:cNvSpPr/>
          <p:nvPr/>
        </p:nvSpPr>
        <p:spPr>
          <a:xfrm>
            <a:off x="2482596" y="4343400"/>
            <a:ext cx="1545336" cy="457200"/>
          </a:xfrm>
          <a:prstGeom prst="rect">
            <a:avLst/>
          </a:prstGeom>
          <a:noFill/>
          <a:ln/>
        </p:spPr>
        <p:txBody>
          <a:bodyPr wrap="square" lIns="0" tIns="0" rIns="0" bIns="0" rtlCol="0" anchor="t"/>
          <a:lstStyle/>
          <a:p>
            <a:pPr algn="ctr" indent="0" marL="0">
              <a:buNone/>
            </a:pPr>
            <a:r>
              <a:rPr lang="en-US" sz="950" b="1" dirty="0">
                <a:solidFill>
                  <a:srgbClr val="171717"/>
                </a:solidFill>
                <a:latin typeface="Calibri" pitchFamily="34" charset="0"/>
                <a:ea typeface="Calibri" pitchFamily="34" charset="-122"/>
                <a:cs typeface="Calibri" pitchFamily="34" charset="-120"/>
              </a:rPr>
              <a:t>WhatsApp Support</a:t>
            </a:r>
            <a:endParaRPr lang="en-US" sz="950" dirty="0"/>
          </a:p>
        </p:txBody>
      </p:sp>
      <p:sp>
        <p:nvSpPr>
          <p:cNvPr id="18" name="Text 13"/>
          <p:cNvSpPr/>
          <p:nvPr/>
        </p:nvSpPr>
        <p:spPr>
          <a:xfrm>
            <a:off x="2482596" y="4873752"/>
            <a:ext cx="1545336" cy="347472"/>
          </a:xfrm>
          <a:prstGeom prst="rect">
            <a:avLst/>
          </a:prstGeom>
          <a:noFill/>
          <a:ln/>
        </p:spPr>
        <p:txBody>
          <a:bodyPr wrap="square" lIns="0" tIns="0" rIns="0" bIns="0" rtlCol="0" anchor="t"/>
          <a:lstStyle/>
          <a:p>
            <a:pPr algn="ctr" indent="0" marL="0">
              <a:buNone/>
            </a:pPr>
            <a:r>
              <a:rPr lang="en-US" sz="900" dirty="0">
                <a:solidFill>
                  <a:srgbClr val="737373"/>
                </a:solidFill>
                <a:latin typeface="Calibri" pitchFamily="34" charset="0"/>
                <a:ea typeface="Calibri" pitchFamily="34" charset="-122"/>
                <a:cs typeface="Calibri" pitchFamily="34" charset="-120"/>
              </a:rPr>
              <a:t>دعم عبر واتساب</a:t>
            </a:r>
            <a:endParaRPr lang="en-US" sz="900" dirty="0"/>
          </a:p>
        </p:txBody>
      </p:sp>
      <p:sp>
        <p:nvSpPr>
          <p:cNvPr id="19" name="Shape 14"/>
          <p:cNvSpPr/>
          <p:nvPr/>
        </p:nvSpPr>
        <p:spPr>
          <a:xfrm>
            <a:off x="4302252" y="3429000"/>
            <a:ext cx="1691640" cy="1828800"/>
          </a:xfrm>
          <a:prstGeom prst="roundRect">
            <a:avLst>
              <a:gd name="adj" fmla="val 5405"/>
            </a:avLst>
          </a:prstGeom>
          <a:solidFill>
            <a:srgbClr val="FAFAFA"/>
          </a:solidFill>
          <a:ln/>
        </p:spPr>
      </p:sp>
      <p:sp>
        <p:nvSpPr>
          <p:cNvPr id="20" name="Shape 15"/>
          <p:cNvSpPr/>
          <p:nvPr/>
        </p:nvSpPr>
        <p:spPr>
          <a:xfrm>
            <a:off x="4850892" y="3630168"/>
            <a:ext cx="594360" cy="594360"/>
          </a:xfrm>
          <a:prstGeom prst="ellipse">
            <a:avLst/>
          </a:prstGeom>
          <a:solidFill>
            <a:srgbClr val="14532D"/>
          </a:solidFill>
          <a:ln/>
        </p:spPr>
      </p:sp>
      <p:pic>
        <p:nvPicPr>
          <p:cNvPr id="21" name="Image 3" descr="/tmp/claude-0/-home-user-Alhisan-alriyadi/26da07a5-a74a-5428-98ab-1d407f05d509/scratchpad/profile-deck/icons/instagram.png">    </p:cNvPr>
          <p:cNvPicPr>
            <a:picLocks noChangeAspect="1"/>
          </p:cNvPicPr>
          <p:nvPr/>
        </p:nvPicPr>
        <p:blipFill>
          <a:blip r:embed="rId4"/>
          <a:stretch>
            <a:fillRect/>
          </a:stretch>
        </p:blipFill>
        <p:spPr>
          <a:xfrm>
            <a:off x="4993538" y="3772814"/>
            <a:ext cx="309067" cy="309067"/>
          </a:xfrm>
          <a:prstGeom prst="rect">
            <a:avLst/>
          </a:prstGeom>
        </p:spPr>
      </p:pic>
      <p:sp>
        <p:nvSpPr>
          <p:cNvPr id="22" name="Text 16"/>
          <p:cNvSpPr/>
          <p:nvPr/>
        </p:nvSpPr>
        <p:spPr>
          <a:xfrm>
            <a:off x="4375404" y="4343400"/>
            <a:ext cx="1545336" cy="457200"/>
          </a:xfrm>
          <a:prstGeom prst="rect">
            <a:avLst/>
          </a:prstGeom>
          <a:noFill/>
          <a:ln/>
        </p:spPr>
        <p:txBody>
          <a:bodyPr wrap="square" lIns="0" tIns="0" rIns="0" bIns="0" rtlCol="0" anchor="t"/>
          <a:lstStyle/>
          <a:p>
            <a:pPr algn="ctr" indent="0" marL="0">
              <a:buNone/>
            </a:pPr>
            <a:r>
              <a:rPr lang="en-US" sz="950" b="1" dirty="0">
                <a:solidFill>
                  <a:srgbClr val="171717"/>
                </a:solidFill>
                <a:latin typeface="Calibri" pitchFamily="34" charset="0"/>
                <a:ea typeface="Calibri" pitchFamily="34" charset="-122"/>
                <a:cs typeface="Calibri" pitchFamily="34" charset="-120"/>
              </a:rPr>
              <a:t>Instagram</a:t>
            </a:r>
            <a:endParaRPr lang="en-US" sz="950" dirty="0"/>
          </a:p>
        </p:txBody>
      </p:sp>
      <p:sp>
        <p:nvSpPr>
          <p:cNvPr id="23" name="Text 17"/>
          <p:cNvSpPr/>
          <p:nvPr/>
        </p:nvSpPr>
        <p:spPr>
          <a:xfrm>
            <a:off x="4375404" y="4873752"/>
            <a:ext cx="1545336" cy="347472"/>
          </a:xfrm>
          <a:prstGeom prst="rect">
            <a:avLst/>
          </a:prstGeom>
          <a:noFill/>
          <a:ln/>
        </p:spPr>
        <p:txBody>
          <a:bodyPr wrap="square" lIns="0" tIns="0" rIns="0" bIns="0" rtlCol="0" anchor="t"/>
          <a:lstStyle/>
          <a:p>
            <a:pPr algn="ctr" indent="0" marL="0">
              <a:buNone/>
            </a:pPr>
            <a:r>
              <a:rPr lang="en-US" sz="900" dirty="0">
                <a:solidFill>
                  <a:srgbClr val="737373"/>
                </a:solidFill>
                <a:latin typeface="Calibri" pitchFamily="34" charset="0"/>
                <a:ea typeface="Calibri" pitchFamily="34" charset="-122"/>
                <a:cs typeface="Calibri" pitchFamily="34" charset="-120"/>
              </a:rPr>
              <a:t>إنستغرام</a:t>
            </a:r>
            <a:endParaRPr lang="en-US" sz="900" dirty="0"/>
          </a:p>
        </p:txBody>
      </p:sp>
      <p:sp>
        <p:nvSpPr>
          <p:cNvPr id="24" name="Shape 18"/>
          <p:cNvSpPr/>
          <p:nvPr/>
        </p:nvSpPr>
        <p:spPr>
          <a:xfrm>
            <a:off x="6195060" y="3429000"/>
            <a:ext cx="1691640" cy="1828800"/>
          </a:xfrm>
          <a:prstGeom prst="roundRect">
            <a:avLst>
              <a:gd name="adj" fmla="val 5405"/>
            </a:avLst>
          </a:prstGeom>
          <a:solidFill>
            <a:srgbClr val="FAFAFA"/>
          </a:solidFill>
          <a:ln/>
        </p:spPr>
      </p:sp>
      <p:sp>
        <p:nvSpPr>
          <p:cNvPr id="25" name="Shape 19"/>
          <p:cNvSpPr/>
          <p:nvPr/>
        </p:nvSpPr>
        <p:spPr>
          <a:xfrm>
            <a:off x="6743700" y="3630168"/>
            <a:ext cx="594360" cy="594360"/>
          </a:xfrm>
          <a:prstGeom prst="ellipse">
            <a:avLst/>
          </a:prstGeom>
          <a:solidFill>
            <a:srgbClr val="14532D"/>
          </a:solidFill>
          <a:ln/>
        </p:spPr>
      </p:sp>
      <p:pic>
        <p:nvPicPr>
          <p:cNvPr id="26" name="Image 4" descr="/tmp/claude-0/-home-user-Alhisan-alriyadi/26da07a5-a74a-5428-98ab-1d407f05d509/scratchpad/profile-deck/icons/tiktok.png">    </p:cNvPr>
          <p:cNvPicPr>
            <a:picLocks noChangeAspect="1"/>
          </p:cNvPicPr>
          <p:nvPr/>
        </p:nvPicPr>
        <p:blipFill>
          <a:blip r:embed="rId5"/>
          <a:stretch>
            <a:fillRect/>
          </a:stretch>
        </p:blipFill>
        <p:spPr>
          <a:xfrm>
            <a:off x="6886346" y="3772814"/>
            <a:ext cx="309067" cy="309067"/>
          </a:xfrm>
          <a:prstGeom prst="rect">
            <a:avLst/>
          </a:prstGeom>
        </p:spPr>
      </p:pic>
      <p:sp>
        <p:nvSpPr>
          <p:cNvPr id="27" name="Text 20"/>
          <p:cNvSpPr/>
          <p:nvPr/>
        </p:nvSpPr>
        <p:spPr>
          <a:xfrm>
            <a:off x="6268212" y="4343400"/>
            <a:ext cx="1545336" cy="457200"/>
          </a:xfrm>
          <a:prstGeom prst="rect">
            <a:avLst/>
          </a:prstGeom>
          <a:noFill/>
          <a:ln/>
        </p:spPr>
        <p:txBody>
          <a:bodyPr wrap="square" lIns="0" tIns="0" rIns="0" bIns="0" rtlCol="0" anchor="t"/>
          <a:lstStyle/>
          <a:p>
            <a:pPr algn="ctr" indent="0" marL="0">
              <a:buNone/>
            </a:pPr>
            <a:r>
              <a:rPr lang="en-US" sz="950" b="1" dirty="0">
                <a:solidFill>
                  <a:srgbClr val="171717"/>
                </a:solidFill>
                <a:latin typeface="Calibri" pitchFamily="34" charset="0"/>
                <a:ea typeface="Calibri" pitchFamily="34" charset="-122"/>
                <a:cs typeface="Calibri" pitchFamily="34" charset="-120"/>
              </a:rPr>
              <a:t>TikTok</a:t>
            </a:r>
            <a:endParaRPr lang="en-US" sz="950" dirty="0"/>
          </a:p>
        </p:txBody>
      </p:sp>
      <p:sp>
        <p:nvSpPr>
          <p:cNvPr id="28" name="Text 21"/>
          <p:cNvSpPr/>
          <p:nvPr/>
        </p:nvSpPr>
        <p:spPr>
          <a:xfrm>
            <a:off x="6268212" y="4873752"/>
            <a:ext cx="1545336" cy="347472"/>
          </a:xfrm>
          <a:prstGeom prst="rect">
            <a:avLst/>
          </a:prstGeom>
          <a:noFill/>
          <a:ln/>
        </p:spPr>
        <p:txBody>
          <a:bodyPr wrap="square" lIns="0" tIns="0" rIns="0" bIns="0" rtlCol="0" anchor="t"/>
          <a:lstStyle/>
          <a:p>
            <a:pPr algn="ctr" indent="0" marL="0">
              <a:buNone/>
            </a:pPr>
            <a:r>
              <a:rPr lang="en-US" sz="900" dirty="0">
                <a:solidFill>
                  <a:srgbClr val="737373"/>
                </a:solidFill>
                <a:latin typeface="Calibri" pitchFamily="34" charset="0"/>
                <a:ea typeface="Calibri" pitchFamily="34" charset="-122"/>
                <a:cs typeface="Calibri" pitchFamily="34" charset="-120"/>
              </a:rPr>
              <a:t>تيك توك</a:t>
            </a:r>
            <a:endParaRPr lang="en-US" sz="900" dirty="0"/>
          </a:p>
        </p:txBody>
      </p:sp>
      <p:sp>
        <p:nvSpPr>
          <p:cNvPr id="29" name="Shape 22"/>
          <p:cNvSpPr/>
          <p:nvPr/>
        </p:nvSpPr>
        <p:spPr>
          <a:xfrm>
            <a:off x="8087868" y="3429000"/>
            <a:ext cx="1691640" cy="1828800"/>
          </a:xfrm>
          <a:prstGeom prst="roundRect">
            <a:avLst>
              <a:gd name="adj" fmla="val 5405"/>
            </a:avLst>
          </a:prstGeom>
          <a:solidFill>
            <a:srgbClr val="FAFAFA"/>
          </a:solidFill>
          <a:ln/>
        </p:spPr>
      </p:sp>
      <p:sp>
        <p:nvSpPr>
          <p:cNvPr id="30" name="Shape 23"/>
          <p:cNvSpPr/>
          <p:nvPr/>
        </p:nvSpPr>
        <p:spPr>
          <a:xfrm>
            <a:off x="8636508" y="3630168"/>
            <a:ext cx="594360" cy="594360"/>
          </a:xfrm>
          <a:prstGeom prst="ellipse">
            <a:avLst/>
          </a:prstGeom>
          <a:solidFill>
            <a:srgbClr val="14532D"/>
          </a:solidFill>
          <a:ln/>
        </p:spPr>
      </p:sp>
      <p:pic>
        <p:nvPicPr>
          <p:cNvPr id="31" name="Image 5" descr="/tmp/claude-0/-home-user-Alhisan-alriyadi/26da07a5-a74a-5428-98ab-1d407f05d509/scratchpad/profile-deck/icons/snapchat.png">    </p:cNvPr>
          <p:cNvPicPr>
            <a:picLocks noChangeAspect="1"/>
          </p:cNvPicPr>
          <p:nvPr/>
        </p:nvPicPr>
        <p:blipFill>
          <a:blip r:embed="rId6"/>
          <a:stretch>
            <a:fillRect/>
          </a:stretch>
        </p:blipFill>
        <p:spPr>
          <a:xfrm>
            <a:off x="8779154" y="3772814"/>
            <a:ext cx="309067" cy="309067"/>
          </a:xfrm>
          <a:prstGeom prst="rect">
            <a:avLst/>
          </a:prstGeom>
        </p:spPr>
      </p:pic>
      <p:sp>
        <p:nvSpPr>
          <p:cNvPr id="32" name="Text 24"/>
          <p:cNvSpPr/>
          <p:nvPr/>
        </p:nvSpPr>
        <p:spPr>
          <a:xfrm>
            <a:off x="8161020" y="4343400"/>
            <a:ext cx="1545336" cy="457200"/>
          </a:xfrm>
          <a:prstGeom prst="rect">
            <a:avLst/>
          </a:prstGeom>
          <a:noFill/>
          <a:ln/>
        </p:spPr>
        <p:txBody>
          <a:bodyPr wrap="square" lIns="0" tIns="0" rIns="0" bIns="0" rtlCol="0" anchor="t"/>
          <a:lstStyle/>
          <a:p>
            <a:pPr algn="ctr" indent="0" marL="0">
              <a:buNone/>
            </a:pPr>
            <a:r>
              <a:rPr lang="en-US" sz="950" b="1" dirty="0">
                <a:solidFill>
                  <a:srgbClr val="171717"/>
                </a:solidFill>
                <a:latin typeface="Calibri" pitchFamily="34" charset="0"/>
                <a:ea typeface="Calibri" pitchFamily="34" charset="-122"/>
                <a:cs typeface="Calibri" pitchFamily="34" charset="-120"/>
              </a:rPr>
              <a:t>Snapchat</a:t>
            </a:r>
            <a:endParaRPr lang="en-US" sz="950" dirty="0"/>
          </a:p>
        </p:txBody>
      </p:sp>
      <p:sp>
        <p:nvSpPr>
          <p:cNvPr id="33" name="Text 25"/>
          <p:cNvSpPr/>
          <p:nvPr/>
        </p:nvSpPr>
        <p:spPr>
          <a:xfrm>
            <a:off x="8161020" y="4873752"/>
            <a:ext cx="1545336" cy="347472"/>
          </a:xfrm>
          <a:prstGeom prst="rect">
            <a:avLst/>
          </a:prstGeom>
          <a:noFill/>
          <a:ln/>
        </p:spPr>
        <p:txBody>
          <a:bodyPr wrap="square" lIns="0" tIns="0" rIns="0" bIns="0" rtlCol="0" anchor="t"/>
          <a:lstStyle/>
          <a:p>
            <a:pPr algn="ctr" indent="0" marL="0">
              <a:buNone/>
            </a:pPr>
            <a:r>
              <a:rPr lang="en-US" sz="900" dirty="0">
                <a:solidFill>
                  <a:srgbClr val="737373"/>
                </a:solidFill>
                <a:latin typeface="Calibri" pitchFamily="34" charset="0"/>
                <a:ea typeface="Calibri" pitchFamily="34" charset="-122"/>
                <a:cs typeface="Calibri" pitchFamily="34" charset="-120"/>
              </a:rPr>
              <a:t>سناب شات</a:t>
            </a:r>
            <a:endParaRPr lang="en-US" sz="900" dirty="0"/>
          </a:p>
        </p:txBody>
      </p:sp>
      <p:sp>
        <p:nvSpPr>
          <p:cNvPr id="34" name="Shape 26"/>
          <p:cNvSpPr/>
          <p:nvPr/>
        </p:nvSpPr>
        <p:spPr>
          <a:xfrm>
            <a:off x="9980676" y="3429000"/>
            <a:ext cx="1691640" cy="1828800"/>
          </a:xfrm>
          <a:prstGeom prst="roundRect">
            <a:avLst>
              <a:gd name="adj" fmla="val 5405"/>
            </a:avLst>
          </a:prstGeom>
          <a:solidFill>
            <a:srgbClr val="FAFAFA"/>
          </a:solidFill>
          <a:ln/>
        </p:spPr>
      </p:sp>
      <p:sp>
        <p:nvSpPr>
          <p:cNvPr id="35" name="Shape 27"/>
          <p:cNvSpPr/>
          <p:nvPr/>
        </p:nvSpPr>
        <p:spPr>
          <a:xfrm>
            <a:off x="10529316" y="3630168"/>
            <a:ext cx="594360" cy="594360"/>
          </a:xfrm>
          <a:prstGeom prst="ellipse">
            <a:avLst/>
          </a:prstGeom>
          <a:solidFill>
            <a:srgbClr val="14532D"/>
          </a:solidFill>
          <a:ln/>
        </p:spPr>
      </p:sp>
      <p:pic>
        <p:nvPicPr>
          <p:cNvPr id="36" name="Image 6" descr="/tmp/claude-0/-home-user-Alhisan-alriyadi/26da07a5-a74a-5428-98ab-1d407f05d509/scratchpad/profile-deck/icons/facebook.png">    </p:cNvPr>
          <p:cNvPicPr>
            <a:picLocks noChangeAspect="1"/>
          </p:cNvPicPr>
          <p:nvPr/>
        </p:nvPicPr>
        <p:blipFill>
          <a:blip r:embed="rId7"/>
          <a:stretch>
            <a:fillRect/>
          </a:stretch>
        </p:blipFill>
        <p:spPr>
          <a:xfrm>
            <a:off x="10671962" y="3772814"/>
            <a:ext cx="309067" cy="309067"/>
          </a:xfrm>
          <a:prstGeom prst="rect">
            <a:avLst/>
          </a:prstGeom>
        </p:spPr>
      </p:pic>
      <p:sp>
        <p:nvSpPr>
          <p:cNvPr id="37" name="Text 28"/>
          <p:cNvSpPr/>
          <p:nvPr/>
        </p:nvSpPr>
        <p:spPr>
          <a:xfrm>
            <a:off x="10053828" y="4343400"/>
            <a:ext cx="1545336" cy="457200"/>
          </a:xfrm>
          <a:prstGeom prst="rect">
            <a:avLst/>
          </a:prstGeom>
          <a:noFill/>
          <a:ln/>
        </p:spPr>
        <p:txBody>
          <a:bodyPr wrap="square" lIns="0" tIns="0" rIns="0" bIns="0" rtlCol="0" anchor="t"/>
          <a:lstStyle/>
          <a:p>
            <a:pPr algn="ctr" indent="0" marL="0">
              <a:buNone/>
            </a:pPr>
            <a:r>
              <a:rPr lang="en-US" sz="950" b="1" dirty="0">
                <a:solidFill>
                  <a:srgbClr val="171717"/>
                </a:solidFill>
                <a:latin typeface="Calibri" pitchFamily="34" charset="0"/>
                <a:ea typeface="Calibri" pitchFamily="34" charset="-122"/>
                <a:cs typeface="Calibri" pitchFamily="34" charset="-120"/>
              </a:rPr>
              <a:t>Facebook</a:t>
            </a:r>
            <a:endParaRPr lang="en-US" sz="950" dirty="0"/>
          </a:p>
        </p:txBody>
      </p:sp>
      <p:sp>
        <p:nvSpPr>
          <p:cNvPr id="38" name="Text 29"/>
          <p:cNvSpPr/>
          <p:nvPr/>
        </p:nvSpPr>
        <p:spPr>
          <a:xfrm>
            <a:off x="10053828" y="4873752"/>
            <a:ext cx="1545336" cy="347472"/>
          </a:xfrm>
          <a:prstGeom prst="rect">
            <a:avLst/>
          </a:prstGeom>
          <a:noFill/>
          <a:ln/>
        </p:spPr>
        <p:txBody>
          <a:bodyPr wrap="square" lIns="0" tIns="0" rIns="0" bIns="0" rtlCol="0" anchor="t"/>
          <a:lstStyle/>
          <a:p>
            <a:pPr algn="ctr" indent="0" marL="0">
              <a:buNone/>
            </a:pPr>
            <a:r>
              <a:rPr lang="en-US" sz="900" dirty="0">
                <a:solidFill>
                  <a:srgbClr val="737373"/>
                </a:solidFill>
                <a:latin typeface="Calibri" pitchFamily="34" charset="0"/>
                <a:ea typeface="Calibri" pitchFamily="34" charset="-122"/>
                <a:cs typeface="Calibri" pitchFamily="34" charset="-120"/>
              </a:rPr>
              <a:t>فيسبوك</a:t>
            </a:r>
            <a:endParaRPr lang="en-US" sz="900" dirty="0"/>
          </a:p>
        </p:txBody>
      </p:sp>
      <p:sp>
        <p:nvSpPr>
          <p:cNvPr id="39" name="Text 30"/>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23 / 26</a:t>
            </a:r>
            <a:endParaRPr lang="en-US" sz="900" dirty="0"/>
          </a:p>
        </p:txBody>
      </p:sp>
      <p:sp>
        <p:nvSpPr>
          <p:cNvPr id="40" name="Text 31"/>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Digital Experience   |   التجربة الرقمية</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3D22"/>
        </a:solidFill>
      </p:bgPr>
    </p:bg>
    <p:spTree>
      <p:nvGrpSpPr>
        <p:cNvPr id="1" name=""/>
        <p:cNvGrpSpPr/>
        <p:nvPr/>
      </p:nvGrpSpPr>
      <p:grpSpPr>
        <a:xfrm>
          <a:off x="0" y="0"/>
          <a:ext cx="0" cy="0"/>
          <a:chOff x="0" y="0"/>
          <a:chExt cx="0" cy="0"/>
        </a:xfrm>
      </p:grpSpPr>
      <p:sp>
        <p:nvSpPr>
          <p:cNvPr id="2" name="Shape 0"/>
          <p:cNvSpPr/>
          <p:nvPr/>
        </p:nvSpPr>
        <p:spPr>
          <a:xfrm>
            <a:off x="731520" y="640080"/>
            <a:ext cx="640080" cy="640080"/>
          </a:xfrm>
          <a:prstGeom prst="ellipse">
            <a:avLst/>
          </a:prstGeom>
          <a:solidFill>
            <a:srgbClr val="FFFFFF"/>
          </a:solidFill>
          <a:ln/>
        </p:spPr>
      </p:sp>
      <p:pic>
        <p:nvPicPr>
          <p:cNvPr id="3" name="Image 0" descr="/tmp/claude-0/-home-user-Alhisan-alriyadi/26da07a5-a74a-5428-98ab-1d407f05d509/scratchpad/profile-deck/icons/rocket.png">    </p:cNvPr>
          <p:cNvPicPr>
            <a:picLocks noChangeAspect="1"/>
          </p:cNvPicPr>
          <p:nvPr/>
        </p:nvPicPr>
        <p:blipFill>
          <a:blip r:embed="rId1"/>
          <a:stretch>
            <a:fillRect/>
          </a:stretch>
        </p:blipFill>
        <p:spPr>
          <a:xfrm>
            <a:off x="885139" y="793699"/>
            <a:ext cx="332842" cy="332842"/>
          </a:xfrm>
          <a:prstGeom prst="rect">
            <a:avLst/>
          </a:prstGeom>
        </p:spPr>
      </p:pic>
      <p:pic>
        <p:nvPicPr>
          <p:cNvPr id="4" name="Image 1" descr="/tmp/claude-0/-home-user-Alhisan-alriyadi/26da07a5-a74a-5428-98ab-1d407f05d509/scratchpad/profile-deck/icons/rocket.png">    </p:cNvPr>
          <p:cNvPicPr>
            <a:picLocks noChangeAspect="1"/>
          </p:cNvPicPr>
          <p:nvPr/>
        </p:nvPicPr>
        <p:blipFill>
          <a:blip r:embed="rId2"/>
          <a:stretch>
            <a:fillRect/>
          </a:stretch>
        </p:blipFill>
        <p:spPr>
          <a:xfrm>
            <a:off x="868680" y="777240"/>
            <a:ext cx="457200" cy="457200"/>
          </a:xfrm>
          <a:prstGeom prst="rect">
            <a:avLst/>
          </a:prstGeom>
        </p:spPr>
      </p:pic>
      <p:sp>
        <p:nvSpPr>
          <p:cNvPr id="5" name="Text 1"/>
          <p:cNvSpPr/>
          <p:nvPr/>
        </p:nvSpPr>
        <p:spPr>
          <a:xfrm>
            <a:off x="1600200" y="777240"/>
            <a:ext cx="5486400" cy="274320"/>
          </a:xfrm>
          <a:prstGeom prst="rect">
            <a:avLst/>
          </a:prstGeom>
          <a:noFill/>
          <a:ln/>
        </p:spPr>
        <p:txBody>
          <a:bodyPr wrap="square" lIns="0" tIns="0" rIns="0" bIns="0" rtlCol="0" anchor="ctr"/>
          <a:lstStyle/>
          <a:p>
            <a:pPr indent="0" marL="0">
              <a:buNone/>
            </a:pPr>
            <a:r>
              <a:rPr lang="en-US" sz="1100" b="1" spc="100" kern="0" dirty="0">
                <a:solidFill>
                  <a:srgbClr val="CFE3D6"/>
                </a:solidFill>
                <a:latin typeface="Calibri" pitchFamily="34" charset="0"/>
                <a:ea typeface="Calibri" pitchFamily="34" charset="-122"/>
                <a:cs typeface="Calibri" pitchFamily="34" charset="-120"/>
              </a:rPr>
              <a:t>FUTURE VISION  |  رؤية مستقبلية</a:t>
            </a:r>
            <a:endParaRPr lang="en-US" sz="1100" dirty="0"/>
          </a:p>
        </p:txBody>
      </p:sp>
      <p:sp>
        <p:nvSpPr>
          <p:cNvPr id="6" name="Text 2"/>
          <p:cNvSpPr/>
          <p:nvPr/>
        </p:nvSpPr>
        <p:spPr>
          <a:xfrm>
            <a:off x="731520" y="1280160"/>
            <a:ext cx="1069848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Future Vision &amp; Growth</a:t>
            </a:r>
            <a:endParaRPr lang="en-US" sz="2800" dirty="0"/>
          </a:p>
        </p:txBody>
      </p:sp>
      <p:sp>
        <p:nvSpPr>
          <p:cNvPr id="7" name="Text 3"/>
          <p:cNvSpPr/>
          <p:nvPr/>
        </p:nvSpPr>
        <p:spPr>
          <a:xfrm>
            <a:off x="731520" y="1874520"/>
            <a:ext cx="10698480" cy="457200"/>
          </a:xfrm>
          <a:prstGeom prst="rect">
            <a:avLst/>
          </a:prstGeom>
          <a:noFill/>
          <a:ln/>
        </p:spPr>
        <p:txBody>
          <a:bodyPr wrap="square" lIns="0" tIns="0" rIns="0" bIns="0" rtlCol="0" anchor="ctr"/>
          <a:lstStyle/>
          <a:p>
            <a:pPr indent="0" marL="0">
              <a:buNone/>
            </a:pPr>
            <a:r>
              <a:rPr lang="en-US" sz="1600" b="1" dirty="0">
                <a:solidFill>
                  <a:srgbClr val="CFE3D6"/>
                </a:solidFill>
                <a:latin typeface="Calibri" pitchFamily="34" charset="0"/>
                <a:ea typeface="Calibri" pitchFamily="34" charset="-122"/>
                <a:cs typeface="Calibri" pitchFamily="34" charset="-120"/>
              </a:rPr>
              <a:t>رؤيتنا المستقبلية للنمو</a:t>
            </a:r>
            <a:endParaRPr lang="en-US" sz="1600" dirty="0"/>
          </a:p>
        </p:txBody>
      </p:sp>
      <p:sp>
        <p:nvSpPr>
          <p:cNvPr id="8" name="Text 4"/>
          <p:cNvSpPr/>
          <p:nvPr/>
        </p:nvSpPr>
        <p:spPr>
          <a:xfrm>
            <a:off x="731520" y="2514600"/>
            <a:ext cx="10698480" cy="914400"/>
          </a:xfrm>
          <a:prstGeom prst="rect">
            <a:avLst/>
          </a:prstGeom>
          <a:noFill/>
          <a:ln/>
        </p:spPr>
        <p:txBody>
          <a:bodyPr wrap="square" lIns="0" tIns="0" rIns="0" bIns="0" rtlCol="0" anchor="ctr"/>
          <a:lstStyle/>
          <a:p>
            <a:pPr indent="0" marL="0">
              <a:lnSpc>
                <a:spcPct val="130000"/>
              </a:lnSpc>
              <a:buNone/>
            </a:pPr>
            <a:r>
              <a:rPr lang="en-US" sz="1400" dirty="0">
                <a:solidFill>
                  <a:srgbClr val="E8F1EC"/>
                </a:solidFill>
                <a:latin typeface="Calibri" pitchFamily="34" charset="0"/>
                <a:ea typeface="Calibri" pitchFamily="34" charset="-122"/>
                <a:cs typeface="Calibri" pitchFamily="34" charset="-120"/>
              </a:rPr>
              <a:t>Looking ahead, we aim to expand into wholesale and institutional supply partnerships, private-label capabilities, and potential future collaborations with sports academies and events — strengthening our position as a key player in Saudi Arabia's sports sector.</a:t>
            </a:r>
            <a:endParaRPr lang="en-US" sz="1400" dirty="0"/>
          </a:p>
        </p:txBody>
      </p:sp>
      <p:sp>
        <p:nvSpPr>
          <p:cNvPr id="9" name="Text 5"/>
          <p:cNvSpPr/>
          <p:nvPr/>
        </p:nvSpPr>
        <p:spPr>
          <a:xfrm>
            <a:off x="731520" y="3520440"/>
            <a:ext cx="10698480" cy="914400"/>
          </a:xfrm>
          <a:prstGeom prst="rect">
            <a:avLst/>
          </a:prstGeom>
          <a:noFill/>
          <a:ln/>
        </p:spPr>
        <p:txBody>
          <a:bodyPr wrap="square" lIns="0" tIns="0" rIns="0" bIns="0" rtlCol="0" anchor="ctr"/>
          <a:lstStyle/>
          <a:p>
            <a:pPr algn="r" indent="0" marL="0">
              <a:lnSpc>
                <a:spcPct val="140000"/>
              </a:lnSpc>
              <a:buNone/>
            </a:pPr>
            <a:r>
              <a:rPr lang="en-US" sz="1350" dirty="0">
                <a:solidFill>
                  <a:srgbClr val="E8F1EC"/>
                </a:solidFill>
                <a:latin typeface="Calibri" pitchFamily="34" charset="0"/>
                <a:ea typeface="Calibri" pitchFamily="34" charset="-122"/>
                <a:cs typeface="Calibri" pitchFamily="34" charset="-120"/>
              </a:rPr>
              <a:t>نتطلع إلى توسيع نطاق أعمالنا ليشمل شراكات الجملة والتوريد المؤسسي، وإمكانيات العلامة الخاصة، وتعاونات مستقبلية محتملة مع الأكاديميات الرياضية والفعاليات — بما يعزز مكانتنا كلاعب رئيسي في قطاع الرياضة بالمملكة.</a:t>
            </a:r>
            <a:endParaRPr lang="en-US" sz="1350" dirty="0"/>
          </a:p>
        </p:txBody>
      </p:sp>
      <p:sp>
        <p:nvSpPr>
          <p:cNvPr id="10" name="Shape 6"/>
          <p:cNvSpPr/>
          <p:nvPr/>
        </p:nvSpPr>
        <p:spPr>
          <a:xfrm>
            <a:off x="731520" y="4709160"/>
            <a:ext cx="10698480" cy="822960"/>
          </a:xfrm>
          <a:prstGeom prst="roundRect">
            <a:avLst>
              <a:gd name="adj" fmla="val 8889"/>
            </a:avLst>
          </a:prstGeom>
          <a:solidFill>
            <a:srgbClr val="0B2E1B"/>
          </a:solidFill>
          <a:ln w="12700">
            <a:solidFill>
              <a:srgbClr val="14532D"/>
            </a:solidFill>
            <a:prstDash val="solid"/>
          </a:ln>
        </p:spPr>
      </p:sp>
      <p:sp>
        <p:nvSpPr>
          <p:cNvPr id="11" name="Text 7"/>
          <p:cNvSpPr/>
          <p:nvPr/>
        </p:nvSpPr>
        <p:spPr>
          <a:xfrm>
            <a:off x="1005840" y="4828032"/>
            <a:ext cx="10149840" cy="274320"/>
          </a:xfrm>
          <a:prstGeom prst="rect">
            <a:avLst/>
          </a:prstGeom>
          <a:noFill/>
          <a:ln/>
        </p:spPr>
        <p:txBody>
          <a:bodyPr wrap="square" lIns="0" tIns="0" rIns="0" bIns="0" rtlCol="0" anchor="ctr"/>
          <a:lstStyle/>
          <a:p>
            <a:pPr indent="0" marL="0">
              <a:buNone/>
            </a:pPr>
            <a:r>
              <a:rPr lang="en-US" sz="1050" i="1" dirty="0">
                <a:solidFill>
                  <a:srgbClr val="CFE3D6"/>
                </a:solidFill>
                <a:latin typeface="Calibri" pitchFamily="34" charset="0"/>
                <a:ea typeface="Calibri" pitchFamily="34" charset="-122"/>
                <a:cs typeface="Calibri" pitchFamily="34" charset="-120"/>
              </a:rPr>
              <a:t>Note: This section reflects future strategic direction and is not a currently active service.</a:t>
            </a:r>
            <a:endParaRPr lang="en-US" sz="1050" dirty="0"/>
          </a:p>
        </p:txBody>
      </p:sp>
      <p:sp>
        <p:nvSpPr>
          <p:cNvPr id="12" name="Text 8"/>
          <p:cNvSpPr/>
          <p:nvPr/>
        </p:nvSpPr>
        <p:spPr>
          <a:xfrm>
            <a:off x="1005840" y="5138928"/>
            <a:ext cx="10149840" cy="274320"/>
          </a:xfrm>
          <a:prstGeom prst="rect">
            <a:avLst/>
          </a:prstGeom>
          <a:noFill/>
          <a:ln/>
        </p:spPr>
        <p:txBody>
          <a:bodyPr wrap="square" lIns="0" tIns="0" rIns="0" bIns="0" rtlCol="0" anchor="ctr"/>
          <a:lstStyle/>
          <a:p>
            <a:pPr algn="r" indent="0" marL="0">
              <a:buNone/>
            </a:pPr>
            <a:r>
              <a:rPr lang="en-US" sz="1000" i="1" dirty="0">
                <a:solidFill>
                  <a:srgbClr val="CFE3D6"/>
                </a:solidFill>
                <a:latin typeface="Calibri" pitchFamily="34" charset="0"/>
                <a:ea typeface="Calibri" pitchFamily="34" charset="-122"/>
                <a:cs typeface="Calibri" pitchFamily="34" charset="-120"/>
              </a:rPr>
              <a:t>ملاحظة: يعرض هذا القسم توجهًا استراتيجيًا مستقبليًا وليس خدمة قائمة حاليًا.</a:t>
            </a:r>
            <a:endParaRPr lang="en-US" sz="1000" dirty="0"/>
          </a:p>
        </p:txBody>
      </p:sp>
      <p:sp>
        <p:nvSpPr>
          <p:cNvPr id="13" name="Text 9"/>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24 / 26</a:t>
            </a:r>
            <a:endParaRPr lang="en-US" sz="900" dirty="0"/>
          </a:p>
        </p:txBody>
      </p:sp>
      <p:sp>
        <p:nvSpPr>
          <p:cNvPr id="14" name="Text 10"/>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Future Vision &amp; Growth   |   رؤيتنا المستقبلية</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548640"/>
            <a:ext cx="7315200" cy="548640"/>
          </a:xfrm>
          <a:prstGeom prst="rect">
            <a:avLst/>
          </a:prstGeom>
          <a:noFill/>
          <a:ln/>
        </p:spPr>
        <p:txBody>
          <a:bodyPr wrap="square" lIns="0" tIns="0" rIns="0" bIns="0" rtlCol="0" anchor="ctr"/>
          <a:lstStyle/>
          <a:p>
            <a:pPr indent="0" marL="0">
              <a:buNone/>
            </a:pPr>
            <a:r>
              <a:rPr lang="en-US" sz="3000" b="1" dirty="0">
                <a:solidFill>
                  <a:srgbClr val="171717"/>
                </a:solidFill>
                <a:latin typeface="Arial" pitchFamily="34" charset="0"/>
                <a:ea typeface="Arial" pitchFamily="34" charset="-122"/>
                <a:cs typeface="Arial" pitchFamily="34" charset="-120"/>
              </a:rPr>
              <a:t>Contact Us</a:t>
            </a:r>
            <a:endParaRPr lang="en-US" sz="3000" dirty="0"/>
          </a:p>
        </p:txBody>
      </p:sp>
      <p:sp>
        <p:nvSpPr>
          <p:cNvPr id="3" name="Text 1"/>
          <p:cNvSpPr/>
          <p:nvPr/>
        </p:nvSpPr>
        <p:spPr>
          <a:xfrm>
            <a:off x="731520" y="1097280"/>
            <a:ext cx="7315200" cy="457200"/>
          </a:xfrm>
          <a:prstGeom prst="rect">
            <a:avLst/>
          </a:prstGeom>
          <a:noFill/>
          <a:ln/>
        </p:spPr>
        <p:txBody>
          <a:bodyPr wrap="square" lIns="0" tIns="0" rIns="0" bIns="0" rtlCol="0" anchor="ctr"/>
          <a:lstStyle/>
          <a:p>
            <a:pPr indent="0" marL="0">
              <a:buNone/>
            </a:pPr>
            <a:r>
              <a:rPr lang="en-US" sz="1800" b="1" dirty="0">
                <a:solidFill>
                  <a:srgbClr val="14532D"/>
                </a:solidFill>
                <a:latin typeface="Calibri" pitchFamily="34" charset="0"/>
                <a:ea typeface="Calibri" pitchFamily="34" charset="-122"/>
                <a:cs typeface="Calibri" pitchFamily="34" charset="-120"/>
              </a:rPr>
              <a:t>تواصل معنا</a:t>
            </a:r>
            <a:endParaRPr lang="en-US" sz="1800" dirty="0"/>
          </a:p>
        </p:txBody>
      </p:sp>
      <p:sp>
        <p:nvSpPr>
          <p:cNvPr id="4" name="Shape 2"/>
          <p:cNvSpPr/>
          <p:nvPr/>
        </p:nvSpPr>
        <p:spPr>
          <a:xfrm>
            <a:off x="731520" y="1965960"/>
            <a:ext cx="640080" cy="640080"/>
          </a:xfrm>
          <a:prstGeom prst="ellipse">
            <a:avLst/>
          </a:prstGeom>
          <a:solidFill>
            <a:srgbClr val="14532D"/>
          </a:solidFill>
          <a:ln/>
        </p:spPr>
      </p:sp>
      <p:pic>
        <p:nvPicPr>
          <p:cNvPr id="5" name="Image 0" descr="/tmp/claude-0/-home-user-Alhisan-alriyadi/26da07a5-a74a-5428-98ab-1d407f05d509/scratchpad/profile-deck/icons/whatsapp.png">    </p:cNvPr>
          <p:cNvPicPr>
            <a:picLocks noChangeAspect="1"/>
          </p:cNvPicPr>
          <p:nvPr/>
        </p:nvPicPr>
        <p:blipFill>
          <a:blip r:embed="rId1"/>
          <a:stretch>
            <a:fillRect/>
          </a:stretch>
        </p:blipFill>
        <p:spPr>
          <a:xfrm>
            <a:off x="885139" y="2119579"/>
            <a:ext cx="332842" cy="332842"/>
          </a:xfrm>
          <a:prstGeom prst="rect">
            <a:avLst/>
          </a:prstGeom>
        </p:spPr>
      </p:pic>
      <p:sp>
        <p:nvSpPr>
          <p:cNvPr id="6" name="Text 3"/>
          <p:cNvSpPr/>
          <p:nvPr/>
        </p:nvSpPr>
        <p:spPr>
          <a:xfrm>
            <a:off x="1600200" y="1965960"/>
            <a:ext cx="4114800" cy="320040"/>
          </a:xfrm>
          <a:prstGeom prst="rect">
            <a:avLst/>
          </a:prstGeom>
          <a:noFill/>
          <a:ln/>
        </p:spPr>
        <p:txBody>
          <a:bodyPr wrap="square" lIns="0" tIns="0" rIns="0" bIns="0" rtlCol="0" anchor="ctr"/>
          <a:lstStyle/>
          <a:p>
            <a:pPr indent="0" marL="0">
              <a:buNone/>
            </a:pPr>
            <a:r>
              <a:rPr lang="en-US" sz="1200" b="1" dirty="0">
                <a:solidFill>
                  <a:srgbClr val="737373"/>
                </a:solidFill>
                <a:latin typeface="Calibri" pitchFamily="34" charset="0"/>
                <a:ea typeface="Calibri" pitchFamily="34" charset="-122"/>
                <a:cs typeface="Calibri" pitchFamily="34" charset="-120"/>
              </a:rPr>
              <a:t>WhatsApp</a:t>
            </a:r>
            <a:endParaRPr lang="en-US" sz="1200" dirty="0"/>
          </a:p>
        </p:txBody>
      </p:sp>
      <p:sp>
        <p:nvSpPr>
          <p:cNvPr id="7" name="Text 4"/>
          <p:cNvSpPr/>
          <p:nvPr/>
        </p:nvSpPr>
        <p:spPr>
          <a:xfrm>
            <a:off x="1600200" y="2267712"/>
            <a:ext cx="5486400" cy="365760"/>
          </a:xfrm>
          <a:prstGeom prst="rect">
            <a:avLst/>
          </a:prstGeom>
          <a:noFill/>
          <a:ln/>
        </p:spPr>
        <p:txBody>
          <a:bodyPr wrap="square" lIns="0" tIns="0" rIns="0" bIns="0" rtlCol="0" anchor="ctr"/>
          <a:lstStyle/>
          <a:p>
            <a:pPr indent="0" marL="0">
              <a:buNone/>
            </a:pPr>
            <a:r>
              <a:rPr lang="en-US" sz="1500" b="1" dirty="0">
                <a:solidFill>
                  <a:srgbClr val="171717"/>
                </a:solidFill>
                <a:latin typeface="Calibri" pitchFamily="34" charset="0"/>
                <a:ea typeface="Calibri" pitchFamily="34" charset="-122"/>
                <a:cs typeface="Calibri" pitchFamily="34" charset="-120"/>
              </a:rPr>
              <a:t>+966 57 387 3497</a:t>
            </a:r>
            <a:endParaRPr lang="en-US" sz="1500" dirty="0"/>
          </a:p>
        </p:txBody>
      </p:sp>
      <p:sp>
        <p:nvSpPr>
          <p:cNvPr id="8" name="Shape 5"/>
          <p:cNvSpPr/>
          <p:nvPr/>
        </p:nvSpPr>
        <p:spPr>
          <a:xfrm>
            <a:off x="731520" y="2834640"/>
            <a:ext cx="640080" cy="640080"/>
          </a:xfrm>
          <a:prstGeom prst="ellipse">
            <a:avLst/>
          </a:prstGeom>
          <a:solidFill>
            <a:srgbClr val="14532D"/>
          </a:solidFill>
          <a:ln/>
        </p:spPr>
      </p:sp>
      <p:pic>
        <p:nvPicPr>
          <p:cNvPr id="9" name="Image 1" descr="/tmp/claude-0/-home-user-Alhisan-alriyadi/26da07a5-a74a-5428-98ab-1d407f05d509/scratchpad/profile-deck/icons/globe.png">    </p:cNvPr>
          <p:cNvPicPr>
            <a:picLocks noChangeAspect="1"/>
          </p:cNvPicPr>
          <p:nvPr/>
        </p:nvPicPr>
        <p:blipFill>
          <a:blip r:embed="rId2"/>
          <a:stretch>
            <a:fillRect/>
          </a:stretch>
        </p:blipFill>
        <p:spPr>
          <a:xfrm>
            <a:off x="885139" y="2988259"/>
            <a:ext cx="332842" cy="332842"/>
          </a:xfrm>
          <a:prstGeom prst="rect">
            <a:avLst/>
          </a:prstGeom>
        </p:spPr>
      </p:pic>
      <p:sp>
        <p:nvSpPr>
          <p:cNvPr id="10" name="Text 6"/>
          <p:cNvSpPr/>
          <p:nvPr/>
        </p:nvSpPr>
        <p:spPr>
          <a:xfrm>
            <a:off x="1600200" y="2834640"/>
            <a:ext cx="4114800" cy="320040"/>
          </a:xfrm>
          <a:prstGeom prst="rect">
            <a:avLst/>
          </a:prstGeom>
          <a:noFill/>
          <a:ln/>
        </p:spPr>
        <p:txBody>
          <a:bodyPr wrap="square" lIns="0" tIns="0" rIns="0" bIns="0" rtlCol="0" anchor="ctr"/>
          <a:lstStyle/>
          <a:p>
            <a:pPr indent="0" marL="0">
              <a:buNone/>
            </a:pPr>
            <a:r>
              <a:rPr lang="en-US" sz="1200" b="1" dirty="0">
                <a:solidFill>
                  <a:srgbClr val="737373"/>
                </a:solidFill>
                <a:latin typeface="Calibri" pitchFamily="34" charset="0"/>
                <a:ea typeface="Calibri" pitchFamily="34" charset="-122"/>
                <a:cs typeface="Calibri" pitchFamily="34" charset="-120"/>
              </a:rPr>
              <a:t>Website</a:t>
            </a:r>
            <a:endParaRPr lang="en-US" sz="1200" dirty="0"/>
          </a:p>
        </p:txBody>
      </p:sp>
      <p:sp>
        <p:nvSpPr>
          <p:cNvPr id="11" name="Text 7"/>
          <p:cNvSpPr/>
          <p:nvPr/>
        </p:nvSpPr>
        <p:spPr>
          <a:xfrm>
            <a:off x="1600200" y="3136392"/>
            <a:ext cx="5486400" cy="365760"/>
          </a:xfrm>
          <a:prstGeom prst="rect">
            <a:avLst/>
          </a:prstGeom>
          <a:noFill/>
          <a:ln/>
        </p:spPr>
        <p:txBody>
          <a:bodyPr wrap="square" lIns="0" tIns="0" rIns="0" bIns="0" rtlCol="0" anchor="ctr"/>
          <a:lstStyle/>
          <a:p>
            <a:pPr indent="0" marL="0">
              <a:buNone/>
            </a:pPr>
            <a:r>
              <a:rPr lang="en-US" sz="1500" b="1" dirty="0">
                <a:solidFill>
                  <a:srgbClr val="171717"/>
                </a:solidFill>
                <a:latin typeface="Calibri" pitchFamily="34" charset="0"/>
                <a:ea typeface="Calibri" pitchFamily="34" charset="-122"/>
                <a:cs typeface="Calibri" pitchFamily="34" charset="-120"/>
              </a:rPr>
              <a:t>athletic-horse.com</a:t>
            </a:r>
            <a:endParaRPr lang="en-US" sz="1500" dirty="0"/>
          </a:p>
        </p:txBody>
      </p:sp>
      <p:sp>
        <p:nvSpPr>
          <p:cNvPr id="12" name="Shape 8"/>
          <p:cNvSpPr/>
          <p:nvPr/>
        </p:nvSpPr>
        <p:spPr>
          <a:xfrm>
            <a:off x="731520" y="3703320"/>
            <a:ext cx="640080" cy="640080"/>
          </a:xfrm>
          <a:prstGeom prst="ellipse">
            <a:avLst/>
          </a:prstGeom>
          <a:solidFill>
            <a:srgbClr val="14532D"/>
          </a:solidFill>
          <a:ln/>
        </p:spPr>
      </p:sp>
      <p:pic>
        <p:nvPicPr>
          <p:cNvPr id="13" name="Image 2" descr="/tmp/claude-0/-home-user-Alhisan-alriyadi/26da07a5-a74a-5428-98ab-1d407f05d509/scratchpad/profile-deck/icons/instagram.png">    </p:cNvPr>
          <p:cNvPicPr>
            <a:picLocks noChangeAspect="1"/>
          </p:cNvPicPr>
          <p:nvPr/>
        </p:nvPicPr>
        <p:blipFill>
          <a:blip r:embed="rId3"/>
          <a:stretch>
            <a:fillRect/>
          </a:stretch>
        </p:blipFill>
        <p:spPr>
          <a:xfrm>
            <a:off x="885139" y="3856939"/>
            <a:ext cx="332842" cy="332842"/>
          </a:xfrm>
          <a:prstGeom prst="rect">
            <a:avLst/>
          </a:prstGeom>
        </p:spPr>
      </p:pic>
      <p:sp>
        <p:nvSpPr>
          <p:cNvPr id="14" name="Text 9"/>
          <p:cNvSpPr/>
          <p:nvPr/>
        </p:nvSpPr>
        <p:spPr>
          <a:xfrm>
            <a:off x="1600200" y="3703320"/>
            <a:ext cx="4114800" cy="320040"/>
          </a:xfrm>
          <a:prstGeom prst="rect">
            <a:avLst/>
          </a:prstGeom>
          <a:noFill/>
          <a:ln/>
        </p:spPr>
        <p:txBody>
          <a:bodyPr wrap="square" lIns="0" tIns="0" rIns="0" bIns="0" rtlCol="0" anchor="ctr"/>
          <a:lstStyle/>
          <a:p>
            <a:pPr indent="0" marL="0">
              <a:buNone/>
            </a:pPr>
            <a:r>
              <a:rPr lang="en-US" sz="1200" b="1" dirty="0">
                <a:solidFill>
                  <a:srgbClr val="737373"/>
                </a:solidFill>
                <a:latin typeface="Calibri" pitchFamily="34" charset="0"/>
                <a:ea typeface="Calibri" pitchFamily="34" charset="-122"/>
                <a:cs typeface="Calibri" pitchFamily="34" charset="-120"/>
              </a:rPr>
              <a:t>Instagram / TikTok / Snapchat</a:t>
            </a:r>
            <a:endParaRPr lang="en-US" sz="1200" dirty="0"/>
          </a:p>
        </p:txBody>
      </p:sp>
      <p:sp>
        <p:nvSpPr>
          <p:cNvPr id="15" name="Text 10"/>
          <p:cNvSpPr/>
          <p:nvPr/>
        </p:nvSpPr>
        <p:spPr>
          <a:xfrm>
            <a:off x="1600200" y="4005072"/>
            <a:ext cx="5486400" cy="365760"/>
          </a:xfrm>
          <a:prstGeom prst="rect">
            <a:avLst/>
          </a:prstGeom>
          <a:noFill/>
          <a:ln/>
        </p:spPr>
        <p:txBody>
          <a:bodyPr wrap="square" lIns="0" tIns="0" rIns="0" bIns="0" rtlCol="0" anchor="ctr"/>
          <a:lstStyle/>
          <a:p>
            <a:pPr indent="0" marL="0">
              <a:buNone/>
            </a:pPr>
            <a:r>
              <a:rPr lang="en-US" sz="1500" b="1" dirty="0">
                <a:solidFill>
                  <a:srgbClr val="171717"/>
                </a:solidFill>
                <a:latin typeface="Calibri" pitchFamily="34" charset="0"/>
                <a:ea typeface="Calibri" pitchFamily="34" charset="-122"/>
                <a:cs typeface="Calibri" pitchFamily="34" charset="-120"/>
              </a:rPr>
              <a:t>@athletic_horse</a:t>
            </a:r>
            <a:endParaRPr lang="en-US" sz="1500" dirty="0"/>
          </a:p>
        </p:txBody>
      </p:sp>
      <p:sp>
        <p:nvSpPr>
          <p:cNvPr id="16" name="Shape 11"/>
          <p:cNvSpPr/>
          <p:nvPr/>
        </p:nvSpPr>
        <p:spPr>
          <a:xfrm>
            <a:off x="731520" y="4572000"/>
            <a:ext cx="640080" cy="640080"/>
          </a:xfrm>
          <a:prstGeom prst="ellipse">
            <a:avLst/>
          </a:prstGeom>
          <a:solidFill>
            <a:srgbClr val="14532D"/>
          </a:solidFill>
          <a:ln/>
        </p:spPr>
      </p:sp>
      <p:pic>
        <p:nvPicPr>
          <p:cNvPr id="17" name="Image 3" descr="/tmp/claude-0/-home-user-Alhisan-alriyadi/26da07a5-a74a-5428-98ab-1d407f05d509/scratchpad/profile-deck/icons/envelope.png">    </p:cNvPr>
          <p:cNvPicPr>
            <a:picLocks noChangeAspect="1"/>
          </p:cNvPicPr>
          <p:nvPr/>
        </p:nvPicPr>
        <p:blipFill>
          <a:blip r:embed="rId4"/>
          <a:stretch>
            <a:fillRect/>
          </a:stretch>
        </p:blipFill>
        <p:spPr>
          <a:xfrm>
            <a:off x="885139" y="4725619"/>
            <a:ext cx="332842" cy="332842"/>
          </a:xfrm>
          <a:prstGeom prst="rect">
            <a:avLst/>
          </a:prstGeom>
        </p:spPr>
      </p:pic>
      <p:sp>
        <p:nvSpPr>
          <p:cNvPr id="18" name="Text 12"/>
          <p:cNvSpPr/>
          <p:nvPr/>
        </p:nvSpPr>
        <p:spPr>
          <a:xfrm>
            <a:off x="1600200" y="4572000"/>
            <a:ext cx="4114800" cy="320040"/>
          </a:xfrm>
          <a:prstGeom prst="rect">
            <a:avLst/>
          </a:prstGeom>
          <a:noFill/>
          <a:ln/>
        </p:spPr>
        <p:txBody>
          <a:bodyPr wrap="square" lIns="0" tIns="0" rIns="0" bIns="0" rtlCol="0" anchor="ctr"/>
          <a:lstStyle/>
          <a:p>
            <a:pPr indent="0" marL="0">
              <a:buNone/>
            </a:pPr>
            <a:r>
              <a:rPr lang="en-US" sz="1200" b="1" dirty="0">
                <a:solidFill>
                  <a:srgbClr val="737373"/>
                </a:solidFill>
                <a:latin typeface="Calibri" pitchFamily="34" charset="0"/>
                <a:ea typeface="Calibri" pitchFamily="34" charset="-122"/>
                <a:cs typeface="Calibri" pitchFamily="34" charset="-120"/>
              </a:rPr>
              <a:t>Email</a:t>
            </a:r>
            <a:endParaRPr lang="en-US" sz="1200" dirty="0"/>
          </a:p>
        </p:txBody>
      </p:sp>
      <p:sp>
        <p:nvSpPr>
          <p:cNvPr id="19" name="Text 13"/>
          <p:cNvSpPr/>
          <p:nvPr/>
        </p:nvSpPr>
        <p:spPr>
          <a:xfrm>
            <a:off x="1600200" y="4873752"/>
            <a:ext cx="5486400" cy="365760"/>
          </a:xfrm>
          <a:prstGeom prst="rect">
            <a:avLst/>
          </a:prstGeom>
          <a:noFill/>
          <a:ln/>
        </p:spPr>
        <p:txBody>
          <a:bodyPr wrap="square" lIns="0" tIns="0" rIns="0" bIns="0" rtlCol="0" anchor="ctr"/>
          <a:lstStyle/>
          <a:p>
            <a:pPr indent="0" marL="0">
              <a:buNone/>
            </a:pPr>
            <a:r>
              <a:rPr lang="en-US" sz="1500" b="1" dirty="0">
                <a:solidFill>
                  <a:srgbClr val="171717"/>
                </a:solidFill>
                <a:latin typeface="Calibri" pitchFamily="34" charset="0"/>
                <a:ea typeface="Calibri" pitchFamily="34" charset="-122"/>
                <a:cs typeface="Calibri" pitchFamily="34" charset="-120"/>
              </a:rPr>
              <a:t>[placeholder — email to be confirmed]</a:t>
            </a:r>
            <a:endParaRPr lang="en-US" sz="1500" dirty="0"/>
          </a:p>
        </p:txBody>
      </p:sp>
      <p:sp>
        <p:nvSpPr>
          <p:cNvPr id="20" name="Shape 14"/>
          <p:cNvSpPr/>
          <p:nvPr/>
        </p:nvSpPr>
        <p:spPr>
          <a:xfrm>
            <a:off x="6949440" y="1965960"/>
            <a:ext cx="4480560" cy="4160520"/>
          </a:xfrm>
          <a:prstGeom prst="roundRect">
            <a:avLst>
              <a:gd name="adj" fmla="val 2637"/>
            </a:avLst>
          </a:prstGeom>
          <a:solidFill>
            <a:srgbClr val="E7F0EA"/>
          </a:solidFill>
          <a:ln/>
        </p:spPr>
      </p:sp>
      <p:pic>
        <p:nvPicPr>
          <p:cNvPr id="21" name="Image 4" descr="/tmp/claude-0/-home-user-Alhisan-alriyadi/26da07a5-a74a-5428-98ab-1d407f05d509/scratchpad/profile-deck/icons/camera.png">    </p:cNvPr>
          <p:cNvPicPr>
            <a:picLocks noChangeAspect="1"/>
          </p:cNvPicPr>
          <p:nvPr/>
        </p:nvPicPr>
        <p:blipFill>
          <a:blip r:embed="rId5"/>
          <a:stretch>
            <a:fillRect/>
          </a:stretch>
        </p:blipFill>
        <p:spPr>
          <a:xfrm>
            <a:off x="8961120" y="3543300"/>
            <a:ext cx="457200" cy="457200"/>
          </a:xfrm>
          <a:prstGeom prst="rect">
            <a:avLst/>
          </a:prstGeom>
        </p:spPr>
      </p:pic>
      <p:sp>
        <p:nvSpPr>
          <p:cNvPr id="22" name="Text 15"/>
          <p:cNvSpPr/>
          <p:nvPr/>
        </p:nvSpPr>
        <p:spPr>
          <a:xfrm>
            <a:off x="7223760" y="4000500"/>
            <a:ext cx="3931920" cy="2080260"/>
          </a:xfrm>
          <a:prstGeom prst="rect">
            <a:avLst/>
          </a:prstGeom>
          <a:noFill/>
          <a:ln/>
        </p:spPr>
        <p:txBody>
          <a:bodyPr wrap="square" lIns="0" tIns="0" rIns="0" bIns="0" rtlCol="0" anchor="t"/>
          <a:lstStyle/>
          <a:p>
            <a:pPr algn="ctr" indent="0" marL="0">
              <a:buNone/>
            </a:pPr>
            <a:r>
              <a:rPr lang="en-US" sz="1100" i="1" dirty="0">
                <a:solidFill>
                  <a:srgbClr val="14532D"/>
                </a:solidFill>
                <a:latin typeface="Calibri" pitchFamily="34" charset="0"/>
                <a:ea typeface="Calibri" pitchFamily="34" charset="-122"/>
                <a:cs typeface="Calibri" pitchFamily="34" charset="-120"/>
              </a:rPr>
              <a:t>Suggested: Saudi Arabia delivery map / store locations
</a:t>
            </a:r>
            <a:endParaRPr lang="en-US" sz="1100" dirty="0"/>
          </a:p>
          <a:p>
            <a:pPr algn="ctr" indent="0" marL="0">
              <a:buNone/>
            </a:pPr>
            <a:r>
              <a:rPr lang="en-US" sz="1100" i="1" dirty="0">
                <a:solidFill>
                  <a:srgbClr val="14532D"/>
                </a:solidFill>
                <a:latin typeface="Calibri" pitchFamily="34" charset="0"/>
                <a:ea typeface="Calibri" pitchFamily="34" charset="-122"/>
                <a:cs typeface="Calibri" pitchFamily="34" charset="-120"/>
              </a:rPr>
              <a:t>صورة مقترحة: خريطة توصيل المملكة أو مواقع المتجر</a:t>
            </a:r>
            <a:endParaRPr lang="en-US" sz="1100" dirty="0"/>
          </a:p>
        </p:txBody>
      </p:sp>
      <p:sp>
        <p:nvSpPr>
          <p:cNvPr id="23" name="Text 16"/>
          <p:cNvSpPr/>
          <p:nvPr/>
        </p:nvSpPr>
        <p:spPr>
          <a:xfrm>
            <a:off x="10725912" y="6446520"/>
            <a:ext cx="1188720" cy="274320"/>
          </a:xfrm>
          <a:prstGeom prst="rect">
            <a:avLst/>
          </a:prstGeom>
          <a:noFill/>
          <a:ln/>
        </p:spPr>
        <p:txBody>
          <a:bodyPr wrap="square" lIns="0" tIns="0" rIns="0" bIns="0" rtlCol="0" anchor="ctr"/>
          <a:lstStyle/>
          <a:p>
            <a:pPr algn="r" indent="0" marL="0">
              <a:buNone/>
            </a:pPr>
            <a:r>
              <a:rPr lang="en-US" sz="900" dirty="0">
                <a:solidFill>
                  <a:srgbClr val="737373"/>
                </a:solidFill>
                <a:latin typeface="Calibri" pitchFamily="34" charset="0"/>
                <a:ea typeface="Calibri" pitchFamily="34" charset="-122"/>
                <a:cs typeface="Calibri" pitchFamily="34" charset="-120"/>
              </a:rPr>
              <a:t>25 / 26</a:t>
            </a:r>
            <a:endParaRPr lang="en-US" sz="900" dirty="0"/>
          </a:p>
        </p:txBody>
      </p:sp>
      <p:sp>
        <p:nvSpPr>
          <p:cNvPr id="24" name="Text 17"/>
          <p:cNvSpPr/>
          <p:nvPr/>
        </p:nvSpPr>
        <p:spPr>
          <a:xfrm>
            <a:off x="548640" y="6446520"/>
            <a:ext cx="6400800" cy="274320"/>
          </a:xfrm>
          <a:prstGeom prst="rect">
            <a:avLst/>
          </a:prstGeom>
          <a:noFill/>
          <a:ln/>
        </p:spPr>
        <p:txBody>
          <a:bodyPr wrap="square" lIns="0" tIns="0" rIns="0" bIns="0" rtlCol="0" anchor="ctr"/>
          <a:lstStyle/>
          <a:p>
            <a:pPr algn="l" indent="0" marL="0">
              <a:buNone/>
            </a:pPr>
            <a:r>
              <a:rPr lang="en-US" sz="900" dirty="0">
                <a:solidFill>
                  <a:srgbClr val="737373"/>
                </a:solidFill>
                <a:latin typeface="Calibri" pitchFamily="34" charset="0"/>
                <a:ea typeface="Calibri" pitchFamily="34" charset="-122"/>
                <a:cs typeface="Calibri" pitchFamily="34" charset="-120"/>
              </a:rPr>
              <a:t>Contact Us   |   تواصل معنا</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3D22"/>
        </a:solidFill>
      </p:bgPr>
    </p:bg>
    <p:spTree>
      <p:nvGrpSpPr>
        <p:cNvPr id="1" name=""/>
        <p:cNvGrpSpPr/>
        <p:nvPr/>
      </p:nvGrpSpPr>
      <p:grpSpPr>
        <a:xfrm>
          <a:off x="0" y="0"/>
          <a:ext cx="0" cy="0"/>
          <a:chOff x="0" y="0"/>
          <a:chExt cx="0" cy="0"/>
        </a:xfrm>
      </p:grpSpPr>
      <p:pic>
        <p:nvPicPr>
          <p:cNvPr id="2" name="Image 0" descr="/tmp/claude-0/-home-user-Alhisan-alriyadi/26da07a5-a74a-5428-98ab-1d407f05d509/scratchpad/profile-deck/icons/football_white.png">    </p:cNvPr>
          <p:cNvPicPr>
            <a:picLocks noChangeAspect="1"/>
          </p:cNvPicPr>
          <p:nvPr/>
        </p:nvPicPr>
        <p:blipFill>
          <a:blip r:embed="rId1"/>
          <a:stretch>
            <a:fillRect/>
          </a:stretch>
        </p:blipFill>
        <p:spPr>
          <a:xfrm>
            <a:off x="5637276" y="2103120"/>
            <a:ext cx="914400" cy="914400"/>
          </a:xfrm>
          <a:prstGeom prst="rect">
            <a:avLst/>
          </a:prstGeom>
        </p:spPr>
      </p:pic>
      <p:sp>
        <p:nvSpPr>
          <p:cNvPr id="3" name="Text 0"/>
          <p:cNvSpPr/>
          <p:nvPr/>
        </p:nvSpPr>
        <p:spPr>
          <a:xfrm>
            <a:off x="0" y="3200400"/>
            <a:ext cx="12188952" cy="594360"/>
          </a:xfrm>
          <a:prstGeom prst="rect">
            <a:avLst/>
          </a:prstGeom>
          <a:noFill/>
          <a:ln/>
        </p:spPr>
        <p:txBody>
          <a:bodyPr wrap="square" lIns="0" tIns="0" rIns="0" bIns="0" rtlCol="0" anchor="ctr"/>
          <a:lstStyle/>
          <a:p>
            <a:pPr algn="ctr" indent="0" marL="0">
              <a:buNone/>
            </a:pPr>
            <a:r>
              <a:rPr lang="en-US" sz="3400" b="1" spc="100" kern="0" dirty="0">
                <a:solidFill>
                  <a:srgbClr val="FFFFFF"/>
                </a:solidFill>
                <a:latin typeface="Arial" pitchFamily="34" charset="0"/>
                <a:ea typeface="Arial" pitchFamily="34" charset="-122"/>
                <a:cs typeface="Arial" pitchFamily="34" charset="-120"/>
              </a:rPr>
              <a:t>ALHISAN ALRIYADI</a:t>
            </a:r>
            <a:endParaRPr lang="en-US" sz="3400" dirty="0"/>
          </a:p>
        </p:txBody>
      </p:sp>
      <p:sp>
        <p:nvSpPr>
          <p:cNvPr id="4" name="Text 1"/>
          <p:cNvSpPr/>
          <p:nvPr/>
        </p:nvSpPr>
        <p:spPr>
          <a:xfrm>
            <a:off x="0" y="3794760"/>
            <a:ext cx="12188952" cy="457200"/>
          </a:xfrm>
          <a:prstGeom prst="rect">
            <a:avLst/>
          </a:prstGeom>
          <a:noFill/>
          <a:ln/>
        </p:spPr>
        <p:txBody>
          <a:bodyPr wrap="square" lIns="0" tIns="0" rIns="0" bIns="0" rtlCol="0" anchor="ctr"/>
          <a:lstStyle/>
          <a:p>
            <a:pPr algn="ctr" indent="0" marL="0">
              <a:buNone/>
            </a:pPr>
            <a:r>
              <a:rPr lang="en-US" sz="1800" b="1" dirty="0">
                <a:solidFill>
                  <a:srgbClr val="CFE3D6"/>
                </a:solidFill>
                <a:latin typeface="Calibri" pitchFamily="34" charset="0"/>
                <a:ea typeface="Calibri" pitchFamily="34" charset="-122"/>
                <a:cs typeface="Calibri" pitchFamily="34" charset="-120"/>
              </a:rPr>
              <a:t>الحصان الرياضي  —  ATHLETIC HORSE</a:t>
            </a:r>
            <a:endParaRPr lang="en-US" sz="1800" dirty="0"/>
          </a:p>
        </p:txBody>
      </p:sp>
      <p:sp>
        <p:nvSpPr>
          <p:cNvPr id="5" name="Text 2"/>
          <p:cNvSpPr/>
          <p:nvPr/>
        </p:nvSpPr>
        <p:spPr>
          <a:xfrm>
            <a:off x="0" y="4434840"/>
            <a:ext cx="12188952"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athletic-horse.com</a:t>
            </a:r>
            <a:endParaRPr lang="en-US" sz="1300" dirty="0"/>
          </a:p>
        </p:txBody>
      </p:sp>
      <p:pic>
        <p:nvPicPr>
          <p:cNvPr id="6" name="Image 1" descr="/tmp/claude-0/-home-user-Alhisan-alriyadi/26da07a5-a74a-5428-98ab-1d407f05d509/scratchpad/profile-deck/icons/whatsapp_white.png">    </p:cNvPr>
          <p:cNvPicPr>
            <a:picLocks noChangeAspect="1"/>
          </p:cNvPicPr>
          <p:nvPr/>
        </p:nvPicPr>
        <p:blipFill>
          <a:blip r:embed="rId2"/>
          <a:stretch>
            <a:fillRect/>
          </a:stretch>
        </p:blipFill>
        <p:spPr>
          <a:xfrm>
            <a:off x="3922776" y="5029200"/>
            <a:ext cx="502920" cy="502920"/>
          </a:xfrm>
          <a:prstGeom prst="rect">
            <a:avLst/>
          </a:prstGeom>
        </p:spPr>
      </p:pic>
      <p:pic>
        <p:nvPicPr>
          <p:cNvPr id="7" name="Image 2" descr="/tmp/claude-0/-home-user-Alhisan-alriyadi/26da07a5-a74a-5428-98ab-1d407f05d509/scratchpad/profile-deck/icons/instagram_white.png">    </p:cNvPr>
          <p:cNvPicPr>
            <a:picLocks noChangeAspect="1"/>
          </p:cNvPicPr>
          <p:nvPr/>
        </p:nvPicPr>
        <p:blipFill>
          <a:blip r:embed="rId3"/>
          <a:stretch>
            <a:fillRect/>
          </a:stretch>
        </p:blipFill>
        <p:spPr>
          <a:xfrm>
            <a:off x="4882896" y="5029200"/>
            <a:ext cx="502920" cy="502920"/>
          </a:xfrm>
          <a:prstGeom prst="rect">
            <a:avLst/>
          </a:prstGeom>
        </p:spPr>
      </p:pic>
      <p:pic>
        <p:nvPicPr>
          <p:cNvPr id="8" name="Image 3" descr="/tmp/claude-0/-home-user-Alhisan-alriyadi/26da07a5-a74a-5428-98ab-1d407f05d509/scratchpad/profile-deck/icons/tiktok_white.png">    </p:cNvPr>
          <p:cNvPicPr>
            <a:picLocks noChangeAspect="1"/>
          </p:cNvPicPr>
          <p:nvPr/>
        </p:nvPicPr>
        <p:blipFill>
          <a:blip r:embed="rId4"/>
          <a:stretch>
            <a:fillRect/>
          </a:stretch>
        </p:blipFill>
        <p:spPr>
          <a:xfrm>
            <a:off x="5843016" y="5029200"/>
            <a:ext cx="502920" cy="502920"/>
          </a:xfrm>
          <a:prstGeom prst="rect">
            <a:avLst/>
          </a:prstGeom>
        </p:spPr>
      </p:pic>
      <p:pic>
        <p:nvPicPr>
          <p:cNvPr id="9" name="Image 4" descr="/tmp/claude-0/-home-user-Alhisan-alriyadi/26da07a5-a74a-5428-98ab-1d407f05d509/scratchpad/profile-deck/icons/snapchat_white.png">    </p:cNvPr>
          <p:cNvPicPr>
            <a:picLocks noChangeAspect="1"/>
          </p:cNvPicPr>
          <p:nvPr/>
        </p:nvPicPr>
        <p:blipFill>
          <a:blip r:embed="rId5"/>
          <a:stretch>
            <a:fillRect/>
          </a:stretch>
        </p:blipFill>
        <p:spPr>
          <a:xfrm>
            <a:off x="6803136" y="5029200"/>
            <a:ext cx="502920" cy="502920"/>
          </a:xfrm>
          <a:prstGeom prst="rect">
            <a:avLst/>
          </a:prstGeom>
        </p:spPr>
      </p:pic>
      <p:pic>
        <p:nvPicPr>
          <p:cNvPr id="10" name="Image 5" descr="/tmp/claude-0/-home-user-Alhisan-alriyadi/26da07a5-a74a-5428-98ab-1d407f05d509/scratchpad/profile-deck/icons/facebook_white.png">    </p:cNvPr>
          <p:cNvPicPr>
            <a:picLocks noChangeAspect="1"/>
          </p:cNvPicPr>
          <p:nvPr/>
        </p:nvPicPr>
        <p:blipFill>
          <a:blip r:embed="rId6"/>
          <a:stretch>
            <a:fillRect/>
          </a:stretch>
        </p:blipFill>
        <p:spPr>
          <a:xfrm>
            <a:off x="7763256" y="5029200"/>
            <a:ext cx="502920" cy="502920"/>
          </a:xfrm>
          <a:prstGeom prst="rect">
            <a:avLst/>
          </a:prstGeom>
        </p:spPr>
      </p:pic>
      <p:sp>
        <p:nvSpPr>
          <p:cNvPr id="11" name="Text 3"/>
          <p:cNvSpPr/>
          <p:nvPr/>
        </p:nvSpPr>
        <p:spPr>
          <a:xfrm>
            <a:off x="0" y="5669280"/>
            <a:ext cx="12188952" cy="320040"/>
          </a:xfrm>
          <a:prstGeom prst="rect">
            <a:avLst/>
          </a:prstGeom>
          <a:noFill/>
          <a:ln/>
        </p:spPr>
        <p:txBody>
          <a:bodyPr wrap="square" lIns="0" tIns="0" rIns="0" bIns="0" rtlCol="0" anchor="ctr"/>
          <a:lstStyle/>
          <a:p>
            <a:pPr algn="ctr" indent="0" marL="0">
              <a:buNone/>
            </a:pPr>
            <a:r>
              <a:rPr lang="en-US" sz="1100" dirty="0">
                <a:solidFill>
                  <a:srgbClr val="CFE3D6"/>
                </a:solidFill>
                <a:latin typeface="Calibri" pitchFamily="34" charset="0"/>
                <a:ea typeface="Calibri" pitchFamily="34" charset="-122"/>
                <a:cs typeface="Calibri" pitchFamily="34" charset="-120"/>
              </a:rPr>
              <a:t>@athletic_horse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2026-08-01T21:00:24Z</dcterms:created>
  <dcterms:modified xsi:type="dcterms:W3CDTF">2026-08-01T21:00:24Z</dcterms:modified>
</cp:coreProperties>
</file>